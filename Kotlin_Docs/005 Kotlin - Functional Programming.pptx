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y="5143500" cx="9144000"/>
  <p:notesSz cx="6858000" cy="9144000"/>
  <p:embeddedFontLst>
    <p:embeddedFont>
      <p:font typeface="Raleway"/>
      <p:regular r:id="rId43"/>
      <p:bold r:id="rId44"/>
      <p:italic r:id="rId45"/>
      <p:boldItalic r:id="rId46"/>
    </p:embeddedFont>
    <p:embeddedFont>
      <p:font typeface="Inter"/>
      <p:regular r:id="rId47"/>
      <p:bold r:id="rId48"/>
      <p:italic r:id="rId49"/>
      <p:boldItalic r:id="rId50"/>
    </p:embeddedFont>
    <p:embeddedFont>
      <p:font typeface="JetBrains Mono"/>
      <p:regular r:id="rId51"/>
      <p:bold r:id="rId52"/>
      <p:italic r:id="rId53"/>
      <p:boldItalic r:id="rId54"/>
    </p:embeddedFont>
    <p:embeddedFont>
      <p:font typeface="Open Sans"/>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font" Target="fonts/Raleway-bold.fntdata"/><Relationship Id="rId43" Type="http://schemas.openxmlformats.org/officeDocument/2006/relationships/font" Target="fonts/Raleway-regular.fntdata"/><Relationship Id="rId46" Type="http://schemas.openxmlformats.org/officeDocument/2006/relationships/font" Target="fonts/Raleway-boldItalic.fntdata"/><Relationship Id="rId45" Type="http://schemas.openxmlformats.org/officeDocument/2006/relationships/font" Target="fonts/Raleway-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Inter-bold.fntdata"/><Relationship Id="rId47" Type="http://schemas.openxmlformats.org/officeDocument/2006/relationships/font" Target="fonts/Inter-regular.fntdata"/><Relationship Id="rId49" Type="http://schemas.openxmlformats.org/officeDocument/2006/relationships/font" Target="fonts/Inter-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JetBrainsMono-regular.fntdata"/><Relationship Id="rId50" Type="http://schemas.openxmlformats.org/officeDocument/2006/relationships/font" Target="fonts/Inter-boldItalic.fntdata"/><Relationship Id="rId53" Type="http://schemas.openxmlformats.org/officeDocument/2006/relationships/font" Target="fonts/JetBrainsMono-italic.fntdata"/><Relationship Id="rId52" Type="http://schemas.openxmlformats.org/officeDocument/2006/relationships/font" Target="fonts/JetBrainsMono-bold.fntdata"/><Relationship Id="rId11" Type="http://schemas.openxmlformats.org/officeDocument/2006/relationships/slide" Target="slides/slide6.xml"/><Relationship Id="rId55" Type="http://schemas.openxmlformats.org/officeDocument/2006/relationships/font" Target="fonts/OpenSans-regular.fntdata"/><Relationship Id="rId10" Type="http://schemas.openxmlformats.org/officeDocument/2006/relationships/slide" Target="slides/slide5.xml"/><Relationship Id="rId54" Type="http://schemas.openxmlformats.org/officeDocument/2006/relationships/font" Target="fonts/JetBrainsMono-boldItalic.fntdata"/><Relationship Id="rId13" Type="http://schemas.openxmlformats.org/officeDocument/2006/relationships/slide" Target="slides/slide8.xml"/><Relationship Id="rId57" Type="http://schemas.openxmlformats.org/officeDocument/2006/relationships/font" Target="fonts/OpenSans-italic.fntdata"/><Relationship Id="rId12" Type="http://schemas.openxmlformats.org/officeDocument/2006/relationships/slide" Target="slides/slide7.xml"/><Relationship Id="rId56" Type="http://schemas.openxmlformats.org/officeDocument/2006/relationships/font" Target="fonts/OpenSans-bold.fntdata"/><Relationship Id="rId15" Type="http://schemas.openxmlformats.org/officeDocument/2006/relationships/slide" Target="slides/slide10.xml"/><Relationship Id="rId14" Type="http://schemas.openxmlformats.org/officeDocument/2006/relationships/slide" Target="slides/slide9.xml"/><Relationship Id="rId58" Type="http://schemas.openxmlformats.org/officeDocument/2006/relationships/font" Target="fonts/OpenSans-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lambdas.html#function-types"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lambdas.html#higher-order-functions"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api/latest/jvm/stdlib/kotlin.collections/map.html"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extensions.html#extension-functions"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collection-filtering.html"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collection-aggregate.html"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api/latest/jvm/stdlib/kotlin.text/split.html"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api/latest/jvm/stdlib/kotlin.text/lowercase.html"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collection-grouping.html"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api/latest/jvm/stdlib/kotlin.collections/-map/"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g38b886283a5_0_0: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44" name="Google Shape;44;g38b886283a5_0_0: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SzPts val="1100"/>
              <a:buNone/>
            </a:pPr>
            <a:r>
              <a:rPr lang="en">
                <a:solidFill>
                  <a:schemeClr val="dk1"/>
                </a:solidFill>
                <a:latin typeface="Open Sans"/>
                <a:ea typeface="Open Sans"/>
                <a:cs typeface="Open Sans"/>
                <a:sym typeface="Open Sans"/>
              </a:rPr>
              <a:t>Today's topic is functional programming, one of the programming styles supported in Kotlin.</a:t>
            </a:r>
            <a:endParaRPr/>
          </a:p>
        </p:txBody>
      </p:sp>
      <p:sp>
        <p:nvSpPr>
          <p:cNvPr id="45" name="Google Shape;45;g38b886283a5_0_0: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 sz="900"/>
              <a:t>‹#›</a:t>
            </a:fld>
            <a:endParaRPr sz="9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 name="Google Shape;5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63500" rtl="0" algn="l">
              <a:lnSpc>
                <a:spcPct val="150000"/>
              </a:lnSpc>
              <a:spcBef>
                <a:spcPts val="425"/>
              </a:spcBef>
              <a:spcAft>
                <a:spcPts val="0"/>
              </a:spcAft>
              <a:buClr>
                <a:schemeClr val="dk1"/>
              </a:buClr>
              <a:buSzPts val="1100"/>
              <a:buFont typeface="Arial"/>
              <a:buNone/>
            </a:pPr>
            <a:r>
              <a:rPr lang="en">
                <a:solidFill>
                  <a:schemeClr val="dk1"/>
                </a:solidFill>
                <a:latin typeface="Open Sans"/>
                <a:ea typeface="Open Sans"/>
                <a:cs typeface="Open Sans"/>
                <a:sym typeface="Open Sans"/>
              </a:rPr>
              <a:t>Consider these two pieces of code for calculating the sum of positive elements in a particular collection. The execution instructions in the piece on the left have an </a:t>
            </a:r>
            <a:r>
              <a:rPr lang="en">
                <a:solidFill>
                  <a:schemeClr val="dk1"/>
                </a:solidFill>
                <a:latin typeface="Open Sans"/>
                <a:ea typeface="Open Sans"/>
                <a:cs typeface="Open Sans"/>
                <a:sym typeface="Open Sans"/>
              </a:rPr>
              <a:t>imperative structure.</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63500" rtl="0" algn="l">
              <a:lnSpc>
                <a:spcPct val="150000"/>
              </a:lnSpc>
              <a:spcBef>
                <a:spcPts val="425"/>
              </a:spcBef>
              <a:spcAft>
                <a:spcPts val="0"/>
              </a:spcAft>
              <a:buClr>
                <a:schemeClr val="dk1"/>
              </a:buClr>
              <a:buSzPts val="1100"/>
              <a:buFont typeface="Arial"/>
              <a:buNone/>
            </a:pPr>
            <a:r>
              <a:rPr lang="en">
                <a:solidFill>
                  <a:schemeClr val="dk1"/>
                </a:solidFill>
                <a:latin typeface="Open Sans"/>
                <a:ea typeface="Open Sans"/>
                <a:cs typeface="Open Sans"/>
                <a:sym typeface="Open Sans"/>
              </a:rPr>
              <a:t>But in Kotlin, we can also declare</a:t>
            </a:r>
            <a:r>
              <a:rPr lang="en">
                <a:solidFill>
                  <a:schemeClr val="dk1"/>
                </a:solidFill>
                <a:latin typeface="Open Sans"/>
                <a:ea typeface="Open Sans"/>
                <a:cs typeface="Open Sans"/>
                <a:sym typeface="Open Sans"/>
              </a:rPr>
              <a:t> a sequence of transformations to achieve the same result.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100"/>
              <a:buNone/>
            </a:pPr>
            <a:r>
              <a:rPr lang="en">
                <a:latin typeface="Open Sans"/>
                <a:ea typeface="Open Sans"/>
                <a:cs typeface="Open Sans"/>
                <a:sym typeface="Open Sans"/>
              </a:rPr>
              <a:t>In this lesson, we will only focus on the positive elements of the functional programming style applied in Kotlin.</a:t>
            </a:r>
            <a:endParaRPr>
              <a:latin typeface="Open Sans"/>
              <a:ea typeface="Open Sans"/>
              <a:cs typeface="Open Sans"/>
              <a:sym typeface="Open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100"/>
              <a:buNone/>
            </a:pPr>
            <a:r>
              <a:rPr lang="en">
                <a:latin typeface="Open Sans"/>
                <a:ea typeface="Open Sans"/>
                <a:cs typeface="Open Sans"/>
                <a:sym typeface="Open Sans"/>
              </a:rPr>
              <a:t>What language features enable us to do this?</a:t>
            </a:r>
            <a:endParaRPr>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latin typeface="Open Sans"/>
                <a:ea typeface="Open Sans"/>
                <a:cs typeface="Open Sans"/>
                <a:sym typeface="Open Sans"/>
              </a:rPr>
              <a:t>First of all, there is the ability to use a </a:t>
            </a:r>
            <a:r>
              <a:rPr lang="en" u="sng">
                <a:solidFill>
                  <a:schemeClr val="hlink"/>
                </a:solidFill>
                <a:latin typeface="Open Sans"/>
                <a:ea typeface="Open Sans"/>
                <a:cs typeface="Open Sans"/>
                <a:sym typeface="Open Sans"/>
                <a:hlinkClick r:id="rId2"/>
              </a:rPr>
              <a:t>function type</a:t>
            </a:r>
            <a:r>
              <a:rPr lang="en">
                <a:latin typeface="Open Sans"/>
                <a:ea typeface="Open Sans"/>
                <a:cs typeface="Open Sans"/>
                <a:sym typeface="Open Sans"/>
              </a:rPr>
              <a:t> as a parameter. Typical values that can be passed this way are lambdas, anonymous functions, and function references. The next feature is a improves the syntax for cases: Instead of writing the lambda inside the parentheses of the function call, we leave</a:t>
            </a:r>
            <a:r>
              <a:rPr lang="en">
                <a:latin typeface="Open Sans"/>
                <a:ea typeface="Open Sans"/>
                <a:cs typeface="Open Sans"/>
                <a:sym typeface="Open Sans"/>
              </a:rPr>
              <a:t> it outside of them</a:t>
            </a:r>
            <a:r>
              <a:rPr lang="en">
                <a:latin typeface="Open Sans"/>
                <a:ea typeface="Open Sans"/>
                <a:cs typeface="Open Sans"/>
                <a:sym typeface="Open Sans"/>
              </a:rPr>
              <a:t>.</a:t>
            </a:r>
            <a:endParaRPr>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latin typeface="Open Sans"/>
                <a:ea typeface="Open Sans"/>
                <a:cs typeface="Open Sans"/>
                <a:sym typeface="Open Sans"/>
              </a:rPr>
              <a:t>And the parentheses can be omitted if no other parameters are passed.</a:t>
            </a:r>
            <a:endParaRPr>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50000"/>
              </a:lnSpc>
              <a:spcBef>
                <a:spcPts val="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 name="Google Shape;7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latin typeface="Open Sans"/>
                <a:ea typeface="Open Sans"/>
                <a:cs typeface="Open Sans"/>
                <a:sym typeface="Open Sans"/>
              </a:rPr>
              <a:t>Instances of function types do not differ a lot </a:t>
            </a:r>
            <a:r>
              <a:rPr lang="en">
                <a:latin typeface="Open Sans"/>
                <a:ea typeface="Open Sans"/>
                <a:cs typeface="Open Sans"/>
                <a:sym typeface="Open Sans"/>
              </a:rPr>
              <a:t>from</a:t>
            </a:r>
            <a:r>
              <a:rPr lang="en">
                <a:latin typeface="Open Sans"/>
                <a:ea typeface="Open Sans"/>
                <a:cs typeface="Open Sans"/>
                <a:sym typeface="Open Sans"/>
              </a:rPr>
              <a:t> plain functions. We can store and change them in variables.</a:t>
            </a:r>
            <a:endParaRPr>
              <a:latin typeface="Open Sans"/>
              <a:ea typeface="Open Sans"/>
              <a:cs typeface="Open Sans"/>
              <a:sym typeface="Open Sans"/>
            </a:endParaRPr>
          </a:p>
          <a:p>
            <a:pPr indent="0" lvl="0" marL="0" rtl="0" algn="l">
              <a:lnSpc>
                <a:spcPct val="150000"/>
              </a:lnSpc>
              <a:spcBef>
                <a:spcPts val="0"/>
              </a:spcBef>
              <a:spcAft>
                <a:spcPts val="0"/>
              </a:spcAft>
              <a:buSzPts val="1100"/>
              <a:buNone/>
            </a:pPr>
            <a:r>
              <a:rPr lang="en">
                <a:latin typeface="Open Sans"/>
                <a:ea typeface="Open Sans"/>
                <a:cs typeface="Open Sans"/>
                <a:sym typeface="Open Sans"/>
              </a:rPr>
              <a:t>But instead of creating a variable initialized by a lambda, we also can declare a local named function in any block of code.</a:t>
            </a:r>
            <a:endParaRPr>
              <a:latin typeface="Open Sans"/>
              <a:ea typeface="Open Sans"/>
              <a:cs typeface="Open Sans"/>
              <a:sym typeface="Open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u="sng">
                <a:solidFill>
                  <a:schemeClr val="hlink"/>
                </a:solidFill>
                <a:latin typeface="Open Sans"/>
                <a:ea typeface="Open Sans"/>
                <a:cs typeface="Open Sans"/>
                <a:sym typeface="Open Sans"/>
                <a:hlinkClick r:id="rId2"/>
              </a:rPr>
              <a:t>https://kotlinlang.org/docs/lambdas.html#higher-order-functions</a:t>
            </a:r>
            <a:endParaRPr>
              <a:latin typeface="Open Sans"/>
              <a:ea typeface="Open Sans"/>
              <a:cs typeface="Open Sans"/>
              <a:sym typeface="Open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All functions in what is called “pure FP” are </a:t>
            </a:r>
            <a:r>
              <a:rPr lang="en">
                <a:latin typeface="Open Sans"/>
                <a:ea typeface="Open Sans"/>
                <a:cs typeface="Open Sans"/>
                <a:sym typeface="Open Sans"/>
              </a:rPr>
              <a:t>considered functions in the mathematical sense</a:t>
            </a:r>
            <a:r>
              <a:rPr lang="en">
                <a:latin typeface="Open Sans"/>
                <a:ea typeface="Open Sans"/>
                <a:cs typeface="Open Sans"/>
                <a:sym typeface="Open Sans"/>
              </a:rPr>
              <a:t>;</a:t>
            </a:r>
            <a:r>
              <a:rPr lang="en">
                <a:latin typeface="Open Sans"/>
                <a:ea typeface="Open Sans"/>
                <a:cs typeface="Open Sans"/>
                <a:sym typeface="Open Sans"/>
              </a:rPr>
              <a:t> they must neither mutate the state of the program nor have their own. Here is an example of a program rewritten from LISP, one of the first purely functional programming languages. As we see, there are no mutable variables, and even loops are replaced with recursion. The code in this example is pretty unconventional by typical Kotlin standards</a:t>
            </a:r>
            <a:r>
              <a:rPr lang="en">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 name="Google Shape;9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latin typeface="Open Sans"/>
                <a:ea typeface="Open Sans"/>
                <a:cs typeface="Open Sans"/>
                <a:sym typeface="Open Sans"/>
              </a:rPr>
              <a:t>One group of frequently used higher-order functions in particular comes to mind when talking about functional style in Kotlin. Let’s start with the map function. </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solidFill>
                  <a:schemeClr val="dk1"/>
                </a:solidFill>
                <a:latin typeface="Open Sans"/>
                <a:ea typeface="Open Sans"/>
                <a:cs typeface="Open Sans"/>
                <a:sym typeface="Open Sans"/>
              </a:rPr>
              <a:t>As the name suggests, it transforms the source collection by applying a user-provided function. </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Clr>
                <a:srgbClr val="000000"/>
              </a:buClr>
              <a:buSzPts val="1100"/>
              <a:buFont typeface="Arial"/>
              <a:buNone/>
            </a:pPr>
            <a:r>
              <a:rPr lang="en" u="sng">
                <a:solidFill>
                  <a:schemeClr val="hlink"/>
                </a:solidFill>
                <a:latin typeface="Open Sans"/>
                <a:ea typeface="Open Sans"/>
                <a:cs typeface="Open Sans"/>
                <a:sym typeface="Open Sans"/>
                <a:hlinkClick r:id="rId2"/>
              </a:rPr>
              <a:t>https://kotlinlang.org/api/latest/jvm/stdlib/kotlin.collections/map.html</a:t>
            </a:r>
            <a:endParaRPr>
              <a:latin typeface="Open Sans"/>
              <a:ea typeface="Open Sans"/>
              <a:cs typeface="Open Sans"/>
              <a:sym typeface="Open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Here is a question. What is the main difference between </a:t>
            </a:r>
            <a:r>
              <a:rPr lang="en">
                <a:latin typeface="JetBrains Mono"/>
                <a:ea typeface="JetBrains Mono"/>
                <a:cs typeface="JetBrains Mono"/>
                <a:sym typeface="JetBrains Mono"/>
              </a:rPr>
              <a:t>map</a:t>
            </a:r>
            <a:r>
              <a:rPr lang="en">
                <a:latin typeface="Open Sans"/>
                <a:ea typeface="Open Sans"/>
                <a:cs typeface="Open Sans"/>
                <a:sym typeface="Open Sans"/>
              </a:rPr>
              <a:t> and </a:t>
            </a:r>
            <a:r>
              <a:rPr lang="en">
                <a:latin typeface="JetBrains Mono"/>
                <a:ea typeface="JetBrains Mono"/>
                <a:cs typeface="JetBrains Mono"/>
                <a:sym typeface="JetBrains Mono"/>
              </a:rPr>
              <a:t>forEach</a:t>
            </a:r>
            <a:r>
              <a:rPr lang="en">
                <a:latin typeface="Open Sans"/>
                <a:ea typeface="Open Sans"/>
                <a:cs typeface="Open Sans"/>
                <a:sym typeface="Open Sans"/>
              </a:rPr>
              <a:t>?</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The answer is that, as you see, </a:t>
            </a:r>
            <a:r>
              <a:rPr lang="en">
                <a:latin typeface="JetBrains Mono"/>
                <a:ea typeface="JetBrains Mono"/>
                <a:cs typeface="JetBrains Mono"/>
                <a:sym typeface="JetBrains Mono"/>
              </a:rPr>
              <a:t>map</a:t>
            </a:r>
            <a:r>
              <a:rPr lang="en">
                <a:latin typeface="Open Sans"/>
                <a:ea typeface="Open Sans"/>
                <a:cs typeface="Open Sans"/>
                <a:sym typeface="Open Sans"/>
              </a:rPr>
              <a:t> returns a list where each element results from transforming the source collection, while forEach returns just a  unit.</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c1d24e091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g2c1d24e091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Since </a:t>
            </a:r>
            <a:r>
              <a:rPr lang="en">
                <a:latin typeface="JetBrains Mono"/>
                <a:ea typeface="JetBrains Mono"/>
                <a:cs typeface="JetBrains Mono"/>
                <a:sym typeface="JetBrains Mono"/>
              </a:rPr>
              <a:t>map</a:t>
            </a:r>
            <a:r>
              <a:rPr lang="en">
                <a:latin typeface="Open Sans"/>
                <a:ea typeface="Open Sans"/>
                <a:cs typeface="Open Sans"/>
                <a:sym typeface="Open Sans"/>
              </a:rPr>
              <a:t> is an </a:t>
            </a:r>
            <a:r>
              <a:rPr lang="en" u="sng">
                <a:solidFill>
                  <a:schemeClr val="hlink"/>
                </a:solidFill>
                <a:latin typeface="Open Sans"/>
                <a:ea typeface="Open Sans"/>
                <a:cs typeface="Open Sans"/>
                <a:sym typeface="Open Sans"/>
                <a:hlinkClick r:id="rId2"/>
              </a:rPr>
              <a:t>extension</a:t>
            </a:r>
            <a:r>
              <a:rPr lang="en">
                <a:latin typeface="Open Sans"/>
                <a:ea typeface="Open Sans"/>
                <a:cs typeface="Open Sans"/>
                <a:sym typeface="Open Sans"/>
              </a:rPr>
              <a:t> function, </a:t>
            </a:r>
            <a:r>
              <a:rPr lang="en">
                <a:latin typeface="Open Sans"/>
                <a:ea typeface="Open Sans"/>
                <a:cs typeface="Open Sans"/>
                <a:sym typeface="Open Sans"/>
              </a:rPr>
              <a:t>a chain of calls can be created t</a:t>
            </a:r>
            <a:r>
              <a:rPr lang="en">
                <a:latin typeface="Open Sans"/>
                <a:ea typeface="Open Sans"/>
                <a:cs typeface="Open Sans"/>
                <a:sym typeface="Open Sans"/>
              </a:rPr>
              <a:t>o </a:t>
            </a:r>
            <a:r>
              <a:rPr lang="en">
                <a:latin typeface="Open Sans"/>
                <a:ea typeface="Open Sans"/>
                <a:cs typeface="Open Sans"/>
                <a:sym typeface="Open Sans"/>
              </a:rPr>
              <a:t>compose </a:t>
            </a:r>
            <a:r>
              <a:rPr lang="en">
                <a:latin typeface="Open Sans"/>
                <a:ea typeface="Open Sans"/>
                <a:cs typeface="Open Sans"/>
                <a:sym typeface="Open Sans"/>
              </a:rPr>
              <a:t>multiple transformations.</a:t>
            </a:r>
            <a:endParaRPr>
              <a:latin typeface="Open Sans"/>
              <a:ea typeface="Open Sans"/>
              <a:cs typeface="Open Sans"/>
              <a:sym typeface="Open Sa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c1d24e0917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g2c1d24e0917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u="sng">
                <a:solidFill>
                  <a:schemeClr val="hlink"/>
                </a:solidFill>
                <a:latin typeface="Open Sans"/>
                <a:ea typeface="Open Sans"/>
                <a:cs typeface="Open Sans"/>
                <a:sym typeface="Open Sans"/>
                <a:hlinkClick r:id="rId2"/>
              </a:rPr>
              <a:t>https://kotlinlang.org/docs/collection-filtering.html</a:t>
            </a:r>
            <a:endParaRPr>
              <a:latin typeface="Open Sans"/>
              <a:ea typeface="Open Sans"/>
              <a:cs typeface="Open Sans"/>
              <a:sym typeface="Open Sa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c1d24e0917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g2c1d24e0917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u="sng">
                <a:solidFill>
                  <a:schemeClr val="hlink"/>
                </a:solidFill>
                <a:latin typeface="Open Sans"/>
                <a:ea typeface="Open Sans"/>
                <a:cs typeface="Open Sans"/>
                <a:sym typeface="Open Sans"/>
                <a:hlinkClick r:id="rId2"/>
              </a:rPr>
              <a:t>https://kotlinlang.org/docs/collection-aggregate.html</a:t>
            </a:r>
            <a:endParaRPr>
              <a:latin typeface="Open Sans"/>
              <a:ea typeface="Open Sans"/>
              <a:cs typeface="Open Sans"/>
              <a:sym typeface="Open San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c1d24e0917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g2c1d24e0917_0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Let’s trace a more complex chain of collection functions.</a:t>
            </a:r>
            <a:endParaRPr>
              <a:latin typeface="Open Sans"/>
              <a:ea typeface="Open Sans"/>
              <a:cs typeface="Open Sans"/>
              <a:sym typeface="Open Sa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First, the string is tokenized into words by </a:t>
            </a:r>
            <a:r>
              <a:rPr lang="en" u="sng">
                <a:solidFill>
                  <a:schemeClr val="hlink"/>
                </a:solidFill>
                <a:latin typeface="Open Sans"/>
                <a:ea typeface="Open Sans"/>
                <a:cs typeface="Open Sans"/>
                <a:sym typeface="Open Sans"/>
                <a:hlinkClick r:id="rId2"/>
              </a:rPr>
              <a:t>splitting</a:t>
            </a:r>
            <a:r>
              <a:rPr lang="en">
                <a:latin typeface="Open Sans"/>
                <a:ea typeface="Open Sans"/>
                <a:cs typeface="Open Sans"/>
                <a:sym typeface="Open Sans"/>
              </a:rPr>
              <a:t> it with whitespace and line separator delimiters. The </a:t>
            </a:r>
            <a:r>
              <a:rPr lang="en">
                <a:latin typeface="Open Sans"/>
                <a:ea typeface="Open Sans"/>
                <a:cs typeface="Open Sans"/>
                <a:sym typeface="Open Sans"/>
              </a:rPr>
              <a:t>intermediary </a:t>
            </a:r>
            <a:r>
              <a:rPr lang="en">
                <a:latin typeface="Open Sans"/>
                <a:ea typeface="Open Sans"/>
                <a:cs typeface="Open Sans"/>
                <a:sym typeface="Open Sans"/>
              </a:rPr>
              <a:t>result is a list of strings.</a:t>
            </a:r>
            <a:endParaRPr>
              <a:latin typeface="Open Sans"/>
              <a:ea typeface="Open Sans"/>
              <a:cs typeface="Open Sans"/>
              <a:sym typeface="Open Sa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Then we use </a:t>
            </a:r>
            <a:r>
              <a:rPr lang="en">
                <a:solidFill>
                  <a:schemeClr val="dk1"/>
                </a:solidFill>
                <a:latin typeface="JetBrains Mono"/>
                <a:ea typeface="JetBrains Mono"/>
                <a:cs typeface="JetBrains Mono"/>
                <a:sym typeface="JetBrains Mono"/>
              </a:rPr>
              <a:t>filter</a:t>
            </a:r>
            <a:r>
              <a:rPr lang="en">
                <a:latin typeface="Open Sans"/>
                <a:ea typeface="Open Sans"/>
                <a:cs typeface="Open Sans"/>
                <a:sym typeface="Open Sans"/>
              </a:rPr>
              <a:t> to discard the empty strings. </a:t>
            </a:r>
            <a:endParaRPr>
              <a:latin typeface="Open Sans"/>
              <a:ea typeface="Open Sans"/>
              <a:cs typeface="Open Sans"/>
              <a:sym typeface="Open Sa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Next</a:t>
            </a:r>
            <a:r>
              <a:rPr lang="en">
                <a:latin typeface="Open Sans"/>
                <a:ea typeface="Open Sans"/>
                <a:cs typeface="Open Sans"/>
                <a:sym typeface="Open Sans"/>
              </a:rPr>
              <a:t> we convert all the strings to </a:t>
            </a:r>
            <a:r>
              <a:rPr lang="en" u="sng">
                <a:solidFill>
                  <a:schemeClr val="hlink"/>
                </a:solidFill>
                <a:latin typeface="Open Sans"/>
                <a:ea typeface="Open Sans"/>
                <a:cs typeface="Open Sans"/>
                <a:sym typeface="Open Sans"/>
                <a:hlinkClick r:id="rId2"/>
              </a:rPr>
              <a:t>lowercase</a:t>
            </a:r>
            <a:r>
              <a:rPr lang="en">
                <a:latin typeface="Open Sans"/>
                <a:ea typeface="Open Sans"/>
                <a:cs typeface="Open Sans"/>
                <a:sym typeface="Open Sans"/>
              </a:rPr>
              <a:t>. The </a:t>
            </a:r>
            <a:r>
              <a:rPr lang="en">
                <a:latin typeface="Open Sans"/>
                <a:ea typeface="Open Sans"/>
                <a:cs typeface="Open Sans"/>
                <a:sym typeface="Open Sans"/>
              </a:rPr>
              <a:t>intermediary </a:t>
            </a:r>
            <a:r>
              <a:rPr lang="en">
                <a:latin typeface="Open Sans"/>
                <a:ea typeface="Open Sans"/>
                <a:cs typeface="Open Sans"/>
                <a:sym typeface="Open Sans"/>
              </a:rPr>
              <a:t>collection is a list of strings, too.</a:t>
            </a:r>
            <a:endParaRPr>
              <a:latin typeface="Open Sans"/>
              <a:ea typeface="Open Sans"/>
              <a:cs typeface="Open Sans"/>
              <a:sym typeface="Open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Each step of such chains can be written in dozens of ways. In this example we can either use </a:t>
            </a:r>
            <a:r>
              <a:rPr lang="en">
                <a:latin typeface="Open Sans"/>
                <a:ea typeface="Open Sans"/>
                <a:cs typeface="Open Sans"/>
                <a:sym typeface="Open Sans"/>
              </a:rPr>
              <a:t>a </a:t>
            </a:r>
            <a:r>
              <a:rPr lang="en">
                <a:latin typeface="Open Sans"/>
                <a:ea typeface="Open Sans"/>
                <a:cs typeface="Open Sans"/>
                <a:sym typeface="Open Sans"/>
              </a:rPr>
              <a:t>grouping structure with the built-in </a:t>
            </a:r>
            <a:r>
              <a:rPr lang="en">
                <a:latin typeface="Open Sans"/>
                <a:ea typeface="Open Sans"/>
                <a:cs typeface="Open Sans"/>
                <a:sym typeface="Open Sans"/>
              </a:rPr>
              <a:t>counting extension </a:t>
            </a:r>
            <a:r>
              <a:rPr lang="en">
                <a:latin typeface="Open Sans"/>
                <a:ea typeface="Open Sans"/>
                <a:cs typeface="Open Sans"/>
                <a:sym typeface="Open Sans"/>
              </a:rPr>
              <a:t>or do it manually by taking a </a:t>
            </a:r>
            <a:r>
              <a:rPr lang="en">
                <a:latin typeface="JetBrains Mono"/>
                <a:ea typeface="JetBrains Mono"/>
                <a:cs typeface="JetBrains Mono"/>
                <a:sym typeface="JetBrains Mono"/>
              </a:rPr>
              <a:t>map</a:t>
            </a:r>
            <a:r>
              <a:rPr lang="en">
                <a:latin typeface="Open Sans"/>
                <a:ea typeface="Open Sans"/>
                <a:cs typeface="Open Sans"/>
                <a:sym typeface="Open Sans"/>
              </a:rPr>
              <a:t> and calculating the count </a:t>
            </a:r>
            <a:r>
              <a:rPr lang="en">
                <a:latin typeface="Open Sans"/>
                <a:ea typeface="Open Sans"/>
                <a:cs typeface="Open Sans"/>
                <a:sym typeface="Open Sans"/>
              </a:rPr>
              <a:t>ourselves</a:t>
            </a:r>
            <a:r>
              <a:rPr lang="en">
                <a:latin typeface="Open Sans"/>
                <a:ea typeface="Open Sans"/>
                <a:cs typeface="Open Sans"/>
                <a:sym typeface="Open Sans"/>
              </a:rPr>
              <a:t>. </a:t>
            </a:r>
            <a:br>
              <a:rPr lang="en">
                <a:latin typeface="Open Sans"/>
                <a:ea typeface="Open Sans"/>
                <a:cs typeface="Open Sans"/>
                <a:sym typeface="Open Sans"/>
              </a:rPr>
            </a:br>
            <a:r>
              <a:rPr lang="en" u="sng">
                <a:solidFill>
                  <a:schemeClr val="hlink"/>
                </a:solidFill>
                <a:latin typeface="Open Sans"/>
                <a:ea typeface="Open Sans"/>
                <a:cs typeface="Open Sans"/>
                <a:sym typeface="Open Sans"/>
                <a:hlinkClick r:id="rId2"/>
              </a:rPr>
              <a:t>https://kotlinlang.org/docs/collection-grouping.html</a:t>
            </a:r>
            <a:endParaRPr>
              <a:latin typeface="Open Sans"/>
              <a:ea typeface="Open Sans"/>
              <a:cs typeface="Open Sans"/>
              <a:sym typeface="Open Sa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And the final operation of this conversion is converting a </a:t>
            </a:r>
            <a:r>
              <a:rPr lang="en" u="sng">
                <a:solidFill>
                  <a:schemeClr val="hlink"/>
                </a:solidFill>
                <a:latin typeface="JetBrains Mono"/>
                <a:ea typeface="JetBrains Mono"/>
                <a:cs typeface="JetBrains Mono"/>
                <a:sym typeface="JetBrains Mono"/>
                <a:hlinkClick r:id="rId2"/>
              </a:rPr>
              <a:t>Map</a:t>
            </a:r>
            <a:r>
              <a:rPr lang="en">
                <a:latin typeface="Open Sans"/>
                <a:ea typeface="Open Sans"/>
                <a:cs typeface="Open Sans"/>
                <a:sym typeface="Open Sans"/>
              </a:rPr>
              <a:t> of </a:t>
            </a:r>
            <a:r>
              <a:rPr lang="en">
                <a:latin typeface="Open Sans"/>
                <a:ea typeface="Open Sans"/>
                <a:cs typeface="Open Sans"/>
                <a:sym typeface="Open Sans"/>
              </a:rPr>
              <a:t>counts to a list.</a:t>
            </a:r>
            <a:endParaRPr>
              <a:latin typeface="Open Sans"/>
              <a:ea typeface="Open Sans"/>
              <a:cs typeface="Open Sans"/>
              <a:sym typeface="Open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Because we have a list, we can also get a sorted copy. We can choose a comparable attribute of the list’s element to sort by. In our example, we use </a:t>
            </a:r>
            <a:r>
              <a:rPr lang="en">
                <a:latin typeface="Open Sans"/>
                <a:ea typeface="Open Sans"/>
                <a:cs typeface="Open Sans"/>
                <a:sym typeface="Open Sans"/>
              </a:rPr>
              <a:t>the second value in the pair consisting of a word and its count.</a:t>
            </a:r>
            <a:endParaRPr>
              <a:latin typeface="Open Sans"/>
              <a:ea typeface="Open Sans"/>
              <a:cs typeface="Open Sans"/>
              <a:sym typeface="Open San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3" name="Google Shape;193;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To achieve reversed order, we can reverse a list sorted in ascending order, request to sort in descending order, </a:t>
            </a:r>
            <a:r>
              <a:rPr lang="en">
                <a:latin typeface="Open Sans"/>
                <a:ea typeface="Open Sans"/>
                <a:cs typeface="Open Sans"/>
                <a:sym typeface="Open Sans"/>
              </a:rPr>
              <a:t>or compare by the difference of two numbers swapped.</a:t>
            </a:r>
            <a:endParaRPr>
              <a:latin typeface="Open Sans"/>
              <a:ea typeface="Open Sans"/>
              <a:cs typeface="Open Sans"/>
              <a:sym typeface="Open Sa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 name="Google Shape;204;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Because HOFs in Kotlin take arbitrary instances of function types, instead of lambdas we can pass function references and lambdas stored in variables.</a:t>
            </a:r>
            <a:endParaRPr>
              <a:latin typeface="Open Sans"/>
              <a:ea typeface="Open Sans"/>
              <a:cs typeface="Open Sans"/>
              <a:sym typeface="Open San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 name="Google Shape;210;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In this snippet, we take a number and two values: The first value is returned if the number is even, and the second one is returned if the number is odd. Then we pass four and call printing functions for both cases.</a:t>
            </a:r>
            <a:endParaRPr>
              <a:latin typeface="Open Sans"/>
              <a:ea typeface="Open Sans"/>
              <a:cs typeface="Open Sans"/>
              <a:sym typeface="Open San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Actually, this code prints both strings. Why? Because in imperative programming, all passed arguments are evaluated before the function is executed, </a:t>
            </a:r>
            <a:r>
              <a:rPr lang="en">
                <a:latin typeface="Open Sans"/>
                <a:ea typeface="Open Sans"/>
                <a:cs typeface="Open Sans"/>
                <a:sym typeface="Open Sans"/>
              </a:rPr>
              <a:t>like ingredients being gathered and measured before cooking. </a:t>
            </a:r>
            <a:br>
              <a:rPr lang="en">
                <a:latin typeface="Open Sans"/>
                <a:ea typeface="Open Sans"/>
                <a:cs typeface="Open Sans"/>
                <a:sym typeface="Open Sans"/>
              </a:rPr>
            </a:br>
            <a:r>
              <a:rPr lang="en">
                <a:latin typeface="Open Sans"/>
                <a:ea typeface="Open Sans"/>
                <a:cs typeface="Open Sans"/>
                <a:sym typeface="Open Sans"/>
              </a:rPr>
              <a:t>Both </a:t>
            </a:r>
            <a:r>
              <a:rPr lang="en">
                <a:latin typeface="JetBrains Mono"/>
                <a:ea typeface="JetBrains Mono"/>
                <a:cs typeface="JetBrains Mono"/>
                <a:sym typeface="JetBrains Mono"/>
              </a:rPr>
              <a:t>println</a:t>
            </a:r>
            <a:r>
              <a:rPr lang="en">
                <a:latin typeface="Open Sans"/>
                <a:ea typeface="Open Sans"/>
                <a:cs typeface="Open Sans"/>
                <a:sym typeface="Open Sans"/>
              </a:rPr>
              <a:t> calls are already made before checking the parity of four.</a:t>
            </a:r>
            <a:endParaRPr>
              <a:latin typeface="Open Sans"/>
              <a:ea typeface="Open Sans"/>
              <a:cs typeface="Open Sans"/>
              <a:sym typeface="Open San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4" name="Google Shape;224;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On the level of the language itself, Kotlin does not compute values lazily, but replacing the immediate calls with deferred ones by wrapping them into lambdas leads to the expected result.</a:t>
            </a:r>
            <a:endParaRPr>
              <a:latin typeface="Open Sans"/>
              <a:ea typeface="Open Sans"/>
              <a:cs typeface="Open Sans"/>
              <a:sym typeface="Open San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0" name="Google Shape;230;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100"/>
              <a:buFont typeface="Arial"/>
              <a:buNone/>
            </a:pPr>
            <a:r>
              <a:rPr lang="en">
                <a:solidFill>
                  <a:schemeClr val="dk1"/>
                </a:solidFill>
                <a:latin typeface="Open Sans"/>
                <a:ea typeface="Open Sans"/>
                <a:cs typeface="Open Sans"/>
                <a:sym typeface="Open Sans"/>
              </a:rPr>
              <a:t>The</a:t>
            </a:r>
            <a:r>
              <a:rPr lang="en">
                <a:solidFill>
                  <a:srgbClr val="000080"/>
                </a:solidFill>
                <a:latin typeface="JetBrains Mono"/>
                <a:ea typeface="JetBrains Mono"/>
                <a:cs typeface="JetBrains Mono"/>
                <a:sym typeface="JetBrains Mono"/>
              </a:rPr>
              <a:t> </a:t>
            </a:r>
            <a:r>
              <a:rPr lang="en">
                <a:solidFill>
                  <a:srgbClr val="000080"/>
                </a:solidFill>
                <a:latin typeface="JetBrains Mono"/>
                <a:ea typeface="JetBrains Mono"/>
                <a:cs typeface="JetBrains Mono"/>
                <a:sym typeface="JetBrains Mono"/>
              </a:rPr>
              <a:t>operator </a:t>
            </a:r>
            <a:r>
              <a:rPr lang="en">
                <a:solidFill>
                  <a:schemeClr val="dk1"/>
                </a:solidFill>
                <a:latin typeface="Open Sans"/>
                <a:ea typeface="Open Sans"/>
                <a:cs typeface="Open Sans"/>
                <a:sym typeface="Open Sans"/>
              </a:rPr>
              <a:t>modifier is required in order for us to use our class in </a:t>
            </a:r>
            <a:r>
              <a:rPr lang="en">
                <a:solidFill>
                  <a:schemeClr val="dk1"/>
                </a:solidFill>
                <a:latin typeface="Open Sans"/>
                <a:ea typeface="Open Sans"/>
                <a:cs typeface="Open Sans"/>
                <a:sym typeface="Open Sans"/>
              </a:rPr>
              <a:t>for</a:t>
            </a:r>
            <a:r>
              <a:rPr lang="en">
                <a:solidFill>
                  <a:schemeClr val="dk1"/>
                </a:solidFill>
                <a:latin typeface="Open Sans"/>
                <a:ea typeface="Open Sans"/>
                <a:cs typeface="Open Sans"/>
                <a:sym typeface="Open Sans"/>
              </a:rPr>
              <a:t> loops as if it had a built-in</a:t>
            </a:r>
            <a:br>
              <a:rPr lang="en">
                <a:solidFill>
                  <a:schemeClr val="dk1"/>
                </a:solidFill>
                <a:highlight>
                  <a:srgbClr val="FFFFFF"/>
                </a:highlight>
                <a:latin typeface="Open Sans"/>
                <a:ea typeface="Open Sans"/>
                <a:cs typeface="Open Sans"/>
                <a:sym typeface="Open Sans"/>
              </a:rPr>
            </a:br>
            <a:endParaRPr>
              <a:solidFill>
                <a:schemeClr val="dk1"/>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Clr>
                <a:srgbClr val="000000"/>
              </a:buClr>
              <a:buSzPts val="1100"/>
              <a:buFont typeface="Arial"/>
              <a:buNone/>
            </a:pPr>
            <a:r>
              <a:rPr lang="en">
                <a:solidFill>
                  <a:srgbClr val="000080"/>
                </a:solidFill>
                <a:latin typeface="JetBrains Mono"/>
                <a:ea typeface="JetBrains Mono"/>
                <a:cs typeface="JetBrains Mono"/>
                <a:sym typeface="JetBrains Mono"/>
              </a:rPr>
              <a:t>val</a:t>
            </a:r>
            <a:r>
              <a:rPr lang="en">
                <a:solidFill>
                  <a:srgbClr val="37474F"/>
                </a:solidFill>
                <a:latin typeface="JetBrains Mono"/>
                <a:ea typeface="JetBrains Mono"/>
                <a:cs typeface="JetBrains Mono"/>
                <a:sym typeface="JetBrains Mono"/>
              </a:rPr>
              <a:t> aInstance = A&lt;Int&gt;()</a:t>
            </a:r>
            <a:endParaRPr>
              <a:solidFill>
                <a:srgbClr val="000080"/>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800"/>
              <a:buFont typeface="Arial"/>
              <a:buNone/>
            </a:pPr>
            <a:r>
              <a:rPr lang="en">
                <a:solidFill>
                  <a:srgbClr val="000080"/>
                </a:solidFill>
                <a:latin typeface="JetBrains Mono"/>
                <a:ea typeface="JetBrains Mono"/>
                <a:cs typeface="JetBrains Mono"/>
                <a:sym typeface="JetBrains Mono"/>
              </a:rPr>
              <a:t>for</a:t>
            </a:r>
            <a:r>
              <a:rPr lang="en">
                <a:solidFill>
                  <a:srgbClr val="37474F"/>
                </a:solidFill>
                <a:latin typeface="JetBrains Mono"/>
                <a:ea typeface="JetBrains Mono"/>
                <a:cs typeface="JetBrains Mono"/>
                <a:sym typeface="JetBrains Mono"/>
              </a:rPr>
              <a:t> (value </a:t>
            </a:r>
            <a:r>
              <a:rPr lang="en">
                <a:solidFill>
                  <a:srgbClr val="000080"/>
                </a:solidFill>
                <a:latin typeface="JetBrains Mono"/>
                <a:ea typeface="JetBrains Mono"/>
                <a:cs typeface="JetBrains Mono"/>
                <a:sym typeface="JetBrains Mono"/>
              </a:rPr>
              <a:t>in </a:t>
            </a:r>
            <a:r>
              <a:rPr lang="en">
                <a:solidFill>
                  <a:srgbClr val="37474F"/>
                </a:solidFill>
                <a:latin typeface="JetBrains Mono"/>
                <a:ea typeface="JetBrains Mono"/>
                <a:cs typeface="JetBrains Mono"/>
                <a:sym typeface="JetBrains Mono"/>
              </a:rPr>
              <a:t>aInstance) {</a:t>
            </a:r>
            <a:endParaRPr>
              <a:solidFill>
                <a:srgbClr val="37474F"/>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   // do something with the value</a:t>
            </a:r>
            <a:endParaRPr>
              <a:solidFill>
                <a:srgbClr val="37474F"/>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a:t>
            </a:r>
            <a:endParaRPr>
              <a:solidFill>
                <a:schemeClr val="dk1"/>
              </a:solidFill>
              <a:highlight>
                <a:schemeClr val="lt1"/>
              </a:highlight>
              <a:latin typeface="JetBrains Mono"/>
              <a:ea typeface="JetBrains Mono"/>
              <a:cs typeface="JetBrains Mono"/>
              <a:sym typeface="JetBrains Mono"/>
            </a:endParaRPr>
          </a:p>
          <a:p>
            <a:pPr indent="0" lvl="0" marL="0" rtl="0" algn="l">
              <a:lnSpc>
                <a:spcPct val="100000"/>
              </a:lnSpc>
              <a:spcBef>
                <a:spcPts val="0"/>
              </a:spcBef>
              <a:spcAft>
                <a:spcPts val="0"/>
              </a:spcAft>
              <a:buClr>
                <a:srgbClr val="000000"/>
              </a:buClr>
              <a:buSzPts val="1100"/>
              <a:buFont typeface="Arial"/>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8" name="Google Shape;238;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Lastly, let’s address how to handle data in a functional way. In full-fledged FP languages, the exhaustiveness of conditional expressions (comparable to Kotlin’s </a:t>
            </a:r>
            <a:r>
              <a:rPr lang="en">
                <a:solidFill>
                  <a:schemeClr val="dk1"/>
                </a:solidFill>
                <a:latin typeface="JetBrains Mono"/>
                <a:ea typeface="JetBrains Mono"/>
                <a:cs typeface="JetBrains Mono"/>
                <a:sym typeface="JetBrains Mono"/>
              </a:rPr>
              <a:t>when</a:t>
            </a:r>
            <a:r>
              <a:rPr lang="en">
                <a:solidFill>
                  <a:schemeClr val="dk1"/>
                </a:solidFill>
                <a:latin typeface="Open Sans"/>
                <a:ea typeface="Open Sans"/>
                <a:cs typeface="Open Sans"/>
                <a:sym typeface="Open Sans"/>
              </a:rPr>
              <a:t>) is checked. But is that how it works in Kotlin?</a:t>
            </a:r>
            <a:endParaRPr>
              <a:solidFill>
                <a:schemeClr val="dk1"/>
              </a:solidFill>
              <a:latin typeface="Open Sans"/>
              <a:ea typeface="Open Sans"/>
              <a:cs typeface="Open Sans"/>
              <a:sym typeface="Open San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4" name="Google Shape;244;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Yes. In this example, we have an enum class, and the compiler knows that there are no possible instances of it except the ones defined </a:t>
            </a:r>
            <a:r>
              <a:rPr lang="en">
                <a:solidFill>
                  <a:schemeClr val="dk1"/>
                </a:solidFill>
                <a:latin typeface="Open Sans"/>
                <a:ea typeface="Open Sans"/>
                <a:cs typeface="Open Sans"/>
                <a:sym typeface="Open Sans"/>
              </a:rPr>
              <a:t>constantly</a:t>
            </a:r>
            <a:r>
              <a:rPr lang="en">
                <a:solidFill>
                  <a:schemeClr val="dk1"/>
                </a:solidFill>
                <a:latin typeface="Open Sans"/>
                <a:ea typeface="Open Sans"/>
                <a:cs typeface="Open Sans"/>
                <a:sym typeface="Open Sans"/>
              </a:rPr>
              <a:t>. So, if our </a:t>
            </a:r>
            <a:r>
              <a:rPr lang="en">
                <a:solidFill>
                  <a:schemeClr val="dk1"/>
                </a:solidFill>
                <a:latin typeface="JetBrains Mono"/>
                <a:ea typeface="JetBrains Mono"/>
                <a:cs typeface="JetBrains Mono"/>
                <a:sym typeface="JetBrains Mono"/>
              </a:rPr>
              <a:t>when</a:t>
            </a:r>
            <a:r>
              <a:rPr lang="en">
                <a:solidFill>
                  <a:schemeClr val="dk1"/>
                </a:solidFill>
                <a:latin typeface="Open Sans"/>
                <a:ea typeface="Open Sans"/>
                <a:cs typeface="Open Sans"/>
                <a:sym typeface="Open Sans"/>
              </a:rPr>
              <a:t> (in any order and combination) handles each of the three values, we don’t need an </a:t>
            </a:r>
            <a:r>
              <a:rPr lang="en">
                <a:solidFill>
                  <a:schemeClr val="dk1"/>
                </a:solidFill>
                <a:latin typeface="JetBrains Mono"/>
                <a:ea typeface="JetBrains Mono"/>
                <a:cs typeface="JetBrains Mono"/>
                <a:sym typeface="JetBrains Mono"/>
              </a:rPr>
              <a:t>else</a:t>
            </a:r>
            <a:r>
              <a:rPr lang="en">
                <a:solidFill>
                  <a:schemeClr val="dk1"/>
                </a:solidFill>
                <a:latin typeface="Open Sans"/>
                <a:ea typeface="Open Sans"/>
                <a:cs typeface="Open Sans"/>
                <a:sym typeface="Open Sans"/>
              </a:rPr>
              <a:t> clause because it would never be applicable.</a:t>
            </a:r>
            <a:endParaRPr>
              <a:solidFill>
                <a:schemeClr val="dk1"/>
              </a:solidFill>
              <a:latin typeface="Open Sans"/>
              <a:ea typeface="Open Sans"/>
              <a:cs typeface="Open Sans"/>
              <a:sym typeface="Open San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 name="Google Shape;250;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But in Kotlin </a:t>
            </a:r>
            <a:r>
              <a:rPr lang="en">
                <a:latin typeface="Open Sans"/>
                <a:ea typeface="Open Sans"/>
                <a:cs typeface="Open Sans"/>
                <a:sym typeface="Open Sans"/>
              </a:rPr>
              <a:t>we also have sealed classes and interfaces</a:t>
            </a:r>
            <a:r>
              <a:rPr lang="en">
                <a:latin typeface="Open Sans"/>
                <a:ea typeface="Open Sans"/>
                <a:cs typeface="Open Sans"/>
                <a:sym typeface="Open Sans"/>
              </a:rPr>
              <a:t>. Their subclasses are </a:t>
            </a:r>
            <a:r>
              <a:rPr lang="en">
                <a:latin typeface="Open Sans"/>
                <a:ea typeface="Open Sans"/>
                <a:cs typeface="Open Sans"/>
                <a:sym typeface="Open Sans"/>
              </a:rPr>
              <a:t>limited to those</a:t>
            </a:r>
            <a:r>
              <a:rPr lang="en">
                <a:latin typeface="Open Sans"/>
                <a:ea typeface="Open Sans"/>
                <a:cs typeface="Open Sans"/>
                <a:sym typeface="Open Sans"/>
              </a:rPr>
              <a:t> defined in the same module with their parent. Are these subclasses subject to the same effect that applies to enums?</a:t>
            </a:r>
            <a:endParaRPr>
              <a:latin typeface="Open Sans"/>
              <a:ea typeface="Open Sans"/>
              <a:cs typeface="Open Sans"/>
              <a:sym typeface="Open San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6" name="Google Shape;256;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All possible child classes are being checked to see whether it’s necessary to include the “else” clause in the “when” expression.</a:t>
            </a:r>
            <a:endParaRPr>
              <a:latin typeface="Open Sans"/>
              <a:ea typeface="Open Sans"/>
              <a:cs typeface="Open Sans"/>
              <a:sym typeface="Open San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2" name="Google Shape;262;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Let’s look at the code on this slide and see if we can’t improve it a bit. In each of the color classes we have a property name of the same type.</a:t>
            </a:r>
            <a:endParaRPr>
              <a:latin typeface="Open Sans"/>
              <a:ea typeface="Open Sans"/>
              <a:cs typeface="Open Sans"/>
              <a:sym typeface="Open San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9" name="Google Shape;269;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As a result, the interface of each of our classes has become the same.</a:t>
            </a:r>
            <a:endParaRPr>
              <a:latin typeface="Open Sans"/>
              <a:ea typeface="Open Sans"/>
              <a:cs typeface="Open Sans"/>
              <a:sym typeface="Open San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7" name="Google Shape;277;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Now let’s take a more detailed look. In the function above, the name property becomes available only when this gets casted to each of the subclasses. But when we make the interface the same, the name becomes available for all instances of NewColor without information about the exact </a:t>
            </a:r>
            <a:r>
              <a:rPr lang="en">
                <a:latin typeface="Open Sans"/>
                <a:ea typeface="Open Sans"/>
                <a:cs typeface="Open Sans"/>
                <a:sym typeface="Open Sans"/>
              </a:rPr>
              <a:t>inheritor</a:t>
            </a:r>
            <a:r>
              <a:rPr lang="en">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7" name="Google Shape;287;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Actually, there is a correspondence between certain types and certain math operations.</a:t>
            </a:r>
            <a:endParaRPr>
              <a:latin typeface="Open Sans"/>
              <a:ea typeface="Open Sans"/>
              <a:cs typeface="Open Sans"/>
              <a:sym typeface="Open San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7" name="Google Shape;297;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latin typeface="Open Sans"/>
                <a:ea typeface="Open Sans"/>
                <a:cs typeface="Open Sans"/>
                <a:sym typeface="Open Sans"/>
              </a:rPr>
              <a:t>Functional programmers always tell everyone about algebraic types. If we consider sealed classes as sums of their subclasses a</a:t>
            </a:r>
            <a:r>
              <a:rPr lang="en">
                <a:solidFill>
                  <a:schemeClr val="dk1"/>
                </a:solidFill>
                <a:latin typeface="Open Sans"/>
                <a:ea typeface="Open Sans"/>
                <a:cs typeface="Open Sans"/>
                <a:sym typeface="Open Sans"/>
              </a:rPr>
              <a:t>nd classes with a property as products of a discriminator and value</a:t>
            </a:r>
            <a:r>
              <a:rPr lang="en">
                <a:solidFill>
                  <a:schemeClr val="dk1"/>
                </a:solidFill>
                <a:latin typeface="Open Sans"/>
                <a:ea typeface="Open Sans"/>
                <a:cs typeface="Open Sans"/>
                <a:sym typeface="Open Sans"/>
              </a:rPr>
              <a:t>, we can do algebra on these types. Kotlin doesn’t implement these principles thoroughly, but it does implement them enough for practical usage.</a:t>
            </a:r>
            <a:endParaRPr>
              <a:solidFill>
                <a:schemeClr val="dk1"/>
              </a:solidFill>
              <a:latin typeface="Open Sans"/>
              <a:ea typeface="Open Sans"/>
              <a:cs typeface="Open Sans"/>
              <a:sym typeface="Open San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3" name="Google Shape;303;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After seeing the first slide with monkeys, you might think that FP is a more advanced and idiomatic programming style to use in Kotlin.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latin typeface="Open Sans"/>
                <a:ea typeface="Open Sans"/>
                <a:cs typeface="Open Sans"/>
                <a:sym typeface="Open Sans"/>
              </a:rPr>
              <a:t>But this isn’t the case. In reality, you should combine styles within your program to achieve the best results.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latin typeface="Open Sans"/>
                <a:ea typeface="Open Sans"/>
                <a:cs typeface="Open Sans"/>
                <a:sym typeface="Open Sans"/>
              </a:rPr>
              <a:t>You can </a:t>
            </a:r>
            <a:r>
              <a:rPr lang="en">
                <a:latin typeface="Open Sans"/>
                <a:ea typeface="Open Sans"/>
                <a:cs typeface="Open Sans"/>
                <a:sym typeface="Open Sans"/>
              </a:rPr>
              <a:t>use the Arrow project</a:t>
            </a:r>
            <a:r>
              <a:rPr lang="en">
                <a:latin typeface="Open Sans"/>
                <a:ea typeface="Open Sans"/>
                <a:cs typeface="Open Sans"/>
                <a:sym typeface="Open Sans"/>
              </a:rPr>
              <a:t> to increase the share of functional-style code in your project.</a:t>
            </a:r>
            <a:endParaRPr>
              <a:latin typeface="Open Sans"/>
              <a:ea typeface="Open Sans"/>
              <a:cs typeface="Open Sans"/>
              <a:sym typeface="Open San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8b886283a5_0_40: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309" name="Google Shape;309;g38b886283a5_0_40: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900"/>
              <a:buNone/>
            </a:pPr>
            <a:r>
              <a:t/>
            </a:r>
            <a:endParaRPr/>
          </a:p>
        </p:txBody>
      </p:sp>
      <p:sp>
        <p:nvSpPr>
          <p:cNvPr id="310" name="Google Shape;310;g38b886283a5_0_40: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 sz="900"/>
              <a:t>‹#›</a:t>
            </a:fld>
            <a:endParaRPr sz="9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Code">
  <p:cSld name="CUSTOM_4">
    <p:spTree>
      <p:nvGrpSpPr>
        <p:cNvPr id="9" name="Shape 9"/>
        <p:cNvGrpSpPr/>
        <p:nvPr/>
      </p:nvGrpSpPr>
      <p:grpSpPr>
        <a:xfrm>
          <a:off x="0" y="0"/>
          <a:ext cx="0" cy="0"/>
          <a:chOff x="0" y="0"/>
          <a:chExt cx="0" cy="0"/>
        </a:xfrm>
      </p:grpSpPr>
      <p:sp>
        <p:nvSpPr>
          <p:cNvPr id="10" name="Google Shape;10;p2"/>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lvl1pPr indent="-317500" lvl="0" marL="457200" rtl="0">
              <a:spcBef>
                <a:spcPts val="0"/>
              </a:spcBef>
              <a:spcAft>
                <a:spcPts val="0"/>
              </a:spcAft>
              <a:buSzPts val="1400"/>
              <a:buFont typeface="JetBrains Mono"/>
              <a:buChar char="●"/>
              <a:defRPr>
                <a:latin typeface="JetBrains Mono"/>
                <a:ea typeface="JetBrains Mono"/>
                <a:cs typeface="JetBrains Mono"/>
                <a:sym typeface="JetBrains Mono"/>
              </a:defRPr>
            </a:lvl1pPr>
            <a:lvl2pPr indent="-317500" lvl="1" marL="914400" rtl="0">
              <a:spcBef>
                <a:spcPts val="600"/>
              </a:spcBef>
              <a:spcAft>
                <a:spcPts val="0"/>
              </a:spcAft>
              <a:buSzPts val="1400"/>
              <a:buFont typeface="JetBrains Mono"/>
              <a:buChar char="○"/>
              <a:defRPr>
                <a:latin typeface="JetBrains Mono"/>
                <a:ea typeface="JetBrains Mono"/>
                <a:cs typeface="JetBrains Mono"/>
                <a:sym typeface="JetBrains Mono"/>
              </a:defRPr>
            </a:lvl2pPr>
            <a:lvl3pPr indent="-317500" lvl="2" marL="1371600" rtl="0">
              <a:spcBef>
                <a:spcPts val="600"/>
              </a:spcBef>
              <a:spcAft>
                <a:spcPts val="0"/>
              </a:spcAft>
              <a:buSzPts val="1400"/>
              <a:buFont typeface="JetBrains Mono"/>
              <a:buChar char="■"/>
              <a:defRPr>
                <a:latin typeface="JetBrains Mono"/>
                <a:ea typeface="JetBrains Mono"/>
                <a:cs typeface="JetBrains Mono"/>
                <a:sym typeface="JetBrains Mono"/>
              </a:defRPr>
            </a:lvl3pPr>
            <a:lvl4pPr indent="-317500" lvl="3" marL="1828800" rtl="0">
              <a:spcBef>
                <a:spcPts val="600"/>
              </a:spcBef>
              <a:spcAft>
                <a:spcPts val="0"/>
              </a:spcAft>
              <a:buSzPts val="1400"/>
              <a:buFont typeface="JetBrains Mono"/>
              <a:buChar char="●"/>
              <a:defRPr>
                <a:latin typeface="JetBrains Mono"/>
                <a:ea typeface="JetBrains Mono"/>
                <a:cs typeface="JetBrains Mono"/>
                <a:sym typeface="JetBrains Mono"/>
              </a:defRPr>
            </a:lvl4pPr>
            <a:lvl5pPr indent="-317500" lvl="4" marL="2286000" rtl="0">
              <a:spcBef>
                <a:spcPts val="600"/>
              </a:spcBef>
              <a:spcAft>
                <a:spcPts val="0"/>
              </a:spcAft>
              <a:buSzPts val="1400"/>
              <a:buFont typeface="JetBrains Mono"/>
              <a:buChar char="○"/>
              <a:defRPr>
                <a:latin typeface="JetBrains Mono"/>
                <a:ea typeface="JetBrains Mono"/>
                <a:cs typeface="JetBrains Mono"/>
                <a:sym typeface="JetBrains Mono"/>
              </a:defRPr>
            </a:lvl5pPr>
            <a:lvl6pPr indent="-317500" lvl="5" marL="2743200" rtl="0">
              <a:spcBef>
                <a:spcPts val="600"/>
              </a:spcBef>
              <a:spcAft>
                <a:spcPts val="0"/>
              </a:spcAft>
              <a:buSzPts val="1400"/>
              <a:buFont typeface="JetBrains Mono"/>
              <a:buChar char="■"/>
              <a:defRPr>
                <a:latin typeface="JetBrains Mono"/>
                <a:ea typeface="JetBrains Mono"/>
                <a:cs typeface="JetBrains Mono"/>
                <a:sym typeface="JetBrains Mono"/>
              </a:defRPr>
            </a:lvl6pPr>
            <a:lvl7pPr indent="-317500" lvl="6" marL="3200400" rtl="0">
              <a:spcBef>
                <a:spcPts val="600"/>
              </a:spcBef>
              <a:spcAft>
                <a:spcPts val="0"/>
              </a:spcAft>
              <a:buSzPts val="1400"/>
              <a:buFont typeface="JetBrains Mono"/>
              <a:buChar char="●"/>
              <a:defRPr>
                <a:latin typeface="JetBrains Mono"/>
                <a:ea typeface="JetBrains Mono"/>
                <a:cs typeface="JetBrains Mono"/>
                <a:sym typeface="JetBrains Mono"/>
              </a:defRPr>
            </a:lvl7pPr>
            <a:lvl8pPr indent="-317500" lvl="7" marL="3657600" rtl="0">
              <a:spcBef>
                <a:spcPts val="600"/>
              </a:spcBef>
              <a:spcAft>
                <a:spcPts val="0"/>
              </a:spcAft>
              <a:buSzPts val="1400"/>
              <a:buFont typeface="JetBrains Mono"/>
              <a:buChar char="○"/>
              <a:defRPr>
                <a:latin typeface="JetBrains Mono"/>
                <a:ea typeface="JetBrains Mono"/>
                <a:cs typeface="JetBrains Mono"/>
                <a:sym typeface="JetBrains Mono"/>
              </a:defRPr>
            </a:lvl8pPr>
            <a:lvl9pPr indent="-317500" lvl="8" marL="4114800" rtl="0">
              <a:spcBef>
                <a:spcPts val="600"/>
              </a:spcBef>
              <a:spcAft>
                <a:spcPts val="600"/>
              </a:spcAft>
              <a:buSzPts val="1400"/>
              <a:buFont typeface="JetBrains Mono"/>
              <a:buChar char="■"/>
              <a:defRPr>
                <a:latin typeface="JetBrains Mono"/>
                <a:ea typeface="JetBrains Mono"/>
                <a:cs typeface="JetBrains Mono"/>
                <a:sym typeface="JetBrains Mono"/>
              </a:defRPr>
            </a:lvl9pPr>
          </a:lstStyle>
          <a:p/>
        </p:txBody>
      </p:sp>
      <p:sp>
        <p:nvSpPr>
          <p:cNvPr id="11" name="Google Shape;11;p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Lots of code">
  <p:cSld name="CUSTOM_4_1">
    <p:spTree>
      <p:nvGrpSpPr>
        <p:cNvPr id="12" name="Shape 12"/>
        <p:cNvGrpSpPr/>
        <p:nvPr/>
      </p:nvGrpSpPr>
      <p:grpSpPr>
        <a:xfrm>
          <a:off x="0" y="0"/>
          <a:ext cx="0" cy="0"/>
          <a:chOff x="0" y="0"/>
          <a:chExt cx="0" cy="0"/>
        </a:xfrm>
      </p:grpSpPr>
      <p:sp>
        <p:nvSpPr>
          <p:cNvPr id="13" name="Google Shape;13;p3"/>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lvl1pPr indent="-279400" lvl="0" marL="457200" rtl="0">
              <a:spcBef>
                <a:spcPts val="0"/>
              </a:spcBef>
              <a:spcAft>
                <a:spcPts val="0"/>
              </a:spcAft>
              <a:buSzPts val="800"/>
              <a:buFont typeface="JetBrains Mono"/>
              <a:buChar char="●"/>
              <a:defRPr sz="800">
                <a:latin typeface="JetBrains Mono"/>
                <a:ea typeface="JetBrains Mono"/>
                <a:cs typeface="JetBrains Mono"/>
                <a:sym typeface="JetBrains Mono"/>
              </a:defRPr>
            </a:lvl1pPr>
            <a:lvl2pPr indent="-279400" lvl="1" marL="914400" rtl="0">
              <a:spcBef>
                <a:spcPts val="600"/>
              </a:spcBef>
              <a:spcAft>
                <a:spcPts val="0"/>
              </a:spcAft>
              <a:buSzPts val="800"/>
              <a:buFont typeface="JetBrains Mono"/>
              <a:buChar char="○"/>
              <a:defRPr sz="800">
                <a:latin typeface="JetBrains Mono"/>
                <a:ea typeface="JetBrains Mono"/>
                <a:cs typeface="JetBrains Mono"/>
                <a:sym typeface="JetBrains Mono"/>
              </a:defRPr>
            </a:lvl2pPr>
            <a:lvl3pPr indent="-279400" lvl="2" marL="1371600" rtl="0">
              <a:spcBef>
                <a:spcPts val="600"/>
              </a:spcBef>
              <a:spcAft>
                <a:spcPts val="0"/>
              </a:spcAft>
              <a:buSzPts val="800"/>
              <a:buFont typeface="JetBrains Mono"/>
              <a:buChar char="■"/>
              <a:defRPr sz="800">
                <a:latin typeface="JetBrains Mono"/>
                <a:ea typeface="JetBrains Mono"/>
                <a:cs typeface="JetBrains Mono"/>
                <a:sym typeface="JetBrains Mono"/>
              </a:defRPr>
            </a:lvl3pPr>
            <a:lvl4pPr indent="-279400" lvl="3" marL="1828800" rtl="0">
              <a:spcBef>
                <a:spcPts val="600"/>
              </a:spcBef>
              <a:spcAft>
                <a:spcPts val="0"/>
              </a:spcAft>
              <a:buSzPts val="800"/>
              <a:buFont typeface="JetBrains Mono"/>
              <a:buChar char="●"/>
              <a:defRPr sz="800">
                <a:latin typeface="JetBrains Mono"/>
                <a:ea typeface="JetBrains Mono"/>
                <a:cs typeface="JetBrains Mono"/>
                <a:sym typeface="JetBrains Mono"/>
              </a:defRPr>
            </a:lvl4pPr>
            <a:lvl5pPr indent="-279400" lvl="4" marL="2286000" rtl="0">
              <a:spcBef>
                <a:spcPts val="600"/>
              </a:spcBef>
              <a:spcAft>
                <a:spcPts val="0"/>
              </a:spcAft>
              <a:buSzPts val="800"/>
              <a:buFont typeface="JetBrains Mono"/>
              <a:buChar char="○"/>
              <a:defRPr sz="800">
                <a:latin typeface="JetBrains Mono"/>
                <a:ea typeface="JetBrains Mono"/>
                <a:cs typeface="JetBrains Mono"/>
                <a:sym typeface="JetBrains Mono"/>
              </a:defRPr>
            </a:lvl5pPr>
            <a:lvl6pPr indent="-279400" lvl="5" marL="2743200" rtl="0">
              <a:spcBef>
                <a:spcPts val="600"/>
              </a:spcBef>
              <a:spcAft>
                <a:spcPts val="0"/>
              </a:spcAft>
              <a:buSzPts val="800"/>
              <a:buFont typeface="JetBrains Mono"/>
              <a:buChar char="■"/>
              <a:defRPr sz="800">
                <a:latin typeface="JetBrains Mono"/>
                <a:ea typeface="JetBrains Mono"/>
                <a:cs typeface="JetBrains Mono"/>
                <a:sym typeface="JetBrains Mono"/>
              </a:defRPr>
            </a:lvl6pPr>
            <a:lvl7pPr indent="-279400" lvl="6" marL="3200400" rtl="0">
              <a:spcBef>
                <a:spcPts val="600"/>
              </a:spcBef>
              <a:spcAft>
                <a:spcPts val="0"/>
              </a:spcAft>
              <a:buSzPts val="800"/>
              <a:buFont typeface="JetBrains Mono"/>
              <a:buChar char="●"/>
              <a:defRPr sz="800">
                <a:latin typeface="JetBrains Mono"/>
                <a:ea typeface="JetBrains Mono"/>
                <a:cs typeface="JetBrains Mono"/>
                <a:sym typeface="JetBrains Mono"/>
              </a:defRPr>
            </a:lvl7pPr>
            <a:lvl8pPr indent="-279400" lvl="7" marL="3657600" rtl="0">
              <a:spcBef>
                <a:spcPts val="600"/>
              </a:spcBef>
              <a:spcAft>
                <a:spcPts val="0"/>
              </a:spcAft>
              <a:buSzPts val="800"/>
              <a:buFont typeface="JetBrains Mono"/>
              <a:buChar char="○"/>
              <a:defRPr sz="800">
                <a:latin typeface="JetBrains Mono"/>
                <a:ea typeface="JetBrains Mono"/>
                <a:cs typeface="JetBrains Mono"/>
                <a:sym typeface="JetBrains Mono"/>
              </a:defRPr>
            </a:lvl8pPr>
            <a:lvl9pPr indent="-279400" lvl="8" marL="4114800" rtl="0">
              <a:spcBef>
                <a:spcPts val="600"/>
              </a:spcBef>
              <a:spcAft>
                <a:spcPts val="600"/>
              </a:spcAft>
              <a:buSzPts val="800"/>
              <a:buFont typeface="JetBrains Mono"/>
              <a:buChar char="■"/>
              <a:defRPr sz="800">
                <a:latin typeface="JetBrains Mono"/>
                <a:ea typeface="JetBrains Mono"/>
                <a:cs typeface="JetBrains Mono"/>
                <a:sym typeface="JetBrains Mono"/>
              </a:defRPr>
            </a:lvl9pPr>
          </a:lstStyle>
          <a:p/>
        </p:txBody>
      </p:sp>
      <p:sp>
        <p:nvSpPr>
          <p:cNvPr id="14" name="Google Shape;14;p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Main point">
  <p:cSld name="CUSTOM_5">
    <p:spTree>
      <p:nvGrpSpPr>
        <p:cNvPr id="15" name="Shape 15"/>
        <p:cNvGrpSpPr/>
        <p:nvPr/>
      </p:nvGrpSpPr>
      <p:grpSpPr>
        <a:xfrm>
          <a:off x="0" y="0"/>
          <a:ext cx="0" cy="0"/>
          <a:chOff x="0" y="0"/>
          <a:chExt cx="0" cy="0"/>
        </a:xfrm>
      </p:grpSpPr>
      <p:sp>
        <p:nvSpPr>
          <p:cNvPr id="16" name="Google Shape;16;p4"/>
          <p:cNvSpPr txBox="1"/>
          <p:nvPr>
            <p:ph type="title"/>
          </p:nvPr>
        </p:nvSpPr>
        <p:spPr>
          <a:xfrm>
            <a:off x="411475" y="1626682"/>
            <a:ext cx="8321100" cy="1664400"/>
          </a:xfrm>
          <a:prstGeom prst="rect">
            <a:avLst/>
          </a:prstGeom>
        </p:spPr>
        <p:txBody>
          <a:bodyPr anchorCtr="0" anchor="ctr" bIns="91425" lIns="0" spcFirstLastPara="1" rIns="0" wrap="square" tIns="91425">
            <a:noAutofit/>
          </a:bodyPr>
          <a:lstStyle>
            <a:lvl1pPr lvl="0" algn="ctr">
              <a:spcBef>
                <a:spcPts val="0"/>
              </a:spcBef>
              <a:spcAft>
                <a:spcPts val="0"/>
              </a:spcAft>
              <a:buSzPts val="3300"/>
              <a:buNone/>
              <a:defRPr/>
            </a:lvl1pPr>
            <a:lvl2pPr lvl="1" algn="ctr">
              <a:spcBef>
                <a:spcPts val="0"/>
              </a:spcBef>
              <a:spcAft>
                <a:spcPts val="0"/>
              </a:spcAft>
              <a:buSzPts val="3300"/>
              <a:buNone/>
              <a:defRPr/>
            </a:lvl2pPr>
            <a:lvl3pPr lvl="2" algn="ctr">
              <a:spcBef>
                <a:spcPts val="0"/>
              </a:spcBef>
              <a:spcAft>
                <a:spcPts val="0"/>
              </a:spcAft>
              <a:buSzPts val="3300"/>
              <a:buNone/>
              <a:defRPr/>
            </a:lvl3pPr>
            <a:lvl4pPr lvl="3" algn="ctr">
              <a:spcBef>
                <a:spcPts val="0"/>
              </a:spcBef>
              <a:spcAft>
                <a:spcPts val="0"/>
              </a:spcAft>
              <a:buSzPts val="3300"/>
              <a:buNone/>
              <a:defRPr/>
            </a:lvl4pPr>
            <a:lvl5pPr lvl="4" algn="ctr">
              <a:spcBef>
                <a:spcPts val="0"/>
              </a:spcBef>
              <a:spcAft>
                <a:spcPts val="0"/>
              </a:spcAft>
              <a:buSzPts val="3300"/>
              <a:buNone/>
              <a:defRPr/>
            </a:lvl5pPr>
            <a:lvl6pPr lvl="5" algn="ctr">
              <a:spcBef>
                <a:spcPts val="0"/>
              </a:spcBef>
              <a:spcAft>
                <a:spcPts val="0"/>
              </a:spcAft>
              <a:buSzPts val="3300"/>
              <a:buNone/>
              <a:defRPr/>
            </a:lvl6pPr>
            <a:lvl7pPr lvl="6" algn="ctr">
              <a:spcBef>
                <a:spcPts val="0"/>
              </a:spcBef>
              <a:spcAft>
                <a:spcPts val="0"/>
              </a:spcAft>
              <a:buSzPts val="3300"/>
              <a:buNone/>
              <a:defRPr/>
            </a:lvl7pPr>
            <a:lvl8pPr lvl="7" algn="ctr">
              <a:spcBef>
                <a:spcPts val="0"/>
              </a:spcBef>
              <a:spcAft>
                <a:spcPts val="0"/>
              </a:spcAft>
              <a:buSzPts val="3300"/>
              <a:buNone/>
              <a:defRPr/>
            </a:lvl8pPr>
            <a:lvl9pPr lvl="8" algn="ctr">
              <a:spcBef>
                <a:spcPts val="0"/>
              </a:spcBef>
              <a:spcAft>
                <a:spcPts val="0"/>
              </a:spcAft>
              <a:buSzPts val="33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Text slide">
  <p:cSld name="CUSTOM_7_1">
    <p:spTree>
      <p:nvGrpSpPr>
        <p:cNvPr id="17" name="Shape 17"/>
        <p:cNvGrpSpPr/>
        <p:nvPr/>
      </p:nvGrpSpPr>
      <p:grpSpPr>
        <a:xfrm>
          <a:off x="0" y="0"/>
          <a:ext cx="0" cy="0"/>
          <a:chOff x="0" y="0"/>
          <a:chExt cx="0" cy="0"/>
        </a:xfrm>
      </p:grpSpPr>
      <p:sp>
        <p:nvSpPr>
          <p:cNvPr id="18" name="Google Shape;18;p5"/>
          <p:cNvSpPr txBox="1"/>
          <p:nvPr>
            <p:ph idx="1" type="body"/>
          </p:nvPr>
        </p:nvSpPr>
        <p:spPr>
          <a:xfrm>
            <a:off x="292600" y="292598"/>
            <a:ext cx="8328900" cy="4485900"/>
          </a:xfrm>
          <a:prstGeom prst="rect">
            <a:avLst/>
          </a:prstGeom>
        </p:spPr>
        <p:txBody>
          <a:bodyPr anchorCtr="0" anchor="t" bIns="0" lIns="0" spcFirstLastPara="1" rIns="0" wrap="square" tIns="73150">
            <a:noAutofit/>
          </a:bodyPr>
          <a:lstStyle>
            <a:lvl1pPr indent="-317500" lvl="0" marL="457200" rtl="0">
              <a:spcBef>
                <a:spcPts val="0"/>
              </a:spcBef>
              <a:spcAft>
                <a:spcPts val="0"/>
              </a:spcAft>
              <a:buSzPts val="1400"/>
              <a:buChar char="●"/>
              <a:defRPr/>
            </a:lvl1pPr>
            <a:lvl2pPr indent="-317500" lvl="1" marL="914400" rtl="0">
              <a:spcBef>
                <a:spcPts val="600"/>
              </a:spcBef>
              <a:spcAft>
                <a:spcPts val="0"/>
              </a:spcAft>
              <a:buSzPts val="1400"/>
              <a:buChar char="○"/>
              <a:defRPr/>
            </a:lvl2pPr>
            <a:lvl3pPr indent="-317500" lvl="2" marL="1371600" rtl="0">
              <a:spcBef>
                <a:spcPts val="600"/>
              </a:spcBef>
              <a:spcAft>
                <a:spcPts val="0"/>
              </a:spcAft>
              <a:buSzPts val="1400"/>
              <a:buChar char="■"/>
              <a:defRPr/>
            </a:lvl3pPr>
            <a:lvl4pPr indent="-317500" lvl="3" marL="1828800" rtl="0">
              <a:spcBef>
                <a:spcPts val="600"/>
              </a:spcBef>
              <a:spcAft>
                <a:spcPts val="0"/>
              </a:spcAft>
              <a:buSzPts val="1400"/>
              <a:buChar char="●"/>
              <a:defRPr/>
            </a:lvl4pPr>
            <a:lvl5pPr indent="-317500" lvl="4" marL="2286000" rtl="0">
              <a:spcBef>
                <a:spcPts val="600"/>
              </a:spcBef>
              <a:spcAft>
                <a:spcPts val="0"/>
              </a:spcAft>
              <a:buSzPts val="1400"/>
              <a:buChar char="○"/>
              <a:defRPr/>
            </a:lvl5pPr>
            <a:lvl6pPr indent="-317500" lvl="5" marL="2743200" rtl="0">
              <a:spcBef>
                <a:spcPts val="600"/>
              </a:spcBef>
              <a:spcAft>
                <a:spcPts val="0"/>
              </a:spcAft>
              <a:buSzPts val="1400"/>
              <a:buChar char="■"/>
              <a:defRPr/>
            </a:lvl6pPr>
            <a:lvl7pPr indent="-317500" lvl="6" marL="3200400" rtl="0">
              <a:spcBef>
                <a:spcPts val="600"/>
              </a:spcBef>
              <a:spcAft>
                <a:spcPts val="0"/>
              </a:spcAft>
              <a:buSzPts val="1400"/>
              <a:buChar char="●"/>
              <a:defRPr/>
            </a:lvl7pPr>
            <a:lvl8pPr indent="-317500" lvl="7" marL="3657600" rtl="0">
              <a:spcBef>
                <a:spcPts val="600"/>
              </a:spcBef>
              <a:spcAft>
                <a:spcPts val="0"/>
              </a:spcAft>
              <a:buSzPts val="1400"/>
              <a:buChar char="○"/>
              <a:defRPr/>
            </a:lvl8pPr>
            <a:lvl9pPr indent="-317500" lvl="8" marL="4114800" rtl="0">
              <a:spcBef>
                <a:spcPts val="600"/>
              </a:spcBef>
              <a:spcAft>
                <a:spcPts val="600"/>
              </a:spcAft>
              <a:buSzPts val="14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0000"/>
        </a:solidFill>
      </p:bgPr>
    </p:bg>
    <p:spTree>
      <p:nvGrpSpPr>
        <p:cNvPr id="19" name="Shape 19"/>
        <p:cNvGrpSpPr/>
        <p:nvPr/>
      </p:nvGrpSpPr>
      <p:grpSpPr>
        <a:xfrm>
          <a:off x="0" y="0"/>
          <a:ext cx="0" cy="0"/>
          <a:chOff x="0" y="0"/>
          <a:chExt cx="0" cy="0"/>
        </a:xfrm>
      </p:grpSpPr>
      <p:sp>
        <p:nvSpPr>
          <p:cNvPr id="20" name="Google Shape;20;p6"/>
          <p:cNvSpPr txBox="1"/>
          <p:nvPr>
            <p:ph idx="12" type="sldNum"/>
          </p:nvPr>
        </p:nvSpPr>
        <p:spPr>
          <a:xfrm>
            <a:off x="8472458" y="4663217"/>
            <a:ext cx="548700" cy="393600"/>
          </a:xfrm>
          <a:prstGeom prst="rect">
            <a:avLst/>
          </a:prstGeom>
        </p:spPr>
        <p:txBody>
          <a:bodyPr anchorCtr="0" anchor="ctr" bIns="91425" lIns="0" spcFirstLastPara="1" rIns="0"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21" name="Google Shape;21;p6"/>
          <p:cNvPicPr preferRelativeResize="0"/>
          <p:nvPr/>
        </p:nvPicPr>
        <p:blipFill rotWithShape="1">
          <a:blip r:embed="rId2">
            <a:alphaModFix/>
          </a:blip>
          <a:srcRect b="20590" l="25105" r="1078" t="18583"/>
          <a:stretch/>
        </p:blipFill>
        <p:spPr>
          <a:xfrm rot="-720009">
            <a:off x="4471046" y="-44961"/>
            <a:ext cx="5499357" cy="4533268"/>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Text and header 1">
  <p:cSld name="CUSTOM_7_2">
    <p:spTree>
      <p:nvGrpSpPr>
        <p:cNvPr id="22" name="Shape 22"/>
        <p:cNvGrpSpPr/>
        <p:nvPr/>
      </p:nvGrpSpPr>
      <p:grpSpPr>
        <a:xfrm>
          <a:off x="0" y="0"/>
          <a:ext cx="0" cy="0"/>
          <a:chOff x="0" y="0"/>
          <a:chExt cx="0" cy="0"/>
        </a:xfrm>
      </p:grpSpPr>
      <p:sp>
        <p:nvSpPr>
          <p:cNvPr id="23" name="Google Shape;23;p7"/>
          <p:cNvSpPr txBox="1"/>
          <p:nvPr>
            <p:ph idx="1" type="body"/>
          </p:nvPr>
        </p:nvSpPr>
        <p:spPr>
          <a:xfrm>
            <a:off x="292608" y="1335024"/>
            <a:ext cx="8328900" cy="2395800"/>
          </a:xfrm>
          <a:prstGeom prst="rect">
            <a:avLst/>
          </a:prstGeom>
        </p:spPr>
        <p:txBody>
          <a:bodyPr anchorCtr="0" anchor="t" bIns="0" lIns="0" spcFirstLastPara="1" rIns="0" wrap="square" tIns="73150">
            <a:noAutofit/>
          </a:bodyPr>
          <a:lstStyle>
            <a:lvl1pPr indent="-317500" lvl="0" marL="457200" rtl="0">
              <a:spcBef>
                <a:spcPts val="0"/>
              </a:spcBef>
              <a:spcAft>
                <a:spcPts val="0"/>
              </a:spcAft>
              <a:buSzPts val="1400"/>
              <a:buChar char="●"/>
              <a:defRPr/>
            </a:lvl1pPr>
            <a:lvl2pPr indent="-317500" lvl="1" marL="914400" rtl="0">
              <a:spcBef>
                <a:spcPts val="600"/>
              </a:spcBef>
              <a:spcAft>
                <a:spcPts val="0"/>
              </a:spcAft>
              <a:buSzPts val="1400"/>
              <a:buChar char="○"/>
              <a:defRPr/>
            </a:lvl2pPr>
            <a:lvl3pPr indent="-317500" lvl="2" marL="1371600" rtl="0">
              <a:spcBef>
                <a:spcPts val="600"/>
              </a:spcBef>
              <a:spcAft>
                <a:spcPts val="0"/>
              </a:spcAft>
              <a:buSzPts val="1400"/>
              <a:buChar char="■"/>
              <a:defRPr/>
            </a:lvl3pPr>
            <a:lvl4pPr indent="-317500" lvl="3" marL="1828800" rtl="0">
              <a:spcBef>
                <a:spcPts val="600"/>
              </a:spcBef>
              <a:spcAft>
                <a:spcPts val="0"/>
              </a:spcAft>
              <a:buSzPts val="1400"/>
              <a:buChar char="●"/>
              <a:defRPr/>
            </a:lvl4pPr>
            <a:lvl5pPr indent="-317500" lvl="4" marL="2286000" rtl="0">
              <a:spcBef>
                <a:spcPts val="600"/>
              </a:spcBef>
              <a:spcAft>
                <a:spcPts val="0"/>
              </a:spcAft>
              <a:buSzPts val="1400"/>
              <a:buChar char="○"/>
              <a:defRPr/>
            </a:lvl5pPr>
            <a:lvl6pPr indent="-317500" lvl="5" marL="2743200" rtl="0">
              <a:spcBef>
                <a:spcPts val="600"/>
              </a:spcBef>
              <a:spcAft>
                <a:spcPts val="0"/>
              </a:spcAft>
              <a:buSzPts val="1400"/>
              <a:buChar char="■"/>
              <a:defRPr/>
            </a:lvl6pPr>
            <a:lvl7pPr indent="-317500" lvl="6" marL="3200400" rtl="0">
              <a:spcBef>
                <a:spcPts val="600"/>
              </a:spcBef>
              <a:spcAft>
                <a:spcPts val="0"/>
              </a:spcAft>
              <a:buSzPts val="1400"/>
              <a:buChar char="●"/>
              <a:defRPr/>
            </a:lvl7pPr>
            <a:lvl8pPr indent="-317500" lvl="7" marL="3657600" rtl="0">
              <a:spcBef>
                <a:spcPts val="600"/>
              </a:spcBef>
              <a:spcAft>
                <a:spcPts val="0"/>
              </a:spcAft>
              <a:buSzPts val="1400"/>
              <a:buChar char="○"/>
              <a:defRPr/>
            </a:lvl8pPr>
            <a:lvl9pPr indent="-317500" lvl="8" marL="4114800" rtl="0">
              <a:spcBef>
                <a:spcPts val="600"/>
              </a:spcBef>
              <a:spcAft>
                <a:spcPts val="600"/>
              </a:spcAft>
              <a:buSzPts val="1400"/>
              <a:buChar char="■"/>
              <a:defRPr/>
            </a:lvl9pPr>
          </a:lstStyle>
          <a:p/>
        </p:txBody>
      </p:sp>
      <p:sp>
        <p:nvSpPr>
          <p:cNvPr id="24" name="Google Shape;24;p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25" name="Shape 25"/>
        <p:cNvGrpSpPr/>
        <p:nvPr/>
      </p:nvGrpSpPr>
      <p:grpSpPr>
        <a:xfrm>
          <a:off x="0" y="0"/>
          <a:ext cx="0" cy="0"/>
          <a:chOff x="0" y="0"/>
          <a:chExt cx="0" cy="0"/>
        </a:xfrm>
      </p:grpSpPr>
      <p:sp>
        <p:nvSpPr>
          <p:cNvPr id="26" name="Google Shape;26;p8"/>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5200"/>
              <a:buNone/>
              <a:defRPr sz="52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27" name="Google Shape;27;p8"/>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8" name="Google Shape;28;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9" name="Shape 29"/>
        <p:cNvGrpSpPr/>
        <p:nvPr/>
      </p:nvGrpSpPr>
      <p:grpSpPr>
        <a:xfrm>
          <a:off x="0" y="0"/>
          <a:ext cx="0" cy="0"/>
          <a:chOff x="0" y="0"/>
          <a:chExt cx="0" cy="0"/>
        </a:xfrm>
      </p:grpSpPr>
      <p:sp>
        <p:nvSpPr>
          <p:cNvPr id="30" name="Google Shape;30;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31" name="Google Shape;31;p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
        <p:nvSpPr>
          <p:cNvPr id="32" name="Google Shape;32;p9"/>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lvl1pPr indent="-317500" lvl="0" marL="457200" rtl="0">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1pPr>
            <a:lvl2pPr indent="-317500" lvl="1" marL="9144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2pPr>
            <a:lvl3pPr indent="-317500" lvl="2" marL="13716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3pPr>
            <a:lvl4pPr indent="-317500" lvl="3" marL="18288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4pPr>
            <a:lvl5pPr indent="-317500" lvl="4" marL="22860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5pPr>
            <a:lvl6pPr indent="-317500" lvl="5" marL="27432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6pPr>
            <a:lvl7pPr indent="-317500" lvl="6" marL="32004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7pPr>
            <a:lvl8pPr indent="-317500" lvl="7" marL="36576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8pPr>
            <a:lvl9pPr indent="-317500" lvl="8" marL="4114800" rtl="0">
              <a:lnSpc>
                <a:spcPct val="115000"/>
              </a:lnSpc>
              <a:spcBef>
                <a:spcPts val="600"/>
              </a:spcBef>
              <a:spcAft>
                <a:spcPts val="600"/>
              </a:spcAft>
              <a:buClr>
                <a:schemeClr val="dk1"/>
              </a:buClr>
              <a:buSzPts val="1400"/>
              <a:buFont typeface="Open Sans"/>
              <a:buChar char="■"/>
              <a:defRPr sz="1400">
                <a:solidFill>
                  <a:schemeClr val="dk1"/>
                </a:solidFill>
                <a:latin typeface="Open Sans"/>
                <a:ea typeface="Open Sans"/>
                <a:cs typeface="Open Sans"/>
                <a:sym typeface="Open Sans"/>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33" name="Shape 33"/>
        <p:cNvGrpSpPr/>
        <p:nvPr/>
      </p:nvGrpSpPr>
      <p:grpSpPr>
        <a:xfrm>
          <a:off x="0" y="0"/>
          <a:ext cx="0" cy="0"/>
          <a:chOff x="0" y="0"/>
          <a:chExt cx="0" cy="0"/>
        </a:xfrm>
      </p:grpSpPr>
      <p:sp>
        <p:nvSpPr>
          <p:cNvPr id="34" name="Google Shape;34;p10"/>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5200"/>
              <a:buNone/>
              <a:defRPr sz="52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35" name="Google Shape;35;p10"/>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6" name="Google Shape;36;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37" name="Shape 37"/>
        <p:cNvGrpSpPr/>
        <p:nvPr/>
      </p:nvGrpSpPr>
      <p:grpSpPr>
        <a:xfrm>
          <a:off x="0" y="0"/>
          <a:ext cx="0" cy="0"/>
          <a:chOff x="0" y="0"/>
          <a:chExt cx="0" cy="0"/>
        </a:xfrm>
      </p:grpSpPr>
      <p:sp>
        <p:nvSpPr>
          <p:cNvPr id="38" name="Google Shape;38;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9" name="Google Shape;39;p1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1600"/>
              </a:spcBef>
              <a:spcAft>
                <a:spcPts val="0"/>
              </a:spcAft>
              <a:buSzPts val="1400"/>
              <a:buChar char="○"/>
              <a:defRPr/>
            </a:lvl2pPr>
            <a:lvl3pPr indent="-317500" lvl="2" marL="1371600" rtl="0" algn="l">
              <a:lnSpc>
                <a:spcPct val="115000"/>
              </a:lnSpc>
              <a:spcBef>
                <a:spcPts val="1600"/>
              </a:spcBef>
              <a:spcAft>
                <a:spcPts val="0"/>
              </a:spcAft>
              <a:buSzPts val="1400"/>
              <a:buChar char="■"/>
              <a:defRPr/>
            </a:lvl3pPr>
            <a:lvl4pPr indent="-317500" lvl="3" marL="1828800" rtl="0" algn="l">
              <a:lnSpc>
                <a:spcPct val="115000"/>
              </a:lnSpc>
              <a:spcBef>
                <a:spcPts val="1600"/>
              </a:spcBef>
              <a:spcAft>
                <a:spcPts val="0"/>
              </a:spcAft>
              <a:buSzPts val="1400"/>
              <a:buChar char="●"/>
              <a:defRPr/>
            </a:lvl4pPr>
            <a:lvl5pPr indent="-317500" lvl="4" marL="2286000" rtl="0" algn="l">
              <a:lnSpc>
                <a:spcPct val="115000"/>
              </a:lnSpc>
              <a:spcBef>
                <a:spcPts val="1600"/>
              </a:spcBef>
              <a:spcAft>
                <a:spcPts val="0"/>
              </a:spcAft>
              <a:buSzPts val="1400"/>
              <a:buChar char="○"/>
              <a:defRPr/>
            </a:lvl5pPr>
            <a:lvl6pPr indent="-317500" lvl="5" marL="2743200" rtl="0" algn="l">
              <a:lnSpc>
                <a:spcPct val="115000"/>
              </a:lnSpc>
              <a:spcBef>
                <a:spcPts val="1600"/>
              </a:spcBef>
              <a:spcAft>
                <a:spcPts val="0"/>
              </a:spcAft>
              <a:buSzPts val="1400"/>
              <a:buChar char="■"/>
              <a:defRPr/>
            </a:lvl6pPr>
            <a:lvl7pPr indent="-317500" lvl="6" marL="3200400" rtl="0" algn="l">
              <a:lnSpc>
                <a:spcPct val="115000"/>
              </a:lnSpc>
              <a:spcBef>
                <a:spcPts val="1600"/>
              </a:spcBef>
              <a:spcAft>
                <a:spcPts val="0"/>
              </a:spcAft>
              <a:buSzPts val="1400"/>
              <a:buChar char="●"/>
              <a:defRPr/>
            </a:lvl7pPr>
            <a:lvl8pPr indent="-317500" lvl="7" marL="3657600" rtl="0" algn="l">
              <a:lnSpc>
                <a:spcPct val="115000"/>
              </a:lnSpc>
              <a:spcBef>
                <a:spcPts val="1600"/>
              </a:spcBef>
              <a:spcAft>
                <a:spcPts val="0"/>
              </a:spcAft>
              <a:buSzPts val="1400"/>
              <a:buChar char="○"/>
              <a:defRPr/>
            </a:lvl8pPr>
            <a:lvl9pPr indent="-317500" lvl="8" marL="4114800" rtl="0" algn="l">
              <a:lnSpc>
                <a:spcPct val="115000"/>
              </a:lnSpc>
              <a:spcBef>
                <a:spcPts val="1600"/>
              </a:spcBef>
              <a:spcAft>
                <a:spcPts val="1600"/>
              </a:spcAft>
              <a:buSzPts val="1400"/>
              <a:buChar char="■"/>
              <a:defRPr/>
            </a:lvl9pPr>
          </a:lstStyle>
          <a:p/>
        </p:txBody>
      </p:sp>
      <p:sp>
        <p:nvSpPr>
          <p:cNvPr id="40" name="Google Shape;40;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41" name="Shape 4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no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
        <p:nvSpPr>
          <p:cNvPr id="7" name="Google Shape;7;p1"/>
          <p:cNvSpPr txBox="1"/>
          <p:nvPr>
            <p:ph idx="1" type="body"/>
          </p:nvPr>
        </p:nvSpPr>
        <p:spPr>
          <a:xfrm>
            <a:off x="292608" y="1335024"/>
            <a:ext cx="8419800" cy="2615400"/>
          </a:xfrm>
          <a:prstGeom prst="rect">
            <a:avLst/>
          </a:prstGeom>
          <a:noFill/>
          <a:ln>
            <a:noFill/>
          </a:ln>
        </p:spPr>
        <p:txBody>
          <a:bodyPr anchorCtr="0" anchor="t" bIns="0" lIns="0" spcFirstLastPara="1" rIns="0" wrap="square" tIns="73150">
            <a:noAutofit/>
          </a:bodyPr>
          <a:lstStyle>
            <a:lvl1pPr indent="-317500" lvl="0" marL="457200">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1pPr>
            <a:lvl2pPr indent="-317500" lvl="1" marL="9144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2pPr>
            <a:lvl3pPr indent="-317500" lvl="2" marL="13716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3pPr>
            <a:lvl4pPr indent="-317500" lvl="3" marL="18288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4pPr>
            <a:lvl5pPr indent="-317500" lvl="4" marL="22860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5pPr>
            <a:lvl6pPr indent="-317500" lvl="5" marL="27432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6pPr>
            <a:lvl7pPr indent="-317500" lvl="6" marL="32004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7pPr>
            <a:lvl8pPr indent="-317500" lvl="7" marL="36576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8pPr>
            <a:lvl9pPr indent="-317500" lvl="8" marL="4114800">
              <a:lnSpc>
                <a:spcPct val="115000"/>
              </a:lnSpc>
              <a:spcBef>
                <a:spcPts val="600"/>
              </a:spcBef>
              <a:spcAft>
                <a:spcPts val="600"/>
              </a:spcAft>
              <a:buClr>
                <a:schemeClr val="dk1"/>
              </a:buClr>
              <a:buSzPts val="1400"/>
              <a:buFont typeface="Open Sans"/>
              <a:buChar char="■"/>
              <a:defRPr sz="1400">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183880" y="4114800"/>
            <a:ext cx="548700" cy="393600"/>
          </a:xfrm>
          <a:prstGeom prst="rect">
            <a:avLst/>
          </a:prstGeom>
          <a:noFill/>
          <a:ln>
            <a:noFill/>
          </a:ln>
        </p:spPr>
        <p:txBody>
          <a:bodyPr anchorCtr="0" anchor="ctr" bIns="91425" lIns="0" spcFirstLastPara="1" rIns="0"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432">
          <p15:clr>
            <a:srgbClr val="EA4335"/>
          </p15:clr>
        </p15:guide>
        <p15:guide id="2" pos="259">
          <p15:clr>
            <a:srgbClr val="EA4335"/>
          </p15:clr>
        </p15:guide>
        <p15:guide id="3" pos="1037">
          <p15:clr>
            <a:srgbClr val="EA4335"/>
          </p15:clr>
        </p15:guide>
        <p15:guide id="4" pos="1152">
          <p15:clr>
            <a:srgbClr val="EA4335"/>
          </p15:clr>
        </p15:guide>
        <p15:guide id="5" pos="1930">
          <p15:clr>
            <a:srgbClr val="EA4335"/>
          </p15:clr>
        </p15:guide>
        <p15:guide id="6" pos="2045">
          <p15:clr>
            <a:srgbClr val="EA4335"/>
          </p15:clr>
        </p15:guide>
        <p15:guide id="7" pos="2822">
          <p15:clr>
            <a:srgbClr val="EA4335"/>
          </p15:clr>
        </p15:guide>
        <p15:guide id="8" pos="2938">
          <p15:clr>
            <a:srgbClr val="EA4335"/>
          </p15:clr>
        </p15:guide>
        <p15:guide id="9" pos="3715">
          <p15:clr>
            <a:srgbClr val="EA4335"/>
          </p15:clr>
        </p15:guide>
        <p15:guide id="10" pos="3830">
          <p15:clr>
            <a:srgbClr val="EA4335"/>
          </p15:clr>
        </p15:guide>
        <p15:guide id="11" pos="4608">
          <p15:clr>
            <a:srgbClr val="EA4335"/>
          </p15:clr>
        </p15:guide>
        <p15:guide id="12" pos="4723">
          <p15:clr>
            <a:srgbClr val="EA4335"/>
          </p15:clr>
        </p15:guide>
        <p15:guide id="13" pos="5501">
          <p15:clr>
            <a:srgbClr val="EA4335"/>
          </p15:clr>
        </p15:guide>
        <p15:guide id="14" orient="horz" pos="582">
          <p15:clr>
            <a:srgbClr val="EA4335"/>
          </p15:clr>
        </p15:guide>
        <p15:guide id="15" orient="horz" pos="732">
          <p15:clr>
            <a:srgbClr val="EA4335"/>
          </p15:clr>
        </p15:guide>
        <p15:guide id="16" orient="horz" pos="881">
          <p15:clr>
            <a:srgbClr val="EA4335"/>
          </p15:clr>
        </p15:guide>
        <p15:guide id="17" orient="horz" pos="1031">
          <p15:clr>
            <a:srgbClr val="EA4335"/>
          </p15:clr>
        </p15:guide>
        <p15:guide id="18" orient="horz" pos="1181">
          <p15:clr>
            <a:srgbClr val="EA4335"/>
          </p15:clr>
        </p15:guide>
        <p15:guide id="19" orient="horz" pos="1331">
          <p15:clr>
            <a:srgbClr val="EA4335"/>
          </p15:clr>
        </p15:guide>
        <p15:guide id="20" orient="horz" pos="1480">
          <p15:clr>
            <a:srgbClr val="EA4335"/>
          </p15:clr>
        </p15:guide>
        <p15:guide id="21" orient="horz" pos="1630">
          <p15:clr>
            <a:srgbClr val="EA4335"/>
          </p15:clr>
        </p15:guide>
        <p15:guide id="22" orient="horz" pos="1780">
          <p15:clr>
            <a:srgbClr val="EA4335"/>
          </p15:clr>
        </p15:guide>
        <p15:guide id="23" orient="horz" pos="1930">
          <p15:clr>
            <a:srgbClr val="EA4335"/>
          </p15:clr>
        </p15:guide>
        <p15:guide id="24" orient="horz" pos="2079">
          <p15:clr>
            <a:srgbClr val="EA4335"/>
          </p15:clr>
        </p15:guide>
        <p15:guide id="25" orient="horz" pos="2229">
          <p15:clr>
            <a:srgbClr val="EA4335"/>
          </p15:clr>
        </p15:guide>
        <p15:guide id="26" orient="horz" pos="2379">
          <p15:clr>
            <a:srgbClr val="EA4335"/>
          </p15:clr>
        </p15:guide>
        <p15:guide id="27" orient="horz" pos="2529">
          <p15:clr>
            <a:srgbClr val="EA4335"/>
          </p15:clr>
        </p15:guide>
        <p15:guide id="28" orient="horz" pos="2678">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hyperlink" Target="https://arrow-kt.io/"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7.xml"/><Relationship Id="rId3" Type="http://schemas.openxmlformats.org/officeDocument/2006/relationships/image" Target="../media/image1.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46" name="Shape 46"/>
        <p:cNvGrpSpPr/>
        <p:nvPr/>
      </p:nvGrpSpPr>
      <p:grpSpPr>
        <a:xfrm>
          <a:off x="0" y="0"/>
          <a:ext cx="0" cy="0"/>
          <a:chOff x="0" y="0"/>
          <a:chExt cx="0" cy="0"/>
        </a:xfrm>
      </p:grpSpPr>
      <p:pic>
        <p:nvPicPr>
          <p:cNvPr descr="preencoded.png" id="47" name="Google Shape;47;p13"/>
          <p:cNvPicPr preferRelativeResize="0"/>
          <p:nvPr/>
        </p:nvPicPr>
        <p:blipFill rotWithShape="1">
          <a:blip r:embed="rId3">
            <a:alphaModFix/>
          </a:blip>
          <a:srcRect b="0" l="0" r="0" t="0"/>
          <a:stretch/>
        </p:blipFill>
        <p:spPr>
          <a:xfrm>
            <a:off x="1337663" y="0"/>
            <a:ext cx="7807237" cy="5145096"/>
          </a:xfrm>
          <a:prstGeom prst="rect">
            <a:avLst/>
          </a:prstGeom>
          <a:noFill/>
          <a:ln>
            <a:noFill/>
          </a:ln>
        </p:spPr>
      </p:pic>
      <p:pic>
        <p:nvPicPr>
          <p:cNvPr descr="preencoded.png" id="48" name="Google Shape;48;p13"/>
          <p:cNvPicPr preferRelativeResize="0"/>
          <p:nvPr/>
        </p:nvPicPr>
        <p:blipFill rotWithShape="1">
          <a:blip r:embed="rId4">
            <a:alphaModFix/>
          </a:blip>
          <a:srcRect b="0" l="0" r="0" t="0"/>
          <a:stretch/>
        </p:blipFill>
        <p:spPr>
          <a:xfrm>
            <a:off x="404873" y="347966"/>
            <a:ext cx="3505320" cy="344126"/>
          </a:xfrm>
          <a:prstGeom prst="rect">
            <a:avLst/>
          </a:prstGeom>
          <a:noFill/>
          <a:ln>
            <a:noFill/>
          </a:ln>
        </p:spPr>
      </p:pic>
      <p:sp>
        <p:nvSpPr>
          <p:cNvPr id="49" name="Google Shape;49;p13"/>
          <p:cNvSpPr/>
          <p:nvPr/>
        </p:nvSpPr>
        <p:spPr>
          <a:xfrm>
            <a:off x="411485" y="1636776"/>
            <a:ext cx="6620100" cy="1220400"/>
          </a:xfrm>
          <a:prstGeom prst="rect">
            <a:avLst/>
          </a:prstGeom>
          <a:noFill/>
          <a:ln>
            <a:noFill/>
          </a:ln>
        </p:spPr>
        <p:txBody>
          <a:bodyPr anchorCtr="0" anchor="b" bIns="0" lIns="0" spcFirstLastPara="1" rIns="0" wrap="square" tIns="0">
            <a:noAutofit/>
          </a:bodyPr>
          <a:lstStyle/>
          <a:p>
            <a:pPr indent="0" lvl="0" marL="0" marR="0" rtl="0" algn="l">
              <a:lnSpc>
                <a:spcPct val="85000"/>
              </a:lnSpc>
              <a:spcBef>
                <a:spcPts val="0"/>
              </a:spcBef>
              <a:spcAft>
                <a:spcPts val="0"/>
              </a:spcAft>
              <a:buClr>
                <a:srgbClr val="FAFAFA"/>
              </a:buClr>
              <a:buSzPts val="4800"/>
              <a:buFont typeface="Inter"/>
              <a:buNone/>
            </a:pPr>
            <a:r>
              <a:rPr b="1" i="0" lang="en" sz="4800" u="none" cap="none" strike="noStrike">
                <a:solidFill>
                  <a:srgbClr val="FAFAFA"/>
                </a:solidFill>
                <a:latin typeface="Inter"/>
                <a:ea typeface="Inter"/>
                <a:cs typeface="Inter"/>
                <a:sym typeface="Inter"/>
              </a:rPr>
              <a:t>Functional</a:t>
            </a:r>
            <a:endParaRPr b="1" i="0" sz="4800" u="none" cap="none" strike="noStrike">
              <a:solidFill>
                <a:srgbClr val="FAFAFA"/>
              </a:solidFill>
              <a:latin typeface="Inter"/>
              <a:ea typeface="Inter"/>
              <a:cs typeface="Inter"/>
              <a:sym typeface="Inter"/>
            </a:endParaRPr>
          </a:p>
          <a:p>
            <a:pPr indent="0" lvl="0" marL="0" marR="0" rtl="0" algn="l">
              <a:lnSpc>
                <a:spcPct val="85000"/>
              </a:lnSpc>
              <a:spcBef>
                <a:spcPts val="0"/>
              </a:spcBef>
              <a:spcAft>
                <a:spcPts val="0"/>
              </a:spcAft>
              <a:buClr>
                <a:srgbClr val="FAFAFA"/>
              </a:buClr>
              <a:buSzPts val="4800"/>
              <a:buFont typeface="Inter"/>
              <a:buNone/>
            </a:pPr>
            <a:r>
              <a:rPr b="1" i="0" lang="en" sz="4800" u="none" cap="none" strike="noStrike">
                <a:solidFill>
                  <a:srgbClr val="FAFAFA"/>
                </a:solidFill>
                <a:latin typeface="Inter"/>
                <a:ea typeface="Inter"/>
                <a:cs typeface="Inter"/>
                <a:sym typeface="Inter"/>
              </a:rPr>
              <a:t>Programming</a:t>
            </a:r>
            <a:endParaRPr b="1" sz="4800">
              <a:solidFill>
                <a:srgbClr val="FAFAFA"/>
              </a:solidFill>
              <a:latin typeface="Inter"/>
              <a:ea typeface="Inter"/>
              <a:cs typeface="Inter"/>
              <a:sym typeface="Inter"/>
            </a:endParaRPr>
          </a:p>
        </p:txBody>
      </p:sp>
      <p:sp>
        <p:nvSpPr>
          <p:cNvPr id="50" name="Google Shape;50;p13"/>
          <p:cNvSpPr/>
          <p:nvPr/>
        </p:nvSpPr>
        <p:spPr>
          <a:xfrm>
            <a:off x="405550" y="4239875"/>
            <a:ext cx="3324900" cy="5718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AFAFA"/>
              </a:buClr>
              <a:buSzPts val="1900"/>
              <a:buFont typeface="Inter"/>
              <a:buNone/>
            </a:pPr>
            <a:r>
              <a:rPr lang="en" sz="1900">
                <a:solidFill>
                  <a:srgbClr val="FAFAFA"/>
                </a:solidFill>
                <a:latin typeface="Inter"/>
                <a:ea typeface="Inter"/>
                <a:cs typeface="Inter"/>
                <a:sym typeface="Inter"/>
              </a:rPr>
              <a:t>kotlinglang.org/education</a:t>
            </a:r>
            <a:endParaRPr b="0" i="0" sz="1900" u="none" cap="none" strike="noStrike">
              <a:solidFill>
                <a:schemeClr val="dk1"/>
              </a:solidFill>
              <a:latin typeface="Calibri"/>
              <a:ea typeface="Calibri"/>
              <a:cs typeface="Calibri"/>
              <a:sym typeface="Calibri"/>
            </a:endParaRPr>
          </a:p>
        </p:txBody>
      </p:sp>
      <p:sp>
        <p:nvSpPr>
          <p:cNvPr id="51" name="Google Shape;51;p13"/>
          <p:cNvSpPr/>
          <p:nvPr/>
        </p:nvSpPr>
        <p:spPr>
          <a:xfrm>
            <a:off x="2077715" y="426513"/>
            <a:ext cx="90600" cy="2286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FFFFF"/>
              </a:buClr>
              <a:buSzPts val="1800"/>
              <a:buFont typeface="Arial"/>
              <a:buNone/>
            </a:pPr>
            <a:r>
              <a:rPr b="0" i="0" lang="en" sz="1800" u="none" cap="none" strike="noStrike">
                <a:solidFill>
                  <a:srgbClr val="FFFFFF"/>
                </a:solidFill>
                <a:latin typeface="Arial"/>
                <a:ea typeface="Arial"/>
                <a:cs typeface="Arial"/>
                <a:sym typeface="Arial"/>
              </a:rPr>
              <a:t>|</a:t>
            </a:r>
            <a:endParaRPr b="0" i="0" sz="1800" u="none" cap="none" strike="noStrike">
              <a:solidFill>
                <a:schemeClr val="dk1"/>
              </a:solidFill>
              <a:latin typeface="Calibri"/>
              <a:ea typeface="Calibri"/>
              <a:cs typeface="Calibri"/>
              <a:sym typeface="Calibri"/>
            </a:endParaRPr>
          </a:p>
        </p:txBody>
      </p:sp>
      <p:sp>
        <p:nvSpPr>
          <p:cNvPr id="52" name="Google Shape;52;p13"/>
          <p:cNvSpPr/>
          <p:nvPr/>
        </p:nvSpPr>
        <p:spPr>
          <a:xfrm>
            <a:off x="2215828" y="426392"/>
            <a:ext cx="666900" cy="2289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FFFFF"/>
              </a:buClr>
              <a:buSzPts val="1800"/>
              <a:buFont typeface="Arial"/>
              <a:buNone/>
            </a:pPr>
            <a:r>
              <a:rPr b="0" i="0" lang="en" sz="1800" u="none" cap="none" strike="noStrike">
                <a:solidFill>
                  <a:srgbClr val="FFFFFF"/>
                </a:solidFill>
                <a:latin typeface="Arial"/>
                <a:ea typeface="Arial"/>
                <a:cs typeface="Arial"/>
                <a:sym typeface="Arial"/>
              </a:rPr>
              <a:t>Kotlin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1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What is it?</a:t>
            </a:r>
            <a:endParaRPr/>
          </a:p>
        </p:txBody>
      </p:sp>
      <p:sp>
        <p:nvSpPr>
          <p:cNvPr id="58" name="Google Shape;58;p14"/>
          <p:cNvSpPr txBox="1"/>
          <p:nvPr/>
        </p:nvSpPr>
        <p:spPr>
          <a:xfrm>
            <a:off x="3136550" y="3145925"/>
            <a:ext cx="12531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2600"/>
              <a:buFont typeface="Arial"/>
              <a:buNone/>
            </a:pPr>
            <a:r>
              <a:rPr b="1" i="0" lang="en" sz="2400" u="none" cap="none" strike="noStrike">
                <a:solidFill>
                  <a:schemeClr val="dk2"/>
                </a:solidFill>
                <a:latin typeface="Inter"/>
                <a:ea typeface="Inter"/>
                <a:cs typeface="Inter"/>
                <a:sym typeface="Inter"/>
              </a:rPr>
              <a:t>VS</a:t>
            </a:r>
            <a:endParaRPr b="1" i="0" sz="2400" u="none" cap="none" strike="noStrike">
              <a:solidFill>
                <a:srgbClr val="000000"/>
              </a:solidFill>
              <a:latin typeface="Inter"/>
              <a:ea typeface="Inter"/>
              <a:cs typeface="Inter"/>
              <a:sym typeface="Inter"/>
            </a:endParaRPr>
          </a:p>
        </p:txBody>
      </p:sp>
      <p:sp>
        <p:nvSpPr>
          <p:cNvPr id="59" name="Google Shape;59;p14"/>
          <p:cNvSpPr txBox="1"/>
          <p:nvPr>
            <p:ph idx="1" type="body"/>
          </p:nvPr>
        </p:nvSpPr>
        <p:spPr>
          <a:xfrm>
            <a:off x="292600" y="1335025"/>
            <a:ext cx="6663300" cy="1159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a:t>We are already familiar with object-oriented programming (OOP), but Kotlin also borrows concepts from functional programming (FP). FP is a programming paradigm where programs are constructed by </a:t>
            </a:r>
            <a:r>
              <a:rPr b="1" lang="en"/>
              <a:t>applying</a:t>
            </a:r>
            <a:r>
              <a:rPr lang="en"/>
              <a:t> and </a:t>
            </a:r>
            <a:r>
              <a:rPr b="1" lang="en"/>
              <a:t>composing</a:t>
            </a:r>
            <a:r>
              <a:rPr lang="en"/>
              <a:t> </a:t>
            </a:r>
            <a:r>
              <a:rPr b="1" lang="en"/>
              <a:t>functions</a:t>
            </a:r>
            <a:r>
              <a:rPr lang="en"/>
              <a:t>.</a:t>
            </a:r>
            <a:endParaRPr/>
          </a:p>
        </p:txBody>
      </p:sp>
      <p:sp>
        <p:nvSpPr>
          <p:cNvPr id="60" name="Google Shape;60;p14"/>
          <p:cNvSpPr txBox="1"/>
          <p:nvPr>
            <p:ph idx="1" type="body"/>
          </p:nvPr>
        </p:nvSpPr>
        <p:spPr>
          <a:xfrm>
            <a:off x="292600" y="2845575"/>
            <a:ext cx="2903400" cy="1159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200"/>
              <a:buFont typeface="Arial"/>
              <a:buNone/>
            </a:pPr>
            <a:r>
              <a:rPr lang="en" sz="1100">
                <a:solidFill>
                  <a:srgbClr val="3F51B5"/>
                </a:solidFill>
                <a:latin typeface="JetBrains Mono"/>
                <a:ea typeface="JetBrains Mono"/>
                <a:cs typeface="JetBrains Mono"/>
                <a:sym typeface="JetBrains Mono"/>
              </a:rPr>
              <a:t>var</a:t>
            </a:r>
            <a:r>
              <a:rPr lang="en" sz="1100">
                <a:solidFill>
                  <a:srgbClr val="37474F"/>
                </a:solidFill>
                <a:latin typeface="JetBrains Mono"/>
                <a:ea typeface="JetBrains Mono"/>
                <a:cs typeface="JetBrains Mono"/>
                <a:sym typeface="JetBrains Mono"/>
              </a:rPr>
              <a:t> sum = 0</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200"/>
              <a:buFont typeface="Arial"/>
              <a:buNone/>
            </a:pPr>
            <a:r>
              <a:rPr lang="en" sz="1100">
                <a:solidFill>
                  <a:srgbClr val="3F51B5"/>
                </a:solidFill>
                <a:latin typeface="JetBrains Mono"/>
                <a:ea typeface="JetBrains Mono"/>
                <a:cs typeface="JetBrains Mono"/>
                <a:sym typeface="JetBrains Mono"/>
              </a:rPr>
              <a:t>for</a:t>
            </a:r>
            <a:r>
              <a:rPr lang="en" sz="1100">
                <a:solidFill>
                  <a:srgbClr val="37474F"/>
                </a:solidFill>
                <a:latin typeface="JetBrains Mono"/>
                <a:ea typeface="JetBrains Mono"/>
                <a:cs typeface="JetBrains Mono"/>
                <a:sym typeface="JetBrains Mono"/>
              </a:rPr>
              <a:t> (item in list)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200"/>
              <a:buFont typeface="Arial"/>
              <a:buNone/>
            </a:pP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if</a:t>
            </a:r>
            <a:r>
              <a:rPr lang="en" sz="1100">
                <a:solidFill>
                  <a:srgbClr val="37474F"/>
                </a:solidFill>
                <a:latin typeface="JetBrains Mono"/>
                <a:ea typeface="JetBrains Mono"/>
                <a:cs typeface="JetBrains Mono"/>
                <a:sym typeface="JetBrains Mono"/>
              </a:rPr>
              <a:t> (item &gt; 0)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200"/>
              <a:buFont typeface="Arial"/>
              <a:buNone/>
            </a:pPr>
            <a:r>
              <a:rPr lang="en" sz="1100">
                <a:solidFill>
                  <a:srgbClr val="37474F"/>
                </a:solidFill>
                <a:latin typeface="JetBrains Mono"/>
                <a:ea typeface="JetBrains Mono"/>
                <a:cs typeface="JetBrains Mono"/>
                <a:sym typeface="JetBrains Mono"/>
              </a:rPr>
              <a:t>       sum += item * item</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200"/>
              <a:buFont typeface="Arial"/>
              <a:buNone/>
            </a:pP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200"/>
              <a:buFont typeface="Arial"/>
              <a:buNone/>
            </a:pPr>
            <a:r>
              <a:rPr lang="en" sz="1100">
                <a:solidFill>
                  <a:srgbClr val="37474F"/>
                </a:solidFill>
                <a:latin typeface="JetBrains Mono"/>
                <a:ea typeface="JetBrains Mono"/>
                <a:cs typeface="JetBrains Mono"/>
                <a:sym typeface="JetBrains Mono"/>
              </a:rPr>
              <a:t>}</a:t>
            </a:r>
            <a:endParaRPr sz="1100">
              <a:highlight>
                <a:schemeClr val="lt1"/>
              </a:highlight>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latin typeface="JetBrains Mono"/>
              <a:ea typeface="JetBrains Mono"/>
              <a:cs typeface="JetBrains Mono"/>
              <a:sym typeface="JetBrains Mono"/>
            </a:endParaRPr>
          </a:p>
        </p:txBody>
      </p:sp>
      <p:sp>
        <p:nvSpPr>
          <p:cNvPr id="61" name="Google Shape;61;p14"/>
          <p:cNvSpPr txBox="1"/>
          <p:nvPr>
            <p:ph idx="1" type="body"/>
          </p:nvPr>
        </p:nvSpPr>
        <p:spPr>
          <a:xfrm>
            <a:off x="4179575" y="2845575"/>
            <a:ext cx="4448400" cy="1159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200"/>
              <a:buFont typeface="Arial"/>
              <a:buNone/>
            </a:pPr>
            <a:r>
              <a:rPr lang="en" sz="1100">
                <a:solidFill>
                  <a:srgbClr val="37474F"/>
                </a:solidFill>
                <a:latin typeface="JetBrains Mono"/>
                <a:ea typeface="JetBrains Mono"/>
                <a:cs typeface="JetBrains Mono"/>
                <a:sym typeface="JetBrains Mono"/>
              </a:rPr>
              <a:t>list.filter { it &gt; 0 }.map { it * it }.sum()</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400"/>
              </a:spcAft>
              <a:buNone/>
            </a:pPr>
            <a:r>
              <a:t/>
            </a:r>
            <a:endParaRPr sz="1100">
              <a:solidFill>
                <a:srgbClr val="3F51B5"/>
              </a:solidFill>
              <a:latin typeface="JetBrains Mono"/>
              <a:ea typeface="JetBrains Mono"/>
              <a:cs typeface="JetBrains Mono"/>
              <a:sym typeface="JetBrains Mon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Our approach</a:t>
            </a:r>
            <a:endParaRPr/>
          </a:p>
        </p:txBody>
      </p:sp>
      <p:sp>
        <p:nvSpPr>
          <p:cNvPr id="67" name="Google Shape;67;p15"/>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a:t>FP, like other concepts, has its advantages and disadvantages, but we will focus on its strengths. </a:t>
            </a:r>
            <a:endParaRPr/>
          </a:p>
          <a:p>
            <a:pPr indent="0" lvl="0" marL="0" rtl="0" algn="l">
              <a:lnSpc>
                <a:spcPct val="115000"/>
              </a:lnSpc>
              <a:spcBef>
                <a:spcPts val="600"/>
              </a:spcBef>
              <a:spcAft>
                <a:spcPts val="0"/>
              </a:spcAft>
              <a:buNone/>
            </a:pPr>
            <a:r>
              <a:t/>
            </a:r>
            <a:endParaRPr b="1"/>
          </a:p>
          <a:p>
            <a:pPr indent="0" lvl="0" marL="0" rtl="0" algn="l">
              <a:lnSpc>
                <a:spcPct val="115000"/>
              </a:lnSpc>
              <a:spcBef>
                <a:spcPts val="600"/>
              </a:spcBef>
              <a:spcAft>
                <a:spcPts val="0"/>
              </a:spcAft>
              <a:buNone/>
            </a:pPr>
            <a:r>
              <a:rPr b="1" lang="en"/>
              <a:t>Disclaimer</a:t>
            </a:r>
            <a:r>
              <a:rPr lang="en"/>
              <a:t>: There won’t be any deep math or Haskell examples in this lecture. We will look at what we consider to be the most important FP features that can be used in Kotlin</a:t>
            </a:r>
            <a:endParaRPr/>
          </a:p>
          <a:p>
            <a:pPr indent="0" lvl="0" marL="0" rtl="0" algn="l">
              <a:lnSpc>
                <a:spcPct val="115000"/>
              </a:lnSpc>
              <a:spcBef>
                <a:spcPts val="600"/>
              </a:spcBef>
              <a:spcAft>
                <a:spcPts val="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We already know that…</a:t>
            </a:r>
            <a:endParaRPr/>
          </a:p>
        </p:txBody>
      </p:sp>
      <p:sp>
        <p:nvSpPr>
          <p:cNvPr id="73" name="Google Shape;73;p16"/>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317500" lvl="0" marL="457200" rtl="0" algn="l">
              <a:lnSpc>
                <a:spcPct val="150000"/>
              </a:lnSpc>
              <a:spcBef>
                <a:spcPts val="0"/>
              </a:spcBef>
              <a:spcAft>
                <a:spcPts val="0"/>
              </a:spcAft>
              <a:buSzPts val="1400"/>
              <a:buChar char="●"/>
            </a:pPr>
            <a:r>
              <a:rPr lang="en" sz="1400">
                <a:latin typeface="Open Sans"/>
                <a:ea typeface="Open Sans"/>
                <a:cs typeface="Open Sans"/>
                <a:sym typeface="Open Sans"/>
              </a:rPr>
              <a:t>In Kotlin you can pass functions as the arguments of </a:t>
            </a:r>
            <a:r>
              <a:rPr lang="en" sz="1400">
                <a:latin typeface="Open Sans"/>
                <a:ea typeface="Open Sans"/>
                <a:cs typeface="Open Sans"/>
                <a:sym typeface="Open Sans"/>
              </a:rPr>
              <a:t>other functions</a:t>
            </a:r>
            <a:r>
              <a:rPr lang="en" sz="1400">
                <a:latin typeface="Open Sans"/>
                <a:ea typeface="Open Sans"/>
                <a:cs typeface="Open Sans"/>
                <a:sym typeface="Open Sans"/>
              </a:rPr>
              <a:t>:</a:t>
            </a:r>
            <a:br>
              <a:rPr lang="en" sz="1400">
                <a:latin typeface="Open Sans"/>
                <a:ea typeface="Open Sans"/>
                <a:cs typeface="Open Sans"/>
                <a:sym typeface="Open Sans"/>
              </a:rPr>
            </a:br>
            <a:r>
              <a:rPr lang="en" sz="1100">
                <a:solidFill>
                  <a:srgbClr val="3F51B5"/>
                </a:solidFill>
              </a:rPr>
              <a:t>fun</a:t>
            </a:r>
            <a:r>
              <a:rPr lang="en" sz="1100">
                <a:solidFill>
                  <a:srgbClr val="37474F"/>
                </a:solidFill>
              </a:rPr>
              <a:t> foo(bar: () -&gt; Unit): Unit { ... }</a:t>
            </a:r>
            <a:endParaRPr sz="1100">
              <a:solidFill>
                <a:srgbClr val="37474F"/>
              </a:solidFill>
            </a:endParaRPr>
          </a:p>
          <a:p>
            <a:pPr indent="-317500" lvl="0" marL="457200" rtl="0" algn="l">
              <a:lnSpc>
                <a:spcPct val="150000"/>
              </a:lnSpc>
              <a:spcBef>
                <a:spcPts val="1000"/>
              </a:spcBef>
              <a:spcAft>
                <a:spcPts val="0"/>
              </a:spcAft>
              <a:buSzPts val="1400"/>
              <a:buChar char="●"/>
            </a:pPr>
            <a:r>
              <a:rPr lang="en" sz="1400">
                <a:latin typeface="Open Sans"/>
                <a:ea typeface="Open Sans"/>
                <a:cs typeface="Open Sans"/>
                <a:sym typeface="Open Sans"/>
              </a:rPr>
              <a:t>If a function’s last argument is a function, then it can be put outside the parentheses:</a:t>
            </a:r>
            <a:br>
              <a:rPr lang="en" sz="1400">
                <a:latin typeface="Open Sans"/>
                <a:ea typeface="Open Sans"/>
                <a:cs typeface="Open Sans"/>
                <a:sym typeface="Open Sans"/>
              </a:rPr>
            </a:br>
            <a:r>
              <a:rPr lang="en" sz="1100">
                <a:solidFill>
                  <a:srgbClr val="3F51B5"/>
                </a:solidFill>
              </a:rPr>
              <a:t>fun</a:t>
            </a:r>
            <a:r>
              <a:rPr lang="en" sz="1100">
                <a:solidFill>
                  <a:srgbClr val="37474F"/>
                </a:solidFill>
              </a:rPr>
              <a:t> baz(start: Int, end: Int, step: (Int) -&gt; Unit): Unit { ... }</a:t>
            </a:r>
            <a:br>
              <a:rPr lang="en" sz="1100">
                <a:solidFill>
                  <a:srgbClr val="37474F"/>
                </a:solidFill>
              </a:rPr>
            </a:br>
            <a:r>
              <a:rPr lang="en" sz="1100">
                <a:solidFill>
                  <a:srgbClr val="37474F"/>
                </a:solidFill>
              </a:rPr>
              <a:t>baz(23, 42) { println(</a:t>
            </a:r>
            <a:r>
              <a:rPr lang="en" sz="1100">
                <a:solidFill>
                  <a:srgbClr val="008000"/>
                </a:solidFill>
              </a:rPr>
              <a:t>"Magnificent!"</a:t>
            </a:r>
            <a:r>
              <a:rPr lang="en" sz="1100">
                <a:solidFill>
                  <a:srgbClr val="37474F"/>
                </a:solidFill>
              </a:rPr>
              <a:t>) }</a:t>
            </a:r>
            <a:endParaRPr sz="1100">
              <a:latin typeface="Open Sans"/>
              <a:ea typeface="Open Sans"/>
              <a:cs typeface="Open Sans"/>
              <a:sym typeface="Open Sans"/>
            </a:endParaRPr>
          </a:p>
          <a:p>
            <a:pPr indent="-317500" lvl="0" marL="457200" rtl="0" algn="l">
              <a:lnSpc>
                <a:spcPct val="150000"/>
              </a:lnSpc>
              <a:spcBef>
                <a:spcPts val="1000"/>
              </a:spcBef>
              <a:spcAft>
                <a:spcPts val="1000"/>
              </a:spcAft>
              <a:buSzPts val="1400"/>
              <a:buChar char="●"/>
            </a:pPr>
            <a:r>
              <a:rPr lang="en" sz="1400">
                <a:latin typeface="Open Sans"/>
                <a:ea typeface="Open Sans"/>
                <a:cs typeface="Open Sans"/>
                <a:sym typeface="Open Sans"/>
              </a:rPr>
              <a:t>If a function’s only argument is a function, then parentheses can be omitted altogether:</a:t>
            </a:r>
            <a:br>
              <a:rPr lang="en" sz="1400">
                <a:latin typeface="Open Sans"/>
                <a:ea typeface="Open Sans"/>
                <a:cs typeface="Open Sans"/>
                <a:sym typeface="Open Sans"/>
              </a:rPr>
            </a:br>
            <a:r>
              <a:rPr lang="en" sz="1100">
                <a:solidFill>
                  <a:srgbClr val="37474F"/>
                </a:solidFill>
              </a:rPr>
              <a:t>foo { println(</a:t>
            </a:r>
            <a:r>
              <a:rPr lang="en" sz="1100">
                <a:solidFill>
                  <a:srgbClr val="008000"/>
                </a:solidFill>
              </a:rPr>
              <a:t>"Kotlin keeps on giving!"</a:t>
            </a:r>
            <a:r>
              <a:rPr lang="en" sz="1100">
                <a:solidFill>
                  <a:srgbClr val="37474F"/>
                </a:solidFill>
              </a:rPr>
              <a:t>) }</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311150" lvl="0" marL="457200" rtl="0" algn="l">
              <a:lnSpc>
                <a:spcPct val="115000"/>
              </a:lnSpc>
              <a:spcBef>
                <a:spcPts val="0"/>
              </a:spcBef>
              <a:spcAft>
                <a:spcPts val="0"/>
              </a:spcAft>
              <a:buSzPts val="1300"/>
              <a:buChar char="●"/>
            </a:pPr>
            <a:r>
              <a:rPr lang="en" sz="1300">
                <a:latin typeface="Open Sans"/>
                <a:ea typeface="Open Sans"/>
                <a:cs typeface="Open Sans"/>
                <a:sym typeface="Open Sans"/>
              </a:rPr>
              <a:t>Lambdas can be assigned to </a:t>
            </a:r>
            <a:r>
              <a:rPr lang="en" sz="1300">
                <a:solidFill>
                  <a:srgbClr val="3F51B5"/>
                </a:solidFill>
              </a:rPr>
              <a:t>val</a:t>
            </a:r>
            <a:r>
              <a:rPr lang="en" sz="1300">
                <a:latin typeface="Open Sans"/>
                <a:ea typeface="Open Sans"/>
                <a:cs typeface="Open Sans"/>
                <a:sym typeface="Open Sans"/>
              </a:rPr>
              <a:t>s and reassigned in </a:t>
            </a:r>
            <a:r>
              <a:rPr lang="en" sz="1300">
                <a:solidFill>
                  <a:srgbClr val="3F51B5"/>
                </a:solidFill>
              </a:rPr>
              <a:t>var</a:t>
            </a:r>
            <a:r>
              <a:rPr lang="en" sz="1300">
                <a:latin typeface="Open Sans"/>
                <a:ea typeface="Open Sans"/>
                <a:cs typeface="Open Sans"/>
                <a:sym typeface="Open Sans"/>
              </a:rPr>
              <a:t>s:</a:t>
            </a:r>
            <a:endParaRPr sz="1300">
              <a:latin typeface="Open Sans"/>
              <a:ea typeface="Open Sans"/>
              <a:cs typeface="Open Sans"/>
              <a:sym typeface="Open Sans"/>
            </a:endParaRPr>
          </a:p>
          <a:p>
            <a:pPr indent="0" lvl="0" marL="457200" rtl="0" algn="l">
              <a:lnSpc>
                <a:spcPct val="115000"/>
              </a:lnSpc>
              <a:spcBef>
                <a:spcPts val="600"/>
              </a:spcBef>
              <a:spcAft>
                <a:spcPts val="0"/>
              </a:spcAft>
              <a:buNone/>
            </a:pPr>
            <a:r>
              <a:rPr lang="en" sz="1000">
                <a:solidFill>
                  <a:srgbClr val="3F51B5"/>
                </a:solidFill>
              </a:rPr>
              <a:t>var</a:t>
            </a:r>
            <a:r>
              <a:rPr lang="en" sz="1000">
                <a:solidFill>
                  <a:srgbClr val="37474F"/>
                </a:solidFill>
              </a:rPr>
              <a:t> lambda1: (Int) -&gt; Double = { r -&gt; r * 6.28 }</a:t>
            </a:r>
            <a:endParaRPr sz="1000">
              <a:solidFill>
                <a:srgbClr val="37474F"/>
              </a:solidFill>
            </a:endParaRPr>
          </a:p>
          <a:p>
            <a:pPr indent="0" lvl="0" marL="457200" rtl="0" algn="l">
              <a:lnSpc>
                <a:spcPct val="115000"/>
              </a:lnSpc>
              <a:spcBef>
                <a:spcPts val="600"/>
              </a:spcBef>
              <a:spcAft>
                <a:spcPts val="0"/>
              </a:spcAft>
              <a:buNone/>
            </a:pPr>
            <a:r>
              <a:rPr lang="en" sz="1000">
                <a:solidFill>
                  <a:srgbClr val="3F51B5"/>
                </a:solidFill>
              </a:rPr>
              <a:t>val</a:t>
            </a:r>
            <a:r>
              <a:rPr lang="en" sz="1000">
                <a:solidFill>
                  <a:srgbClr val="37474F"/>
                </a:solidFill>
              </a:rPr>
              <a:t> lambda2 = { d: Int -&gt; 3.14 * d.toDouble().pow(2) }</a:t>
            </a:r>
            <a:endParaRPr sz="1000">
              <a:solidFill>
                <a:srgbClr val="37474F"/>
              </a:solidFill>
            </a:endParaRPr>
          </a:p>
          <a:p>
            <a:pPr indent="0" lvl="0" marL="457200" rtl="0" algn="l">
              <a:lnSpc>
                <a:spcPct val="115000"/>
              </a:lnSpc>
              <a:spcBef>
                <a:spcPts val="600"/>
              </a:spcBef>
              <a:spcAft>
                <a:spcPts val="0"/>
              </a:spcAft>
              <a:buNone/>
            </a:pPr>
            <a:r>
              <a:rPr lang="en" sz="1000">
                <a:solidFill>
                  <a:srgbClr val="37474F"/>
                </a:solidFill>
              </a:rPr>
              <a:t>lambda1 = lambda2</a:t>
            </a:r>
            <a:br>
              <a:rPr lang="en" sz="1000">
                <a:solidFill>
                  <a:srgbClr val="37474F"/>
                </a:solidFill>
              </a:rPr>
            </a:br>
            <a:endParaRPr sz="1000">
              <a:solidFill>
                <a:srgbClr val="37474F"/>
              </a:solidFill>
            </a:endParaRPr>
          </a:p>
          <a:p>
            <a:pPr indent="-311150" lvl="0" marL="457200" rtl="0" algn="l">
              <a:spcBef>
                <a:spcPts val="600"/>
              </a:spcBef>
              <a:spcAft>
                <a:spcPts val="0"/>
              </a:spcAft>
              <a:buSzPts val="1300"/>
              <a:buChar char="●"/>
            </a:pPr>
            <a:r>
              <a:rPr lang="en" sz="1300">
                <a:latin typeface="Open Sans"/>
                <a:ea typeface="Open Sans"/>
                <a:cs typeface="Open Sans"/>
                <a:sym typeface="Open Sans"/>
              </a:rPr>
              <a:t>Lambda expressions can be replaced with function syntax: </a:t>
            </a:r>
            <a:endParaRPr sz="1000">
              <a:solidFill>
                <a:srgbClr val="37474F"/>
              </a:solidFill>
            </a:endParaRPr>
          </a:p>
          <a:p>
            <a:pPr indent="457200" lvl="0" marL="0" rtl="0" algn="l">
              <a:lnSpc>
                <a:spcPct val="150000"/>
              </a:lnSpc>
              <a:spcBef>
                <a:spcPts val="1000"/>
              </a:spcBef>
              <a:spcAft>
                <a:spcPts val="0"/>
              </a:spcAft>
              <a:buClr>
                <a:schemeClr val="dk1"/>
              </a:buClr>
              <a:buSzPts val="1100"/>
              <a:buFont typeface="Arial"/>
              <a:buNone/>
            </a:pPr>
            <a:r>
              <a:rPr lang="en" sz="1000">
                <a:solidFill>
                  <a:srgbClr val="3F51B5"/>
                </a:solidFill>
              </a:rPr>
              <a:t>val</a:t>
            </a:r>
            <a:r>
              <a:rPr lang="en" sz="1000">
                <a:solidFill>
                  <a:srgbClr val="37474F"/>
                </a:solidFill>
              </a:rPr>
              <a:t> sum = </a:t>
            </a:r>
            <a:r>
              <a:rPr lang="en" sz="1000">
                <a:solidFill>
                  <a:srgbClr val="3F51B5"/>
                </a:solidFill>
              </a:rPr>
              <a:t>fun</a:t>
            </a:r>
            <a:r>
              <a:rPr lang="en" sz="1000">
                <a:solidFill>
                  <a:srgbClr val="37474F"/>
                </a:solidFill>
              </a:rPr>
              <a:t>(a: Int, b: Int): Int = a + b</a:t>
            </a:r>
            <a:br>
              <a:rPr lang="en" sz="1000">
                <a:solidFill>
                  <a:srgbClr val="080808"/>
                </a:solidFill>
                <a:highlight>
                  <a:schemeClr val="lt1"/>
                </a:highlight>
              </a:rPr>
            </a:br>
            <a:r>
              <a:rPr lang="en" sz="1000">
                <a:solidFill>
                  <a:srgbClr val="080808"/>
                </a:solidFill>
                <a:highlight>
                  <a:schemeClr val="lt1"/>
                </a:highlight>
              </a:rPr>
              <a:t>	</a:t>
            </a:r>
            <a:r>
              <a:rPr lang="en" sz="1000">
                <a:solidFill>
                  <a:srgbClr val="3F51B5"/>
                </a:solidFill>
              </a:rPr>
              <a:t>val</a:t>
            </a:r>
            <a:r>
              <a:rPr lang="en" sz="1000">
                <a:solidFill>
                  <a:srgbClr val="0033B3"/>
                </a:solidFill>
                <a:highlight>
                  <a:schemeClr val="lt1"/>
                </a:highlight>
              </a:rPr>
              <a:t> </a:t>
            </a:r>
            <a:r>
              <a:rPr lang="en" sz="1000">
                <a:solidFill>
                  <a:srgbClr val="37474F"/>
                </a:solidFill>
              </a:rPr>
              <a:t>sum2 = { a:Int, b: Int -&gt; a + b }</a:t>
            </a:r>
            <a:endParaRPr b="1" sz="1000">
              <a:solidFill>
                <a:srgbClr val="080808"/>
              </a:solidFill>
              <a:highlight>
                <a:schemeClr val="lt1"/>
              </a:highlight>
            </a:endParaRPr>
          </a:p>
          <a:p>
            <a:pPr indent="-311150" lvl="0" marL="457200" rtl="0" algn="l">
              <a:lnSpc>
                <a:spcPct val="115000"/>
              </a:lnSpc>
              <a:spcBef>
                <a:spcPts val="1000"/>
              </a:spcBef>
              <a:spcAft>
                <a:spcPts val="0"/>
              </a:spcAft>
              <a:buSzPts val="1300"/>
              <a:buFont typeface="Open Sans"/>
              <a:buChar char="●"/>
            </a:pPr>
            <a:r>
              <a:rPr lang="en" sz="1300">
                <a:latin typeface="Open Sans"/>
                <a:ea typeface="Open Sans"/>
                <a:cs typeface="Open Sans"/>
                <a:sym typeface="Open Sans"/>
              </a:rPr>
              <a:t>Declaring functions inside functions is allowed:</a:t>
            </a:r>
            <a:endParaRPr sz="1300">
              <a:latin typeface="Open Sans"/>
              <a:ea typeface="Open Sans"/>
              <a:cs typeface="Open Sans"/>
              <a:sym typeface="Open Sans"/>
            </a:endParaRPr>
          </a:p>
          <a:p>
            <a:pPr indent="0" lvl="0" marL="457200" rtl="0" algn="l">
              <a:lnSpc>
                <a:spcPct val="115000"/>
              </a:lnSpc>
              <a:spcBef>
                <a:spcPts val="600"/>
              </a:spcBef>
              <a:spcAft>
                <a:spcPts val="0"/>
              </a:spcAft>
              <a:buNone/>
            </a:pPr>
            <a:r>
              <a:rPr lang="en" sz="1000">
                <a:solidFill>
                  <a:srgbClr val="3F51B5"/>
                </a:solidFill>
              </a:rPr>
              <a:t>fun</a:t>
            </a:r>
            <a:r>
              <a:rPr lang="en" sz="1000">
                <a:solidFill>
                  <a:srgbClr val="37474F"/>
                </a:solidFill>
              </a:rPr>
              <a:t> global() {</a:t>
            </a:r>
            <a:br>
              <a:rPr lang="en" sz="1000">
                <a:solidFill>
                  <a:srgbClr val="37474F"/>
                </a:solidFill>
              </a:rPr>
            </a:br>
            <a:r>
              <a:rPr lang="en" sz="1000">
                <a:solidFill>
                  <a:srgbClr val="37474F"/>
                </a:solidFill>
              </a:rPr>
              <a:t>	</a:t>
            </a:r>
            <a:r>
              <a:rPr lang="en" sz="1000">
                <a:solidFill>
                  <a:srgbClr val="3F51B5"/>
                </a:solidFill>
              </a:rPr>
              <a:t>fun</a:t>
            </a:r>
            <a:r>
              <a:rPr lang="en" sz="1000">
                <a:solidFill>
                  <a:srgbClr val="37474F"/>
                </a:solidFill>
              </a:rPr>
              <a:t> local() { ... }</a:t>
            </a:r>
            <a:endParaRPr sz="1000">
              <a:solidFill>
                <a:srgbClr val="37474F"/>
              </a:solidFill>
            </a:endParaRPr>
          </a:p>
          <a:p>
            <a:pPr indent="0" lvl="0" marL="457200" rtl="0" algn="l">
              <a:lnSpc>
                <a:spcPct val="115000"/>
              </a:lnSpc>
              <a:spcBef>
                <a:spcPts val="600"/>
              </a:spcBef>
              <a:spcAft>
                <a:spcPts val="0"/>
              </a:spcAft>
              <a:buNone/>
            </a:pPr>
            <a:r>
              <a:rPr lang="en" sz="1000">
                <a:solidFill>
                  <a:srgbClr val="37474F"/>
                </a:solidFill>
              </a:rPr>
              <a:t>...</a:t>
            </a:r>
            <a:br>
              <a:rPr lang="en" sz="1000">
                <a:solidFill>
                  <a:srgbClr val="37474F"/>
                </a:solidFill>
              </a:rPr>
            </a:br>
            <a:r>
              <a:rPr lang="en" sz="1000">
                <a:solidFill>
                  <a:srgbClr val="37474F"/>
                </a:solidFill>
              </a:rPr>
              <a:t>	local()</a:t>
            </a:r>
            <a:endParaRPr sz="1000">
              <a:solidFill>
                <a:srgbClr val="37474F"/>
              </a:solidFill>
            </a:endParaRPr>
          </a:p>
          <a:p>
            <a:pPr indent="0" lvl="0" marL="457200" rtl="0" algn="l">
              <a:lnSpc>
                <a:spcPct val="115000"/>
              </a:lnSpc>
              <a:spcBef>
                <a:spcPts val="600"/>
              </a:spcBef>
              <a:spcAft>
                <a:spcPts val="0"/>
              </a:spcAft>
              <a:buNone/>
            </a:pPr>
            <a:r>
              <a:rPr lang="en" sz="1000">
                <a:solidFill>
                  <a:srgbClr val="37474F"/>
                </a:solidFill>
              </a:rPr>
              <a:t>...</a:t>
            </a:r>
            <a:br>
              <a:rPr lang="en" sz="1000">
                <a:solidFill>
                  <a:srgbClr val="37474F"/>
                </a:solidFill>
              </a:rPr>
            </a:br>
            <a:r>
              <a:rPr lang="en" sz="1000">
                <a:solidFill>
                  <a:srgbClr val="37474F"/>
                </a:solidFill>
              </a:rPr>
              <a:t>}</a:t>
            </a:r>
            <a:endParaRPr sz="700"/>
          </a:p>
          <a:p>
            <a:pPr indent="0" lvl="0" marL="457200" rtl="0" algn="l">
              <a:lnSpc>
                <a:spcPct val="115000"/>
              </a:lnSpc>
              <a:spcBef>
                <a:spcPts val="600"/>
              </a:spcBef>
              <a:spcAft>
                <a:spcPts val="600"/>
              </a:spcAft>
              <a:buNone/>
            </a:pPr>
            <a:r>
              <a:t/>
            </a:r>
            <a:endParaRPr sz="1300">
              <a:latin typeface="Open Sans"/>
              <a:ea typeface="Open Sans"/>
              <a:cs typeface="Open Sans"/>
              <a:sym typeface="Open Sans"/>
            </a:endParaRPr>
          </a:p>
        </p:txBody>
      </p:sp>
      <p:sp>
        <p:nvSpPr>
          <p:cNvPr id="79" name="Google Shape;79;p17"/>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We already know that…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a:t>
            </a:r>
            <a:r>
              <a:rPr lang="en"/>
              <a:t>order functions (HOFs)</a:t>
            </a:r>
            <a:endParaRPr/>
          </a:p>
        </p:txBody>
      </p:sp>
      <p:sp>
        <p:nvSpPr>
          <p:cNvPr id="85" name="Google Shape;85;p18"/>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400">
                <a:latin typeface="Open Sans"/>
                <a:ea typeface="Open Sans"/>
                <a:cs typeface="Open Sans"/>
                <a:sym typeface="Open Sans"/>
              </a:rPr>
              <a:t>Functions that take other functions as </a:t>
            </a:r>
            <a:r>
              <a:rPr b="1" lang="en" sz="1400">
                <a:latin typeface="Open Sans"/>
                <a:ea typeface="Open Sans"/>
                <a:cs typeface="Open Sans"/>
                <a:sym typeface="Open Sans"/>
              </a:rPr>
              <a:t>arguments</a:t>
            </a:r>
            <a:r>
              <a:rPr lang="en" sz="1400">
                <a:latin typeface="Open Sans"/>
                <a:ea typeface="Open Sans"/>
                <a:cs typeface="Open Sans"/>
                <a:sym typeface="Open Sans"/>
              </a:rPr>
              <a:t> are called higher order functions. </a:t>
            </a:r>
            <a:endParaRPr sz="1400">
              <a:latin typeface="Open Sans"/>
              <a:ea typeface="Open Sans"/>
              <a:cs typeface="Open Sans"/>
              <a:sym typeface="Open Sans"/>
            </a:endParaRPr>
          </a:p>
          <a:p>
            <a:pPr indent="0" lvl="0" marL="0" rtl="0" algn="l">
              <a:lnSpc>
                <a:spcPct val="115000"/>
              </a:lnSpc>
              <a:spcBef>
                <a:spcPts val="600"/>
              </a:spcBef>
              <a:spcAft>
                <a:spcPts val="0"/>
              </a:spcAft>
              <a:buClr>
                <a:schemeClr val="dk1"/>
              </a:buClr>
              <a:buSzPts val="1800"/>
              <a:buFont typeface="Arial"/>
              <a:buNone/>
            </a:pPr>
            <a:r>
              <a:t/>
            </a:r>
            <a:endParaRPr sz="1400">
              <a:latin typeface="Open Sans"/>
              <a:ea typeface="Open Sans"/>
              <a:cs typeface="Open Sans"/>
              <a:sym typeface="Open Sans"/>
            </a:endParaRPr>
          </a:p>
          <a:p>
            <a:pPr indent="0" lvl="0" marL="0" rtl="0" algn="l">
              <a:lnSpc>
                <a:spcPct val="115000"/>
              </a:lnSpc>
              <a:spcBef>
                <a:spcPts val="600"/>
              </a:spcBef>
              <a:spcAft>
                <a:spcPts val="0"/>
              </a:spcAft>
              <a:buClr>
                <a:schemeClr val="dk1"/>
              </a:buClr>
              <a:buSzPts val="1800"/>
              <a:buFont typeface="Arial"/>
              <a:buNone/>
            </a:pPr>
            <a:r>
              <a:rPr lang="en" sz="1400">
                <a:latin typeface="Open Sans"/>
                <a:ea typeface="Open Sans"/>
                <a:cs typeface="Open Sans"/>
                <a:sym typeface="Open Sans"/>
              </a:rPr>
              <a:t>In Kotlin you frequently encounter them when working with collections:</a:t>
            </a:r>
            <a:endParaRPr sz="1400">
              <a:latin typeface="Open Sans"/>
              <a:ea typeface="Open Sans"/>
              <a:cs typeface="Open Sans"/>
              <a:sym typeface="Open Sans"/>
            </a:endParaRPr>
          </a:p>
          <a:p>
            <a:pPr indent="0" lvl="0" marL="0" rtl="0" algn="l">
              <a:lnSpc>
                <a:spcPct val="115000"/>
              </a:lnSpc>
              <a:spcBef>
                <a:spcPts val="600"/>
              </a:spcBef>
              <a:spcAft>
                <a:spcPts val="0"/>
              </a:spcAft>
              <a:buClr>
                <a:schemeClr val="dk1"/>
              </a:buClr>
              <a:buSzPts val="1800"/>
              <a:buFont typeface="Arial"/>
              <a:buNone/>
            </a:pPr>
            <a:r>
              <a:rPr lang="en" sz="1200">
                <a:solidFill>
                  <a:srgbClr val="37474F"/>
                </a:solidFill>
              </a:rPr>
              <a:t>list.partition { it % 2 == 0 }  </a:t>
            </a:r>
            <a:r>
              <a:rPr b="1" lang="en" sz="1200">
                <a:solidFill>
                  <a:srgbClr val="37474F"/>
                </a:solidFill>
              </a:rPr>
              <a:t>OR </a:t>
            </a:r>
            <a:r>
              <a:rPr lang="en" sz="1200">
                <a:solidFill>
                  <a:srgbClr val="37474F"/>
                </a:solidFill>
              </a:rPr>
              <a:t> list.partition { x -&gt; x % 2 == 0 }</a:t>
            </a:r>
            <a:endParaRPr sz="1200">
              <a:solidFill>
                <a:srgbClr val="37474F"/>
              </a:solidFill>
            </a:endParaRPr>
          </a:p>
          <a:p>
            <a:pPr indent="0" lvl="0" marL="0" rtl="0" algn="l">
              <a:lnSpc>
                <a:spcPct val="115000"/>
              </a:lnSpc>
              <a:spcBef>
                <a:spcPts val="600"/>
              </a:spcBef>
              <a:spcAft>
                <a:spcPts val="0"/>
              </a:spcAft>
              <a:buClr>
                <a:schemeClr val="dk1"/>
              </a:buClr>
              <a:buSzPts val="1800"/>
              <a:buFont typeface="Arial"/>
              <a:buNone/>
            </a:pPr>
            <a:r>
              <a:t/>
            </a:r>
            <a:endParaRPr sz="1200">
              <a:solidFill>
                <a:srgbClr val="37474F"/>
              </a:solidFill>
            </a:endParaRPr>
          </a:p>
          <a:p>
            <a:pPr indent="0" lvl="0" marL="0" rtl="0" algn="l">
              <a:lnSpc>
                <a:spcPct val="115000"/>
              </a:lnSpc>
              <a:spcBef>
                <a:spcPts val="600"/>
              </a:spcBef>
              <a:spcAft>
                <a:spcPts val="0"/>
              </a:spcAft>
              <a:buClr>
                <a:schemeClr val="dk1"/>
              </a:buClr>
              <a:buSzPts val="1100"/>
              <a:buFont typeface="Arial"/>
              <a:buNone/>
            </a:pPr>
            <a:r>
              <a:rPr lang="en" sz="1400">
                <a:latin typeface="Open Sans"/>
                <a:ea typeface="Open Sans"/>
                <a:cs typeface="Open Sans"/>
                <a:sym typeface="Open Sans"/>
              </a:rPr>
              <a:t>E</a:t>
            </a:r>
            <a:r>
              <a:rPr lang="en" sz="1400">
                <a:latin typeface="Open Sans"/>
                <a:ea typeface="Open Sans"/>
                <a:cs typeface="Open Sans"/>
                <a:sym typeface="Open Sans"/>
              </a:rPr>
              <a:t>verything Kotlin allows you do with functions, which means that “functions in Kotlin are first-class citizens.”</a:t>
            </a:r>
            <a:endParaRPr sz="1400">
              <a:latin typeface="Open Sans"/>
              <a:ea typeface="Open Sans"/>
              <a:cs typeface="Open Sans"/>
              <a:sym typeface="Open Sans"/>
            </a:endParaRPr>
          </a:p>
          <a:p>
            <a:pPr indent="0" lvl="0" marL="0" rtl="0" algn="l">
              <a:lnSpc>
                <a:spcPct val="115000"/>
              </a:lnSpc>
              <a:spcBef>
                <a:spcPts val="600"/>
              </a:spcBef>
              <a:spcAft>
                <a:spcPts val="6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400">
                <a:latin typeface="Open Sans"/>
                <a:ea typeface="Open Sans"/>
                <a:cs typeface="Open Sans"/>
                <a:sym typeface="Open Sans"/>
              </a:rPr>
              <a:t>In functional programming, functions are designed to be pure. In simple terms, this means they cannot have a state. Loops have an iterator index, which is a state, so say goodbye to </a:t>
            </a:r>
            <a:r>
              <a:rPr i="1" lang="en" sz="1400">
                <a:latin typeface="Open Sans"/>
                <a:ea typeface="Open Sans"/>
                <a:cs typeface="Open Sans"/>
                <a:sym typeface="Open Sans"/>
              </a:rPr>
              <a:t>conventional</a:t>
            </a:r>
            <a:r>
              <a:rPr lang="en" sz="1400">
                <a:latin typeface="Open Sans"/>
                <a:ea typeface="Open Sans"/>
                <a:cs typeface="Open Sans"/>
                <a:sym typeface="Open Sans"/>
              </a:rPr>
              <a:t> loops.</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br>
              <a:rPr lang="en" sz="1100">
                <a:solidFill>
                  <a:srgbClr val="3F51B5"/>
                </a:solidFill>
              </a:rPr>
            </a:br>
            <a:r>
              <a:rPr lang="en" sz="1100">
                <a:solidFill>
                  <a:srgbClr val="3F51B5"/>
                </a:solidFill>
              </a:rPr>
              <a:t>fun</a:t>
            </a:r>
            <a:r>
              <a:rPr lang="en" sz="1100">
                <a:solidFill>
                  <a:srgbClr val="37474F"/>
                </a:solidFill>
              </a:rPr>
              <a:t> sumIter(term: (Double) -&gt; Double, a: Double, next: (Double) -&gt; Double, b: Double): Double {</a:t>
            </a:r>
            <a:endParaRPr sz="11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1100">
                <a:solidFill>
                  <a:srgbClr val="37474F"/>
                </a:solidFill>
              </a:rPr>
              <a:t>   </a:t>
            </a:r>
            <a:r>
              <a:rPr lang="en" sz="1100">
                <a:solidFill>
                  <a:srgbClr val="3F51B5"/>
                </a:solidFill>
              </a:rPr>
              <a:t>fun</a:t>
            </a:r>
            <a:r>
              <a:rPr lang="en" sz="1100">
                <a:solidFill>
                  <a:srgbClr val="37474F"/>
                </a:solidFill>
              </a:rPr>
              <a:t> iter(a: Double, acc: Double): Double = </a:t>
            </a:r>
            <a:r>
              <a:rPr lang="en" sz="1100">
                <a:solidFill>
                  <a:srgbClr val="3F51B5"/>
                </a:solidFill>
              </a:rPr>
              <a:t>if</a:t>
            </a:r>
            <a:r>
              <a:rPr lang="en" sz="1100">
                <a:solidFill>
                  <a:srgbClr val="37474F"/>
                </a:solidFill>
              </a:rPr>
              <a:t> (a &gt; b) acc </a:t>
            </a:r>
            <a:r>
              <a:rPr lang="en" sz="1100">
                <a:solidFill>
                  <a:srgbClr val="3F51B5"/>
                </a:solidFill>
              </a:rPr>
              <a:t>else</a:t>
            </a:r>
            <a:r>
              <a:rPr lang="en" sz="1100">
                <a:solidFill>
                  <a:srgbClr val="37474F"/>
                </a:solidFill>
              </a:rPr>
              <a:t> iter(next(a), acc + term(a))</a:t>
            </a:r>
            <a:endParaRPr sz="11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1100">
                <a:solidFill>
                  <a:srgbClr val="37474F"/>
                </a:solidFill>
              </a:rPr>
              <a:t>   </a:t>
            </a:r>
            <a:r>
              <a:rPr lang="en" sz="1100">
                <a:solidFill>
                  <a:srgbClr val="3F51B5"/>
                </a:solidFill>
              </a:rPr>
              <a:t>return</a:t>
            </a:r>
            <a:r>
              <a:rPr lang="en" sz="1100">
                <a:solidFill>
                  <a:srgbClr val="37474F"/>
                </a:solidFill>
              </a:rPr>
              <a:t> iter(a, 0.0)</a:t>
            </a:r>
            <a:endParaRPr sz="11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20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1100">
                <a:solidFill>
                  <a:srgbClr val="3F51B5"/>
                </a:solidFill>
              </a:rPr>
              <a:t>fun</a:t>
            </a:r>
            <a:r>
              <a:rPr lang="en" sz="1100">
                <a:solidFill>
                  <a:srgbClr val="37474F"/>
                </a:solidFill>
              </a:rPr>
              <a:t> integral(f: (Double) -&gt; Double, a: Double, b: Double, dx: Double): Double {</a:t>
            </a:r>
            <a:endParaRPr sz="11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1100">
                <a:solidFill>
                  <a:srgbClr val="37474F"/>
                </a:solidFill>
              </a:rPr>
              <a:t>   </a:t>
            </a:r>
            <a:r>
              <a:rPr lang="en" sz="1100">
                <a:solidFill>
                  <a:srgbClr val="3F51B5"/>
                </a:solidFill>
              </a:rPr>
              <a:t>fun</a:t>
            </a:r>
            <a:r>
              <a:rPr lang="en" sz="1100">
                <a:solidFill>
                  <a:srgbClr val="37474F"/>
                </a:solidFill>
              </a:rPr>
              <a:t> addDx(x: Double) = x + dx</a:t>
            </a:r>
            <a:endParaRPr sz="11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1100">
                <a:solidFill>
                  <a:srgbClr val="37474F"/>
                </a:solidFill>
              </a:rPr>
              <a:t>   </a:t>
            </a:r>
            <a:r>
              <a:rPr lang="en" sz="1100">
                <a:solidFill>
                  <a:srgbClr val="3F51B5"/>
                </a:solidFill>
              </a:rPr>
              <a:t>return</a:t>
            </a:r>
            <a:r>
              <a:rPr lang="en" sz="1100">
                <a:solidFill>
                  <a:srgbClr val="37474F"/>
                </a:solidFill>
              </a:rPr>
              <a:t> dx * sumIter(f, (a + (dx / 2.0)), ::addDx, b)</a:t>
            </a:r>
            <a:endParaRPr sz="11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200"/>
              </a:spcBef>
              <a:spcAft>
                <a:spcPts val="0"/>
              </a:spcAft>
              <a:buClr>
                <a:schemeClr val="dk1"/>
              </a:buClr>
              <a:buSzPts val="1100"/>
              <a:buFont typeface="Arial"/>
              <a:buNone/>
            </a:pPr>
            <a:r>
              <a:t/>
            </a:r>
            <a:endParaRPr sz="1100">
              <a:latin typeface="Open Sans"/>
              <a:ea typeface="Open Sans"/>
              <a:cs typeface="Open Sans"/>
              <a:sym typeface="Open Sans"/>
            </a:endParaRPr>
          </a:p>
          <a:p>
            <a:pPr indent="0" lvl="0" marL="0" rtl="0" algn="l">
              <a:lnSpc>
                <a:spcPct val="115000"/>
              </a:lnSpc>
              <a:spcBef>
                <a:spcPts val="400"/>
              </a:spcBef>
              <a:spcAft>
                <a:spcPts val="400"/>
              </a:spcAft>
              <a:buNone/>
            </a:pPr>
            <a:r>
              <a:rPr lang="en" sz="1400">
                <a:latin typeface="Open Sans"/>
                <a:ea typeface="Open Sans"/>
                <a:cs typeface="Open Sans"/>
                <a:sym typeface="Open Sans"/>
              </a:rPr>
              <a:t>(This is a LISP program transcribed to Kotlin; nobody actually writes like this)</a:t>
            </a:r>
            <a:endParaRPr sz="1400"/>
          </a:p>
        </p:txBody>
      </p:sp>
      <p:sp>
        <p:nvSpPr>
          <p:cNvPr id="91" name="Google Shape;91;p19"/>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order functions (HOFs)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400">
                <a:latin typeface="Open Sans"/>
                <a:ea typeface="Open Sans"/>
                <a:cs typeface="Open Sans"/>
                <a:sym typeface="Open Sans"/>
              </a:rPr>
              <a:t>Often in the context of FP it is necessary to operate with the following functions: </a:t>
            </a:r>
            <a:r>
              <a:rPr lang="en" sz="1400">
                <a:solidFill>
                  <a:srgbClr val="37474F"/>
                </a:solidFill>
              </a:rPr>
              <a:t>map</a:t>
            </a:r>
            <a:r>
              <a:rPr lang="en" sz="1400">
                <a:latin typeface="Open Sans"/>
                <a:ea typeface="Open Sans"/>
                <a:cs typeface="Open Sans"/>
                <a:sym typeface="Open Sans"/>
              </a:rPr>
              <a:t>, </a:t>
            </a:r>
            <a:r>
              <a:rPr lang="en" sz="1400">
                <a:solidFill>
                  <a:srgbClr val="37474F"/>
                </a:solidFill>
              </a:rPr>
              <a:t>filter</a:t>
            </a:r>
            <a:r>
              <a:rPr lang="en" sz="1400">
                <a:latin typeface="Open Sans"/>
                <a:ea typeface="Open Sans"/>
                <a:cs typeface="Open Sans"/>
                <a:sym typeface="Open Sans"/>
              </a:rPr>
              <a:t>, and </a:t>
            </a:r>
            <a:r>
              <a:rPr lang="en" sz="1400">
                <a:solidFill>
                  <a:srgbClr val="37474F"/>
                </a:solidFill>
              </a:rPr>
              <a:t>fold</a:t>
            </a:r>
            <a:r>
              <a:rPr lang="en" sz="1400">
                <a:latin typeface="Open Sans"/>
                <a:ea typeface="Open Sans"/>
                <a:cs typeface="Open Sans"/>
                <a:sym typeface="Open Sans"/>
              </a:rPr>
              <a:t>.</a:t>
            </a:r>
            <a:endParaRPr sz="1400">
              <a:solidFill>
                <a:srgbClr val="37474F"/>
              </a:solidFill>
            </a:endParaRPr>
          </a:p>
          <a:p>
            <a:pPr indent="0" lvl="0" marL="0" rtl="0" algn="l">
              <a:lnSpc>
                <a:spcPct val="115000"/>
              </a:lnSpc>
              <a:spcBef>
                <a:spcPts val="600"/>
              </a:spcBef>
              <a:spcAft>
                <a:spcPts val="0"/>
              </a:spcAft>
              <a:buClr>
                <a:schemeClr val="dk1"/>
              </a:buClr>
              <a:buSzPts val="1800"/>
              <a:buFont typeface="Arial"/>
              <a:buNone/>
            </a:pPr>
            <a:r>
              <a:t/>
            </a:r>
            <a:endParaRPr sz="1400">
              <a:solidFill>
                <a:srgbClr val="37474F"/>
              </a:solidFill>
            </a:endParaRPr>
          </a:p>
          <a:p>
            <a:pPr indent="0" lvl="0" marL="0" rtl="0" algn="l">
              <a:lnSpc>
                <a:spcPct val="115000"/>
              </a:lnSpc>
              <a:spcBef>
                <a:spcPts val="600"/>
              </a:spcBef>
              <a:spcAft>
                <a:spcPts val="0"/>
              </a:spcAft>
              <a:buClr>
                <a:schemeClr val="dk1"/>
              </a:buClr>
              <a:buSzPts val="1800"/>
              <a:buFont typeface="Arial"/>
              <a:buNone/>
            </a:pPr>
            <a:r>
              <a:rPr lang="en" sz="1400">
                <a:solidFill>
                  <a:srgbClr val="37474F"/>
                </a:solidFill>
              </a:rPr>
              <a:t>map</a:t>
            </a:r>
            <a:r>
              <a:rPr lang="en" sz="1400">
                <a:latin typeface="Open Sans"/>
                <a:ea typeface="Open Sans"/>
                <a:cs typeface="Open Sans"/>
                <a:sym typeface="Open Sans"/>
              </a:rPr>
              <a:t> allows us to perform a function over </a:t>
            </a:r>
            <a:r>
              <a:rPr i="1" lang="en" sz="1400">
                <a:latin typeface="Open Sans"/>
                <a:ea typeface="Open Sans"/>
                <a:cs typeface="Open Sans"/>
                <a:sym typeface="Open Sans"/>
              </a:rPr>
              <a:t>each</a:t>
            </a:r>
            <a:r>
              <a:rPr lang="en" sz="1400">
                <a:latin typeface="Open Sans"/>
                <a:ea typeface="Open Sans"/>
                <a:cs typeface="Open Sans"/>
                <a:sym typeface="Open Sans"/>
              </a:rPr>
              <a:t> element in a collection:</a:t>
            </a:r>
            <a:endParaRPr sz="1400">
              <a:latin typeface="Open Sans"/>
              <a:ea typeface="Open Sans"/>
              <a:cs typeface="Open Sans"/>
              <a:sym typeface="Open Sans"/>
            </a:endParaRPr>
          </a:p>
          <a:p>
            <a:pPr indent="0" lvl="0" marL="0" rtl="0" algn="l">
              <a:lnSpc>
                <a:spcPct val="115000"/>
              </a:lnSpc>
              <a:spcBef>
                <a:spcPts val="600"/>
              </a:spcBef>
              <a:spcAft>
                <a:spcPts val="0"/>
              </a:spcAft>
              <a:buClr>
                <a:schemeClr val="dk1"/>
              </a:buClr>
              <a:buSzPts val="1800"/>
              <a:buFont typeface="Arial"/>
              <a:buNone/>
            </a:pPr>
            <a:r>
              <a:rPr lang="en" sz="1200">
                <a:solidFill>
                  <a:srgbClr val="000080"/>
                </a:solidFill>
              </a:rPr>
              <a:t>val</a:t>
            </a:r>
            <a:r>
              <a:rPr lang="en" sz="1200">
                <a:solidFill>
                  <a:srgbClr val="37474F"/>
                </a:solidFill>
              </a:rPr>
              <a:t> list = listOf(1, 2, 3)</a:t>
            </a:r>
            <a:endParaRPr sz="1200">
              <a:solidFill>
                <a:srgbClr val="37474F"/>
              </a:solidFill>
            </a:endParaRPr>
          </a:p>
          <a:p>
            <a:pPr indent="0" lvl="0" marL="0" rtl="0" algn="l">
              <a:lnSpc>
                <a:spcPct val="115000"/>
              </a:lnSpc>
              <a:spcBef>
                <a:spcPts val="600"/>
              </a:spcBef>
              <a:spcAft>
                <a:spcPts val="0"/>
              </a:spcAft>
              <a:buClr>
                <a:schemeClr val="dk1"/>
              </a:buClr>
              <a:buSzPts val="1100"/>
              <a:buFont typeface="Arial"/>
              <a:buNone/>
            </a:pPr>
            <a:r>
              <a:rPr lang="en" sz="1200">
                <a:solidFill>
                  <a:srgbClr val="37474F"/>
                </a:solidFill>
              </a:rPr>
              <a:t>list.map { it * it } </a:t>
            </a:r>
            <a:r>
              <a:rPr lang="en" sz="1200">
                <a:solidFill>
                  <a:srgbClr val="666666"/>
                </a:solidFill>
              </a:rPr>
              <a:t>// [1, 4, 9]</a:t>
            </a:r>
            <a:endParaRPr sz="1400">
              <a:solidFill>
                <a:srgbClr val="666666"/>
              </a:solidFill>
              <a:latin typeface="Open Sans"/>
              <a:ea typeface="Open Sans"/>
              <a:cs typeface="Open Sans"/>
              <a:sym typeface="Open Sans"/>
            </a:endParaRPr>
          </a:p>
          <a:p>
            <a:pPr indent="0" lvl="0" marL="0" rtl="0" algn="l">
              <a:lnSpc>
                <a:spcPct val="115000"/>
              </a:lnSpc>
              <a:spcBef>
                <a:spcPts val="600"/>
              </a:spcBef>
              <a:spcAft>
                <a:spcPts val="600"/>
              </a:spcAft>
              <a:buNone/>
            </a:pPr>
            <a:r>
              <a:t/>
            </a:r>
            <a:endParaRPr/>
          </a:p>
        </p:txBody>
      </p:sp>
      <p:sp>
        <p:nvSpPr>
          <p:cNvPr id="97" name="Google Shape;97;p20"/>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order functions (HOFs)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idx="1" type="body"/>
          </p:nvPr>
        </p:nvSpPr>
        <p:spPr>
          <a:xfrm>
            <a:off x="292600" y="1335025"/>
            <a:ext cx="8326800" cy="1950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400">
                <a:latin typeface="Open Sans"/>
                <a:ea typeface="Open Sans"/>
                <a:cs typeface="Open Sans"/>
                <a:sym typeface="Open Sans"/>
              </a:rPr>
              <a:t>Often in the context of FP it is necessary to operate with the following functions: </a:t>
            </a:r>
            <a:r>
              <a:rPr lang="en" sz="1400">
                <a:solidFill>
                  <a:srgbClr val="37474F"/>
                </a:solidFill>
              </a:rPr>
              <a:t>map</a:t>
            </a:r>
            <a:r>
              <a:rPr lang="en" sz="1400">
                <a:latin typeface="Open Sans"/>
                <a:ea typeface="Open Sans"/>
                <a:cs typeface="Open Sans"/>
                <a:sym typeface="Open Sans"/>
              </a:rPr>
              <a:t>, </a:t>
            </a:r>
            <a:r>
              <a:rPr lang="en" sz="1400">
                <a:solidFill>
                  <a:srgbClr val="37474F"/>
                </a:solidFill>
              </a:rPr>
              <a:t>filter</a:t>
            </a:r>
            <a:r>
              <a:rPr lang="en" sz="1400">
                <a:latin typeface="Open Sans"/>
                <a:ea typeface="Open Sans"/>
                <a:cs typeface="Open Sans"/>
                <a:sym typeface="Open Sans"/>
              </a:rPr>
              <a:t>, and </a:t>
            </a:r>
            <a:r>
              <a:rPr lang="en" sz="1400">
                <a:solidFill>
                  <a:srgbClr val="37474F"/>
                </a:solidFill>
              </a:rPr>
              <a:t>fold</a:t>
            </a:r>
            <a:r>
              <a:rPr lang="en" sz="1400">
                <a:latin typeface="Open Sans"/>
                <a:ea typeface="Open Sans"/>
                <a:cs typeface="Open Sans"/>
                <a:sym typeface="Open Sans"/>
              </a:rPr>
              <a:t>.</a:t>
            </a:r>
            <a:endParaRPr sz="1400">
              <a:solidFill>
                <a:srgbClr val="37474F"/>
              </a:solidFill>
            </a:endParaRPr>
          </a:p>
          <a:p>
            <a:pPr indent="0" lvl="0" marL="0" rtl="0" algn="l">
              <a:lnSpc>
                <a:spcPct val="115000"/>
              </a:lnSpc>
              <a:spcBef>
                <a:spcPts val="600"/>
              </a:spcBef>
              <a:spcAft>
                <a:spcPts val="0"/>
              </a:spcAft>
              <a:buClr>
                <a:schemeClr val="dk1"/>
              </a:buClr>
              <a:buSzPts val="1800"/>
              <a:buFont typeface="Arial"/>
              <a:buNone/>
            </a:pPr>
            <a:r>
              <a:t/>
            </a:r>
            <a:endParaRPr sz="1400">
              <a:solidFill>
                <a:srgbClr val="37474F"/>
              </a:solidFill>
            </a:endParaRPr>
          </a:p>
          <a:p>
            <a:pPr indent="0" lvl="0" marL="0" rtl="0" algn="l">
              <a:lnSpc>
                <a:spcPct val="115000"/>
              </a:lnSpc>
              <a:spcBef>
                <a:spcPts val="600"/>
              </a:spcBef>
              <a:spcAft>
                <a:spcPts val="0"/>
              </a:spcAft>
              <a:buClr>
                <a:schemeClr val="dk1"/>
              </a:buClr>
              <a:buSzPts val="1800"/>
              <a:buFont typeface="Arial"/>
              <a:buNone/>
            </a:pPr>
            <a:r>
              <a:rPr lang="en" sz="1400">
                <a:solidFill>
                  <a:srgbClr val="37474F"/>
                </a:solidFill>
              </a:rPr>
              <a:t>map</a:t>
            </a:r>
            <a:r>
              <a:rPr lang="en" sz="1400">
                <a:latin typeface="Open Sans"/>
                <a:ea typeface="Open Sans"/>
                <a:cs typeface="Open Sans"/>
                <a:sym typeface="Open Sans"/>
              </a:rPr>
              <a:t> allows us to perform a function over </a:t>
            </a:r>
            <a:r>
              <a:rPr i="1" lang="en" sz="1400">
                <a:latin typeface="Open Sans"/>
                <a:ea typeface="Open Sans"/>
                <a:cs typeface="Open Sans"/>
                <a:sym typeface="Open Sans"/>
              </a:rPr>
              <a:t>each</a:t>
            </a:r>
            <a:r>
              <a:rPr lang="en" sz="1400">
                <a:latin typeface="Open Sans"/>
                <a:ea typeface="Open Sans"/>
                <a:cs typeface="Open Sans"/>
                <a:sym typeface="Open Sans"/>
              </a:rPr>
              <a:t> element in a collection. </a:t>
            </a:r>
            <a:endParaRPr sz="1400">
              <a:latin typeface="Open Sans"/>
              <a:ea typeface="Open Sans"/>
              <a:cs typeface="Open Sans"/>
              <a:sym typeface="Open Sans"/>
            </a:endParaRPr>
          </a:p>
          <a:p>
            <a:pPr indent="0" lvl="0" marL="0" rtl="0" algn="l">
              <a:lnSpc>
                <a:spcPct val="115000"/>
              </a:lnSpc>
              <a:spcBef>
                <a:spcPts val="600"/>
              </a:spcBef>
              <a:spcAft>
                <a:spcPts val="0"/>
              </a:spcAft>
              <a:buClr>
                <a:schemeClr val="dk1"/>
              </a:buClr>
              <a:buSzPts val="1800"/>
              <a:buFont typeface="Arial"/>
              <a:buNone/>
            </a:pPr>
            <a:r>
              <a:rPr lang="en" sz="1400">
                <a:solidFill>
                  <a:srgbClr val="000080"/>
                </a:solidFill>
              </a:rPr>
              <a:t>val</a:t>
            </a:r>
            <a:r>
              <a:rPr lang="en" sz="1400">
                <a:solidFill>
                  <a:srgbClr val="37474F"/>
                </a:solidFill>
              </a:rPr>
              <a:t> list = listOf(1, 2, 3)</a:t>
            </a:r>
            <a:endParaRPr sz="1400">
              <a:solidFill>
                <a:srgbClr val="37474F"/>
              </a:solidFill>
            </a:endParaRPr>
          </a:p>
          <a:p>
            <a:pPr indent="0" lvl="0" marL="0" rtl="0" algn="l">
              <a:lnSpc>
                <a:spcPct val="115000"/>
              </a:lnSpc>
              <a:spcBef>
                <a:spcPts val="600"/>
              </a:spcBef>
              <a:spcAft>
                <a:spcPts val="0"/>
              </a:spcAft>
              <a:buClr>
                <a:schemeClr val="dk1"/>
              </a:buClr>
              <a:buSzPts val="1800"/>
              <a:buFont typeface="Arial"/>
              <a:buNone/>
            </a:pPr>
            <a:r>
              <a:rPr lang="en" sz="1400">
                <a:solidFill>
                  <a:srgbClr val="37474F"/>
                </a:solidFill>
              </a:rPr>
              <a:t>list.map { it * it } </a:t>
            </a:r>
            <a:r>
              <a:rPr lang="en" sz="1400">
                <a:solidFill>
                  <a:srgbClr val="666666"/>
                </a:solidFill>
              </a:rPr>
              <a:t>// [1, 4, 9]</a:t>
            </a:r>
            <a:endParaRPr sz="1400">
              <a:solidFill>
                <a:srgbClr val="666666"/>
              </a:solidFill>
            </a:endParaRPr>
          </a:p>
          <a:p>
            <a:pPr indent="0" lvl="0" marL="0" rtl="0" algn="l">
              <a:lnSpc>
                <a:spcPct val="115000"/>
              </a:lnSpc>
              <a:spcBef>
                <a:spcPts val="600"/>
              </a:spcBef>
              <a:spcAft>
                <a:spcPts val="600"/>
              </a:spcAft>
              <a:buNone/>
            </a:pPr>
            <a:r>
              <a:t/>
            </a:r>
            <a:endParaRPr sz="1400"/>
          </a:p>
        </p:txBody>
      </p:sp>
      <p:sp>
        <p:nvSpPr>
          <p:cNvPr id="103" name="Google Shape;103;p2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order functions (HOFs)</a:t>
            </a:r>
            <a:endParaRPr/>
          </a:p>
        </p:txBody>
      </p:sp>
      <p:sp>
        <p:nvSpPr>
          <p:cNvPr id="104" name="Google Shape;104;p21"/>
          <p:cNvSpPr txBox="1"/>
          <p:nvPr/>
        </p:nvSpPr>
        <p:spPr>
          <a:xfrm>
            <a:off x="982275" y="3963780"/>
            <a:ext cx="5231100" cy="400200"/>
          </a:xfrm>
          <a:prstGeom prst="rect">
            <a:avLst/>
          </a:prstGeom>
          <a:noFill/>
          <a:ln>
            <a:noFill/>
          </a:ln>
        </p:spPr>
        <p:txBody>
          <a:bodyPr anchorCtr="0" anchor="t" bIns="91425" lIns="0" spcFirstLastPara="1" rIns="0" wrap="square" tIns="91425">
            <a:spAutoFit/>
          </a:bodyPr>
          <a:lstStyle/>
          <a:p>
            <a:pPr indent="0" lvl="0" marL="0" rtl="0" algn="l">
              <a:lnSpc>
                <a:spcPct val="115000"/>
              </a:lnSpc>
              <a:spcBef>
                <a:spcPts val="0"/>
              </a:spcBef>
              <a:spcAft>
                <a:spcPts val="600"/>
              </a:spcAft>
              <a:buNone/>
            </a:pPr>
            <a:r>
              <a:rPr lang="en">
                <a:solidFill>
                  <a:schemeClr val="dk1"/>
                </a:solidFill>
                <a:latin typeface="Open Sans"/>
                <a:ea typeface="Open Sans"/>
                <a:cs typeface="Open Sans"/>
                <a:sym typeface="Open Sans"/>
              </a:rPr>
              <a:t>What is the main difference between </a:t>
            </a:r>
            <a:r>
              <a:rPr lang="en">
                <a:solidFill>
                  <a:schemeClr val="dk1"/>
                </a:solidFill>
                <a:latin typeface="JetBrains Mono"/>
                <a:ea typeface="JetBrains Mono"/>
                <a:cs typeface="JetBrains Mono"/>
                <a:sym typeface="JetBrains Mono"/>
              </a:rPr>
              <a:t>map</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forEach</a:t>
            </a:r>
            <a:r>
              <a:rPr lang="en">
                <a:solidFill>
                  <a:schemeClr val="dk1"/>
                </a:solidFill>
                <a:latin typeface="Open Sans"/>
                <a:ea typeface="Open Sans"/>
                <a:cs typeface="Open Sans"/>
                <a:sym typeface="Open Sans"/>
              </a:rPr>
              <a:t>?</a:t>
            </a:r>
            <a:endParaRPr>
              <a:solidFill>
                <a:srgbClr val="666666"/>
              </a:solidFill>
              <a:latin typeface="JetBrains Mono"/>
              <a:ea typeface="JetBrains Mono"/>
              <a:cs typeface="JetBrains Mono"/>
              <a:sym typeface="JetBrains Mono"/>
            </a:endParaRPr>
          </a:p>
        </p:txBody>
      </p:sp>
      <p:pic>
        <p:nvPicPr>
          <p:cNvPr id="105" name="Google Shape;105;p21"/>
          <p:cNvPicPr preferRelativeResize="0"/>
          <p:nvPr/>
        </p:nvPicPr>
        <p:blipFill>
          <a:blip r:embed="rId3">
            <a:alphaModFix/>
          </a:blip>
          <a:stretch>
            <a:fillRect/>
          </a:stretch>
        </p:blipFill>
        <p:spPr>
          <a:xfrm>
            <a:off x="286675" y="3694625"/>
            <a:ext cx="842075" cy="8420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2"/>
          <p:cNvSpPr txBox="1"/>
          <p:nvPr>
            <p:ph idx="1" type="body"/>
          </p:nvPr>
        </p:nvSpPr>
        <p:spPr>
          <a:xfrm>
            <a:off x="292600" y="1335025"/>
            <a:ext cx="8326800" cy="16662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400">
                <a:latin typeface="Open Sans"/>
                <a:ea typeface="Open Sans"/>
                <a:cs typeface="Open Sans"/>
                <a:sym typeface="Open Sans"/>
              </a:rPr>
              <a:t>You can </a:t>
            </a:r>
            <a:r>
              <a:rPr b="1" lang="en" sz="1400">
                <a:latin typeface="Open Sans"/>
                <a:ea typeface="Open Sans"/>
                <a:cs typeface="Open Sans"/>
                <a:sym typeface="Open Sans"/>
              </a:rPr>
              <a:t>compose</a:t>
            </a:r>
            <a:r>
              <a:rPr lang="en" sz="1400">
                <a:latin typeface="Open Sans"/>
                <a:ea typeface="Open Sans"/>
                <a:cs typeface="Open Sans"/>
                <a:sym typeface="Open Sans"/>
              </a:rPr>
              <a:t> the functions to perform both operations:</a:t>
            </a:r>
            <a:endParaRPr sz="1400">
              <a:latin typeface="Open Sans"/>
              <a:ea typeface="Open Sans"/>
              <a:cs typeface="Open Sans"/>
              <a:sym typeface="Open Sans"/>
            </a:endParaRPr>
          </a:p>
          <a:p>
            <a:pPr indent="0" lvl="0" marL="0" rtl="0" algn="l">
              <a:lnSpc>
                <a:spcPct val="115000"/>
              </a:lnSpc>
              <a:spcBef>
                <a:spcPts val="600"/>
              </a:spcBef>
              <a:spcAft>
                <a:spcPts val="0"/>
              </a:spcAft>
              <a:buNone/>
            </a:pPr>
            <a:r>
              <a:rPr lang="en" sz="1400">
                <a:solidFill>
                  <a:srgbClr val="000080"/>
                </a:solidFill>
              </a:rPr>
              <a:t>val</a:t>
            </a:r>
            <a:r>
              <a:rPr lang="en" sz="1400">
                <a:solidFill>
                  <a:srgbClr val="37474F"/>
                </a:solidFill>
              </a:rPr>
              <a:t> list = listOf(1, 2, 3)</a:t>
            </a:r>
            <a:endParaRPr sz="1400">
              <a:solidFill>
                <a:srgbClr val="37474F"/>
              </a:solidFill>
            </a:endParaRPr>
          </a:p>
          <a:p>
            <a:pPr indent="0" lvl="0" marL="0" rtl="0" algn="l">
              <a:lnSpc>
                <a:spcPct val="115000"/>
              </a:lnSpc>
              <a:spcBef>
                <a:spcPts val="600"/>
              </a:spcBef>
              <a:spcAft>
                <a:spcPts val="0"/>
              </a:spcAft>
              <a:buClr>
                <a:schemeClr val="dk1"/>
              </a:buClr>
              <a:buSzPts val="1800"/>
              <a:buFont typeface="Arial"/>
              <a:buNone/>
            </a:pPr>
            <a:r>
              <a:rPr lang="en" sz="1400">
                <a:solidFill>
                  <a:srgbClr val="37474F"/>
                </a:solidFill>
              </a:rPr>
              <a:t>list.map { it * it }.map { it + 1 } </a:t>
            </a:r>
            <a:r>
              <a:rPr lang="en" sz="1400">
                <a:solidFill>
                  <a:srgbClr val="666666"/>
                </a:solidFill>
              </a:rPr>
              <a:t>// [2, 5, 10]</a:t>
            </a:r>
            <a:endParaRPr sz="1400">
              <a:solidFill>
                <a:srgbClr val="666666"/>
              </a:solidFill>
            </a:endParaRPr>
          </a:p>
          <a:p>
            <a:pPr indent="0" lvl="0" marL="0" rtl="0" algn="l">
              <a:lnSpc>
                <a:spcPct val="115000"/>
              </a:lnSpc>
              <a:spcBef>
                <a:spcPts val="600"/>
              </a:spcBef>
              <a:spcAft>
                <a:spcPts val="0"/>
              </a:spcAft>
              <a:buClr>
                <a:schemeClr val="dk1"/>
              </a:buClr>
              <a:buSzPts val="1800"/>
              <a:buFont typeface="Arial"/>
              <a:buNone/>
            </a:pPr>
            <a:r>
              <a:t/>
            </a:r>
            <a:endParaRPr sz="1400">
              <a:solidFill>
                <a:srgbClr val="666666"/>
              </a:solidFill>
            </a:endParaRPr>
          </a:p>
          <a:p>
            <a:pPr indent="0" lvl="0" marL="0" rtl="0" algn="l">
              <a:lnSpc>
                <a:spcPct val="115000"/>
              </a:lnSpc>
              <a:spcBef>
                <a:spcPts val="600"/>
              </a:spcBef>
              <a:spcAft>
                <a:spcPts val="600"/>
              </a:spcAft>
              <a:buNone/>
            </a:pPr>
            <a:r>
              <a:rPr lang="en" sz="1400">
                <a:solidFill>
                  <a:srgbClr val="37474F"/>
                </a:solidFill>
              </a:rPr>
              <a:t>list.map { it * it + 1 } </a:t>
            </a:r>
            <a:r>
              <a:rPr lang="en" sz="1400">
                <a:solidFill>
                  <a:srgbClr val="666666"/>
                </a:solidFill>
              </a:rPr>
              <a:t>// [2, 5, 10]</a:t>
            </a:r>
            <a:endParaRPr sz="1400"/>
          </a:p>
        </p:txBody>
      </p:sp>
      <p:sp>
        <p:nvSpPr>
          <p:cNvPr id="111" name="Google Shape;111;p22"/>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order functions (HOFs)</a:t>
            </a:r>
            <a:endParaRPr/>
          </a:p>
        </p:txBody>
      </p:sp>
      <p:sp>
        <p:nvSpPr>
          <p:cNvPr id="112" name="Google Shape;112;p22"/>
          <p:cNvSpPr txBox="1"/>
          <p:nvPr>
            <p:ph idx="1" type="body"/>
          </p:nvPr>
        </p:nvSpPr>
        <p:spPr>
          <a:xfrm>
            <a:off x="292600" y="4359650"/>
            <a:ext cx="8326800" cy="457200"/>
          </a:xfrm>
          <a:prstGeom prst="rect">
            <a:avLst/>
          </a:prstGeom>
        </p:spPr>
        <p:txBody>
          <a:bodyPr anchorCtr="0" anchor="t" bIns="0" lIns="0" spcFirstLastPara="1" rIns="0" wrap="square" tIns="73150">
            <a:noAutofit/>
          </a:bodyPr>
          <a:lstStyle/>
          <a:p>
            <a:pPr indent="0" lvl="0" marL="0" rtl="0" algn="l">
              <a:spcBef>
                <a:spcPts val="0"/>
              </a:spcBef>
              <a:spcAft>
                <a:spcPts val="600"/>
              </a:spcAft>
              <a:buNone/>
            </a:pPr>
            <a:r>
              <a:rPr b="1" lang="en" sz="1400">
                <a:latin typeface="Open Sans"/>
                <a:ea typeface="Open Sans"/>
                <a:cs typeface="Open Sans"/>
                <a:sym typeface="Open Sans"/>
              </a:rPr>
              <a:t>N</a:t>
            </a:r>
            <a:r>
              <a:rPr b="1" lang="en" sz="1400">
                <a:latin typeface="Open Sans"/>
                <a:ea typeface="Open Sans"/>
                <a:cs typeface="Open Sans"/>
                <a:sym typeface="Open Sans"/>
              </a:rPr>
              <a:t>B</a:t>
            </a:r>
            <a:r>
              <a:rPr lang="en" sz="1400">
                <a:latin typeface="Open Sans"/>
                <a:ea typeface="Open Sans"/>
                <a:cs typeface="Open Sans"/>
                <a:sym typeface="Open Sans"/>
              </a:rPr>
              <a:t>:</a:t>
            </a:r>
            <a:r>
              <a:rPr lang="en" sz="1400">
                <a:latin typeface="Open Sans"/>
                <a:ea typeface="Open Sans"/>
                <a:cs typeface="Open Sans"/>
                <a:sym typeface="Open Sans"/>
              </a:rPr>
              <a:t> to compose complex functions by default you can use sequences, but be careful.</a:t>
            </a:r>
            <a:endParaRPr sz="1400">
              <a:latin typeface="Open Sans"/>
              <a:ea typeface="Open Sans"/>
              <a:cs typeface="Open Sans"/>
              <a:sym typeface="Open Sans"/>
            </a:endParaRPr>
          </a:p>
        </p:txBody>
      </p:sp>
      <p:sp>
        <p:nvSpPr>
          <p:cNvPr id="113" name="Google Shape;113;p22"/>
          <p:cNvSpPr/>
          <p:nvPr/>
        </p:nvSpPr>
        <p:spPr>
          <a:xfrm>
            <a:off x="312560" y="3577805"/>
            <a:ext cx="924000" cy="308100"/>
          </a:xfrm>
          <a:prstGeom prst="roundRect">
            <a:avLst>
              <a:gd fmla="val 16667" name="adj"/>
            </a:avLst>
          </a:prstGeom>
          <a:solidFill>
            <a:srgbClr val="FFFFFF"/>
          </a:solidFill>
          <a:ln cap="flat" cmpd="sng" w="19050">
            <a:solidFill>
              <a:srgbClr val="89898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JetBrains Mono"/>
                <a:ea typeface="JetBrains Mono"/>
                <a:cs typeface="JetBrains Mono"/>
                <a:sym typeface="JetBrains Mono"/>
              </a:rPr>
              <a:t>x</a:t>
            </a:r>
            <a:endParaRPr sz="1100">
              <a:latin typeface="JetBrains Mono"/>
              <a:ea typeface="JetBrains Mono"/>
              <a:cs typeface="JetBrains Mono"/>
              <a:sym typeface="JetBrains Mono"/>
            </a:endParaRPr>
          </a:p>
        </p:txBody>
      </p:sp>
      <p:sp>
        <p:nvSpPr>
          <p:cNvPr id="114" name="Google Shape;114;p22"/>
          <p:cNvSpPr/>
          <p:nvPr/>
        </p:nvSpPr>
        <p:spPr>
          <a:xfrm>
            <a:off x="2024310" y="3251061"/>
            <a:ext cx="924000" cy="308100"/>
          </a:xfrm>
          <a:prstGeom prst="roundRect">
            <a:avLst>
              <a:gd fmla="val 16667" name="adj"/>
            </a:avLst>
          </a:prstGeom>
          <a:solidFill>
            <a:schemeClr val="accent4"/>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JetBrains Mono"/>
                <a:ea typeface="JetBrains Mono"/>
                <a:cs typeface="JetBrains Mono"/>
                <a:sym typeface="JetBrains Mono"/>
              </a:rPr>
              <a:t>x * x</a:t>
            </a:r>
            <a:endParaRPr sz="1100">
              <a:solidFill>
                <a:schemeClr val="lt1"/>
              </a:solidFill>
              <a:latin typeface="JetBrains Mono"/>
              <a:ea typeface="JetBrains Mono"/>
              <a:cs typeface="JetBrains Mono"/>
              <a:sym typeface="JetBrains Mono"/>
            </a:endParaRPr>
          </a:p>
        </p:txBody>
      </p:sp>
      <p:sp>
        <p:nvSpPr>
          <p:cNvPr id="115" name="Google Shape;115;p22"/>
          <p:cNvSpPr/>
          <p:nvPr/>
        </p:nvSpPr>
        <p:spPr>
          <a:xfrm>
            <a:off x="3498748" y="3251061"/>
            <a:ext cx="924000" cy="308100"/>
          </a:xfrm>
          <a:prstGeom prst="roundRect">
            <a:avLst>
              <a:gd fmla="val 16667" name="adj"/>
            </a:avLst>
          </a:prstGeom>
          <a:solidFill>
            <a:schemeClr val="accent4"/>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JetBrains Mono"/>
                <a:ea typeface="JetBrains Mono"/>
                <a:cs typeface="JetBrains Mono"/>
                <a:sym typeface="JetBrains Mono"/>
              </a:rPr>
              <a:t>x + 1</a:t>
            </a:r>
            <a:endParaRPr sz="1100">
              <a:solidFill>
                <a:schemeClr val="lt1"/>
              </a:solidFill>
              <a:latin typeface="JetBrains Mono"/>
              <a:ea typeface="JetBrains Mono"/>
              <a:cs typeface="JetBrains Mono"/>
              <a:sym typeface="JetBrains Mono"/>
            </a:endParaRPr>
          </a:p>
        </p:txBody>
      </p:sp>
      <p:sp>
        <p:nvSpPr>
          <p:cNvPr id="116" name="Google Shape;116;p22"/>
          <p:cNvSpPr/>
          <p:nvPr/>
        </p:nvSpPr>
        <p:spPr>
          <a:xfrm>
            <a:off x="2024310" y="3902948"/>
            <a:ext cx="2398500" cy="308100"/>
          </a:xfrm>
          <a:prstGeom prst="roundRect">
            <a:avLst>
              <a:gd fmla="val 16667" name="adj"/>
            </a:avLst>
          </a:prstGeom>
          <a:solidFill>
            <a:schemeClr val="accent4"/>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JetBrains Mono"/>
                <a:ea typeface="JetBrains Mono"/>
                <a:cs typeface="JetBrains Mono"/>
                <a:sym typeface="JetBrains Mono"/>
              </a:rPr>
              <a:t>x * x and x + 1</a:t>
            </a:r>
            <a:endParaRPr sz="1100">
              <a:solidFill>
                <a:schemeClr val="lt1"/>
              </a:solidFill>
              <a:latin typeface="JetBrains Mono"/>
              <a:ea typeface="JetBrains Mono"/>
              <a:cs typeface="JetBrains Mono"/>
              <a:sym typeface="JetBrains Mono"/>
            </a:endParaRPr>
          </a:p>
        </p:txBody>
      </p:sp>
      <p:sp>
        <p:nvSpPr>
          <p:cNvPr id="117" name="Google Shape;117;p22"/>
          <p:cNvSpPr/>
          <p:nvPr/>
        </p:nvSpPr>
        <p:spPr>
          <a:xfrm>
            <a:off x="4973210" y="3577805"/>
            <a:ext cx="1196700" cy="308100"/>
          </a:xfrm>
          <a:prstGeom prst="roundRect">
            <a:avLst>
              <a:gd fmla="val 16667" name="adj"/>
            </a:avLst>
          </a:prstGeom>
          <a:solidFill>
            <a:srgbClr val="FFFFFF"/>
          </a:solidFill>
          <a:ln cap="flat" cmpd="sng" w="19050">
            <a:solidFill>
              <a:srgbClr val="89898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JetBrains Mono"/>
                <a:ea typeface="JetBrains Mono"/>
                <a:cs typeface="JetBrains Mono"/>
                <a:sym typeface="JetBrains Mono"/>
              </a:rPr>
              <a:t>x * x + 1</a:t>
            </a:r>
            <a:endParaRPr sz="1100">
              <a:latin typeface="JetBrains Mono"/>
              <a:ea typeface="JetBrains Mono"/>
              <a:cs typeface="JetBrains Mono"/>
              <a:sym typeface="JetBrains Mono"/>
            </a:endParaRPr>
          </a:p>
        </p:txBody>
      </p:sp>
      <p:cxnSp>
        <p:nvCxnSpPr>
          <p:cNvPr id="118" name="Google Shape;118;p22"/>
          <p:cNvCxnSpPr>
            <a:stCxn id="113" idx="0"/>
            <a:endCxn id="114" idx="1"/>
          </p:cNvCxnSpPr>
          <p:nvPr/>
        </p:nvCxnSpPr>
        <p:spPr>
          <a:xfrm rot="-5400000">
            <a:off x="1313060" y="2866505"/>
            <a:ext cx="172800" cy="1249800"/>
          </a:xfrm>
          <a:prstGeom prst="curvedConnector2">
            <a:avLst/>
          </a:prstGeom>
          <a:noFill/>
          <a:ln cap="flat" cmpd="sng" w="19050">
            <a:solidFill>
              <a:schemeClr val="dk2"/>
            </a:solidFill>
            <a:prstDash val="solid"/>
            <a:round/>
            <a:headEnd len="med" w="med" type="none"/>
            <a:tailEnd len="med" w="med" type="triangle"/>
          </a:ln>
        </p:spPr>
      </p:cxnSp>
      <p:cxnSp>
        <p:nvCxnSpPr>
          <p:cNvPr id="119" name="Google Shape;119;p22"/>
          <p:cNvCxnSpPr>
            <a:stCxn id="113" idx="2"/>
            <a:endCxn id="116" idx="1"/>
          </p:cNvCxnSpPr>
          <p:nvPr/>
        </p:nvCxnSpPr>
        <p:spPr>
          <a:xfrm flipH="1" rot="-5400000">
            <a:off x="1313960" y="3346505"/>
            <a:ext cx="171000" cy="1249800"/>
          </a:xfrm>
          <a:prstGeom prst="curvedConnector2">
            <a:avLst/>
          </a:prstGeom>
          <a:noFill/>
          <a:ln cap="flat" cmpd="sng" w="19050">
            <a:solidFill>
              <a:schemeClr val="dk2"/>
            </a:solidFill>
            <a:prstDash val="solid"/>
            <a:round/>
            <a:headEnd len="med" w="med" type="none"/>
            <a:tailEnd len="med" w="med" type="triangle"/>
          </a:ln>
        </p:spPr>
      </p:cxnSp>
      <p:cxnSp>
        <p:nvCxnSpPr>
          <p:cNvPr id="120" name="Google Shape;120;p22"/>
          <p:cNvCxnSpPr>
            <a:stCxn id="114" idx="3"/>
            <a:endCxn id="115" idx="1"/>
          </p:cNvCxnSpPr>
          <p:nvPr/>
        </p:nvCxnSpPr>
        <p:spPr>
          <a:xfrm>
            <a:off x="2948310" y="3405111"/>
            <a:ext cx="550500" cy="600"/>
          </a:xfrm>
          <a:prstGeom prst="curvedConnector3">
            <a:avLst>
              <a:gd fmla="val 49994" name="adj1"/>
            </a:avLst>
          </a:prstGeom>
          <a:noFill/>
          <a:ln cap="flat" cmpd="sng" w="19050">
            <a:solidFill>
              <a:schemeClr val="dk2"/>
            </a:solidFill>
            <a:prstDash val="solid"/>
            <a:round/>
            <a:headEnd len="med" w="med" type="none"/>
            <a:tailEnd len="med" w="med" type="triangle"/>
          </a:ln>
        </p:spPr>
      </p:cxnSp>
      <p:cxnSp>
        <p:nvCxnSpPr>
          <p:cNvPr id="121" name="Google Shape;121;p22"/>
          <p:cNvCxnSpPr>
            <a:stCxn id="115" idx="3"/>
            <a:endCxn id="117" idx="0"/>
          </p:cNvCxnSpPr>
          <p:nvPr/>
        </p:nvCxnSpPr>
        <p:spPr>
          <a:xfrm>
            <a:off x="4422748" y="3405111"/>
            <a:ext cx="1148700" cy="172800"/>
          </a:xfrm>
          <a:prstGeom prst="curvedConnector2">
            <a:avLst/>
          </a:prstGeom>
          <a:noFill/>
          <a:ln cap="flat" cmpd="sng" w="19050">
            <a:solidFill>
              <a:schemeClr val="dk2"/>
            </a:solidFill>
            <a:prstDash val="solid"/>
            <a:round/>
            <a:headEnd len="med" w="med" type="none"/>
            <a:tailEnd len="med" w="med" type="triangle"/>
          </a:ln>
        </p:spPr>
      </p:cxnSp>
      <p:cxnSp>
        <p:nvCxnSpPr>
          <p:cNvPr id="122" name="Google Shape;122;p22"/>
          <p:cNvCxnSpPr>
            <a:stCxn id="116" idx="3"/>
            <a:endCxn id="117" idx="2"/>
          </p:cNvCxnSpPr>
          <p:nvPr/>
        </p:nvCxnSpPr>
        <p:spPr>
          <a:xfrm flipH="1" rot="10800000">
            <a:off x="4422810" y="3885998"/>
            <a:ext cx="1148700" cy="171000"/>
          </a:xfrm>
          <a:prstGeom prst="curvedConnector2">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3"/>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400">
                <a:solidFill>
                  <a:srgbClr val="37474F"/>
                </a:solidFill>
              </a:rPr>
              <a:t>filter</a:t>
            </a:r>
            <a:r>
              <a:rPr lang="en" sz="1400">
                <a:latin typeface="Open Sans"/>
                <a:ea typeface="Open Sans"/>
                <a:cs typeface="Open Sans"/>
                <a:sym typeface="Open Sans"/>
              </a:rPr>
              <a:t> </a:t>
            </a:r>
            <a:r>
              <a:rPr lang="en" sz="1400">
                <a:latin typeface="Open Sans"/>
                <a:ea typeface="Open Sans"/>
                <a:cs typeface="Open Sans"/>
                <a:sym typeface="Open Sans"/>
              </a:rPr>
              <a:t>returns a list containing only elements that match a given predicate:</a:t>
            </a:r>
            <a:endParaRPr sz="1400">
              <a:latin typeface="Open Sans"/>
              <a:ea typeface="Open Sans"/>
              <a:cs typeface="Open Sans"/>
              <a:sym typeface="Open Sans"/>
            </a:endParaRPr>
          </a:p>
          <a:p>
            <a:pPr indent="0" lvl="0" marL="0" rtl="0" algn="l">
              <a:lnSpc>
                <a:spcPct val="115000"/>
              </a:lnSpc>
              <a:spcBef>
                <a:spcPts val="600"/>
              </a:spcBef>
              <a:spcAft>
                <a:spcPts val="0"/>
              </a:spcAft>
              <a:buClr>
                <a:schemeClr val="dk1"/>
              </a:buClr>
              <a:buSzPts val="1800"/>
              <a:buFont typeface="Arial"/>
              <a:buNone/>
            </a:pPr>
            <a:r>
              <a:t/>
            </a:r>
            <a:endParaRPr sz="1400">
              <a:latin typeface="Open Sans"/>
              <a:ea typeface="Open Sans"/>
              <a:cs typeface="Open Sans"/>
              <a:sym typeface="Open Sans"/>
            </a:endParaRPr>
          </a:p>
          <a:p>
            <a:pPr indent="0" lvl="0" marL="0" rtl="0" algn="l">
              <a:lnSpc>
                <a:spcPct val="115000"/>
              </a:lnSpc>
              <a:spcBef>
                <a:spcPts val="600"/>
              </a:spcBef>
              <a:spcAft>
                <a:spcPts val="0"/>
              </a:spcAft>
              <a:buClr>
                <a:schemeClr val="dk1"/>
              </a:buClr>
              <a:buSzPts val="1800"/>
              <a:buFont typeface="Arial"/>
              <a:buNone/>
            </a:pPr>
            <a:r>
              <a:rPr lang="en" sz="1400">
                <a:solidFill>
                  <a:srgbClr val="000080"/>
                </a:solidFill>
              </a:rPr>
              <a:t>val</a:t>
            </a:r>
            <a:r>
              <a:rPr lang="en" sz="1400">
                <a:solidFill>
                  <a:srgbClr val="37474F"/>
                </a:solidFill>
              </a:rPr>
              <a:t> list = listOf(1, 2, 3)</a:t>
            </a:r>
            <a:endParaRPr sz="1400">
              <a:solidFill>
                <a:srgbClr val="37474F"/>
              </a:solidFill>
            </a:endParaRPr>
          </a:p>
          <a:p>
            <a:pPr indent="0" lvl="0" marL="0" rtl="0" algn="l">
              <a:lnSpc>
                <a:spcPct val="115000"/>
              </a:lnSpc>
              <a:spcBef>
                <a:spcPts val="600"/>
              </a:spcBef>
              <a:spcAft>
                <a:spcPts val="600"/>
              </a:spcAft>
              <a:buNone/>
            </a:pPr>
            <a:r>
              <a:rPr lang="en" sz="1400">
                <a:solidFill>
                  <a:srgbClr val="37474F"/>
                </a:solidFill>
              </a:rPr>
              <a:t>list.filter { it % 2 == 0 } </a:t>
            </a:r>
            <a:r>
              <a:rPr lang="en" sz="1400">
                <a:solidFill>
                  <a:srgbClr val="666666"/>
                </a:solidFill>
              </a:rPr>
              <a:t>// [2]</a:t>
            </a:r>
            <a:endParaRPr sz="1400"/>
          </a:p>
        </p:txBody>
      </p:sp>
      <p:sp>
        <p:nvSpPr>
          <p:cNvPr id="128" name="Google Shape;128;p2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order functions (HOFs)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4"/>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400">
                <a:latin typeface="Open Sans"/>
                <a:ea typeface="Open Sans"/>
                <a:cs typeface="Open Sans"/>
                <a:sym typeface="Open Sans"/>
              </a:rPr>
              <a:t>Our third important function, </a:t>
            </a:r>
            <a:r>
              <a:rPr lang="en" sz="1400">
                <a:solidFill>
                  <a:srgbClr val="37474F"/>
                </a:solidFill>
              </a:rPr>
              <a:t>fold</a:t>
            </a:r>
            <a:r>
              <a:rPr lang="en" sz="1400">
                <a:latin typeface="Open Sans"/>
                <a:ea typeface="Open Sans"/>
                <a:cs typeface="Open Sans"/>
                <a:sym typeface="Open Sans"/>
              </a:rPr>
              <a:t>, creates a mutable accumulator, which is updated on each round of the </a:t>
            </a:r>
            <a:r>
              <a:rPr lang="en" sz="1400">
                <a:solidFill>
                  <a:srgbClr val="37474F"/>
                </a:solidFill>
              </a:rPr>
              <a:t>for</a:t>
            </a:r>
            <a:r>
              <a:rPr lang="en" sz="1400">
                <a:latin typeface="Open Sans"/>
                <a:ea typeface="Open Sans"/>
                <a:cs typeface="Open Sans"/>
                <a:sym typeface="Open Sans"/>
              </a:rPr>
              <a:t> and returns </a:t>
            </a:r>
            <a:r>
              <a:rPr lang="en" sz="1400">
                <a:latin typeface="Open Sans"/>
                <a:ea typeface="Open Sans"/>
                <a:cs typeface="Open Sans"/>
                <a:sym typeface="Open Sans"/>
              </a:rPr>
              <a:t>one </a:t>
            </a:r>
            <a:r>
              <a:rPr lang="en" sz="1400">
                <a:latin typeface="Open Sans"/>
                <a:ea typeface="Open Sans"/>
                <a:cs typeface="Open Sans"/>
                <a:sym typeface="Open Sans"/>
              </a:rPr>
              <a:t>value:</a:t>
            </a:r>
            <a:endParaRPr sz="1400">
              <a:latin typeface="Open Sans"/>
              <a:ea typeface="Open Sans"/>
              <a:cs typeface="Open Sans"/>
              <a:sym typeface="Open Sans"/>
            </a:endParaRPr>
          </a:p>
          <a:p>
            <a:pPr indent="0" lvl="0" marL="0" rtl="0" algn="l">
              <a:lnSpc>
                <a:spcPct val="115000"/>
              </a:lnSpc>
              <a:spcBef>
                <a:spcPts val="600"/>
              </a:spcBef>
              <a:spcAft>
                <a:spcPts val="0"/>
              </a:spcAft>
              <a:buNone/>
            </a:pPr>
            <a:r>
              <a:t/>
            </a:r>
            <a:endParaRPr sz="1400">
              <a:latin typeface="Open Sans"/>
              <a:ea typeface="Open Sans"/>
              <a:cs typeface="Open Sans"/>
              <a:sym typeface="Open Sans"/>
            </a:endParaRPr>
          </a:p>
          <a:p>
            <a:pPr indent="0" lvl="0" marL="0" rtl="0" algn="l">
              <a:lnSpc>
                <a:spcPct val="115000"/>
              </a:lnSpc>
              <a:spcBef>
                <a:spcPts val="600"/>
              </a:spcBef>
              <a:spcAft>
                <a:spcPts val="0"/>
              </a:spcAft>
              <a:buClr>
                <a:schemeClr val="dk1"/>
              </a:buClr>
              <a:buSzPts val="1800"/>
              <a:buFont typeface="Arial"/>
              <a:buNone/>
            </a:pPr>
            <a:r>
              <a:rPr lang="en" sz="1400">
                <a:solidFill>
                  <a:srgbClr val="000080"/>
                </a:solidFill>
              </a:rPr>
              <a:t>val</a:t>
            </a:r>
            <a:r>
              <a:rPr lang="en" sz="1400">
                <a:solidFill>
                  <a:srgbClr val="37474F"/>
                </a:solidFill>
              </a:rPr>
              <a:t> list = listOf(1, 2, 3)</a:t>
            </a:r>
            <a:endParaRPr sz="1400">
              <a:solidFill>
                <a:srgbClr val="37474F"/>
              </a:solidFill>
            </a:endParaRPr>
          </a:p>
          <a:p>
            <a:pPr indent="0" lvl="0" marL="0" rtl="0" algn="l">
              <a:lnSpc>
                <a:spcPct val="115000"/>
              </a:lnSpc>
              <a:spcBef>
                <a:spcPts val="600"/>
              </a:spcBef>
              <a:spcAft>
                <a:spcPts val="0"/>
              </a:spcAft>
              <a:buClr>
                <a:schemeClr val="dk1"/>
              </a:buClr>
              <a:buSzPts val="1800"/>
              <a:buFont typeface="Arial"/>
              <a:buNone/>
            </a:pPr>
            <a:r>
              <a:rPr lang="en" sz="1400">
                <a:solidFill>
                  <a:srgbClr val="37474F"/>
                </a:solidFill>
              </a:rPr>
              <a:t>list.fold(0) { acc, x -&gt; acc + x } </a:t>
            </a:r>
            <a:r>
              <a:rPr lang="en" sz="1400">
                <a:solidFill>
                  <a:srgbClr val="666666"/>
                </a:solidFill>
              </a:rPr>
              <a:t>// 6</a:t>
            </a:r>
            <a:endParaRPr sz="1400">
              <a:solidFill>
                <a:srgbClr val="666666"/>
              </a:solidFill>
            </a:endParaRPr>
          </a:p>
          <a:p>
            <a:pPr indent="0" lvl="0" marL="0" rtl="0" algn="l">
              <a:lnSpc>
                <a:spcPct val="115000"/>
              </a:lnSpc>
              <a:spcBef>
                <a:spcPts val="600"/>
              </a:spcBef>
              <a:spcAft>
                <a:spcPts val="0"/>
              </a:spcAft>
              <a:buClr>
                <a:schemeClr val="dk1"/>
              </a:buClr>
              <a:buSzPts val="1800"/>
              <a:buFont typeface="Arial"/>
              <a:buNone/>
            </a:pPr>
            <a:r>
              <a:t/>
            </a:r>
            <a:endParaRPr sz="1400">
              <a:solidFill>
                <a:srgbClr val="666666"/>
              </a:solidFill>
            </a:endParaRPr>
          </a:p>
          <a:p>
            <a:pPr indent="0" lvl="0" marL="0" rtl="0" algn="l">
              <a:lnSpc>
                <a:spcPct val="115000"/>
              </a:lnSpc>
              <a:spcBef>
                <a:spcPts val="600"/>
              </a:spcBef>
              <a:spcAft>
                <a:spcPts val="600"/>
              </a:spcAft>
              <a:buNone/>
            </a:pPr>
            <a:r>
              <a:rPr lang="en" sz="1400">
                <a:latin typeface="Open Sans"/>
                <a:ea typeface="Open Sans"/>
                <a:cs typeface="Open Sans"/>
                <a:sym typeface="Open Sans"/>
              </a:rPr>
              <a:t>You can implement the </a:t>
            </a:r>
            <a:r>
              <a:rPr lang="en" sz="1400">
                <a:solidFill>
                  <a:srgbClr val="37474F"/>
                </a:solidFill>
              </a:rPr>
              <a:t>fold</a:t>
            </a:r>
            <a:r>
              <a:rPr lang="en" sz="1400">
                <a:latin typeface="Open Sans"/>
                <a:ea typeface="Open Sans"/>
                <a:cs typeface="Open Sans"/>
                <a:sym typeface="Open Sans"/>
              </a:rPr>
              <a:t> function for any type, for example, you can fold a tree into a string representation.</a:t>
            </a:r>
            <a:endParaRPr sz="1400"/>
          </a:p>
        </p:txBody>
      </p:sp>
      <p:sp>
        <p:nvSpPr>
          <p:cNvPr id="134" name="Google Shape;134;p2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order functions (HOFs)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5"/>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latin typeface="Open Sans"/>
                <a:ea typeface="Open Sans"/>
                <a:cs typeface="Open Sans"/>
                <a:sym typeface="Open Sans"/>
              </a:rPr>
              <a:t>T</a:t>
            </a:r>
            <a:r>
              <a:rPr lang="en" sz="1100">
                <a:latin typeface="Open Sans"/>
                <a:ea typeface="Open Sans"/>
                <a:cs typeface="Open Sans"/>
                <a:sym typeface="Open Sans"/>
              </a:rPr>
              <a:t>here are also right and left </a:t>
            </a:r>
            <a:r>
              <a:rPr lang="en" sz="1100">
                <a:solidFill>
                  <a:srgbClr val="37474F"/>
                </a:solidFill>
              </a:rPr>
              <a:t>fold</a:t>
            </a:r>
            <a:r>
              <a:rPr lang="en" sz="1100">
                <a:latin typeface="Open Sans"/>
                <a:ea typeface="Open Sans"/>
                <a:cs typeface="Open Sans"/>
                <a:sym typeface="Open Sans"/>
              </a:rPr>
              <a:t>s</a:t>
            </a:r>
            <a:r>
              <a:rPr lang="en" sz="1100">
                <a:latin typeface="Open Sans"/>
                <a:ea typeface="Open Sans"/>
                <a:cs typeface="Open Sans"/>
                <a:sym typeface="Open Sans"/>
              </a:rPr>
              <a:t>. They are equivalent if the operation is associative: (a ○ b) ○ c = a ○ (b ○ c), but in any other case they yield different results.</a:t>
            </a:r>
            <a:endParaRPr sz="1100">
              <a:latin typeface="Open Sans"/>
              <a:ea typeface="Open Sans"/>
              <a:cs typeface="Open Sans"/>
              <a:sym typeface="Open Sans"/>
            </a:endParaRPr>
          </a:p>
          <a:p>
            <a:pPr indent="0" lvl="0" marL="0" rtl="0" algn="l">
              <a:lnSpc>
                <a:spcPct val="115000"/>
              </a:lnSpc>
              <a:spcBef>
                <a:spcPts val="400"/>
              </a:spcBef>
              <a:spcAft>
                <a:spcPts val="0"/>
              </a:spcAft>
              <a:buNone/>
            </a:pPr>
            <a:r>
              <a:t/>
            </a:r>
            <a:endParaRPr sz="11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val</a:t>
            </a:r>
            <a:r>
              <a:rPr lang="en" sz="1100">
                <a:solidFill>
                  <a:srgbClr val="37474F"/>
                </a:solidFill>
              </a:rPr>
              <a:t> list = </a:t>
            </a:r>
            <a:r>
              <a:rPr i="1" lang="en" sz="1100">
                <a:solidFill>
                  <a:srgbClr val="37474F"/>
                </a:solidFill>
              </a:rPr>
              <a:t>listOf</a:t>
            </a:r>
            <a:r>
              <a:rPr lang="en" sz="1100">
                <a:solidFill>
                  <a:srgbClr val="37474F"/>
                </a:solidFill>
              </a:rPr>
              <a:t>(1, 2, 3)</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list.</a:t>
            </a:r>
            <a:r>
              <a:rPr i="1" lang="en" sz="1100">
                <a:solidFill>
                  <a:srgbClr val="37474F"/>
                </a:solidFill>
              </a:rPr>
              <a:t>fold</a:t>
            </a:r>
            <a:r>
              <a:rPr lang="en" sz="1100">
                <a:solidFill>
                  <a:srgbClr val="37474F"/>
                </a:solidFill>
              </a:rPr>
              <a:t>(0) { acc, x -&gt; acc + x } 	</a:t>
            </a:r>
            <a:r>
              <a:rPr lang="en" sz="1100">
                <a:solidFill>
                  <a:srgbClr val="666666"/>
                </a:solidFill>
              </a:rPr>
              <a:t>// (((0 + 1) + 2) + 3) = 6</a:t>
            </a:r>
            <a:endParaRPr sz="1100">
              <a:solidFill>
                <a:srgbClr val="666666"/>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list.</a:t>
            </a:r>
            <a:r>
              <a:rPr i="1" lang="en" sz="1100">
                <a:solidFill>
                  <a:srgbClr val="37474F"/>
                </a:solidFill>
              </a:rPr>
              <a:t>foldRight</a:t>
            </a:r>
            <a:r>
              <a:rPr lang="en" sz="1100">
                <a:solidFill>
                  <a:srgbClr val="37474F"/>
                </a:solidFill>
              </a:rPr>
              <a:t>(0) { x, acc -&gt; acc + x } </a:t>
            </a:r>
            <a:r>
              <a:rPr lang="en" sz="1100">
                <a:solidFill>
                  <a:srgbClr val="666666"/>
                </a:solidFill>
              </a:rPr>
              <a:t>// (1 + (2 + (3 + 0))) = 6</a:t>
            </a:r>
            <a:endParaRPr sz="1100">
              <a:solidFill>
                <a:srgbClr val="666666"/>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666666"/>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008000"/>
                </a:solidFill>
              </a:rPr>
              <a:t>"PWND"</a:t>
            </a:r>
            <a:r>
              <a:rPr lang="en" sz="1100">
                <a:solidFill>
                  <a:srgbClr val="37474F"/>
                </a:solidFill>
              </a:rPr>
              <a:t>.</a:t>
            </a:r>
            <a:r>
              <a:rPr i="1" lang="en" sz="1100">
                <a:solidFill>
                  <a:srgbClr val="37474F"/>
                </a:solidFill>
              </a:rPr>
              <a:t>fold</a:t>
            </a:r>
            <a:r>
              <a:rPr lang="en" sz="1100">
                <a:solidFill>
                  <a:srgbClr val="37474F"/>
                </a:solidFill>
              </a:rPr>
              <a:t>(</a:t>
            </a:r>
            <a:r>
              <a:rPr lang="en" sz="1100">
                <a:solidFill>
                  <a:srgbClr val="008000"/>
                </a:solidFill>
              </a:rPr>
              <a:t>""</a:t>
            </a:r>
            <a:r>
              <a:rPr lang="en" sz="1100">
                <a:solidFill>
                  <a:srgbClr val="37474F"/>
                </a:solidFill>
              </a:rPr>
              <a:t>) { acc, x -&gt; </a:t>
            </a:r>
            <a:r>
              <a:rPr lang="en" sz="1100">
                <a:solidFill>
                  <a:srgbClr val="008000"/>
                </a:solidFill>
              </a:rPr>
              <a:t>"${acc}${acc}$x"</a:t>
            </a:r>
            <a:r>
              <a:rPr lang="en" sz="1100">
                <a:solidFill>
                  <a:srgbClr val="37474F"/>
                </a:solidFill>
              </a:rPr>
              <a:t> } 		</a:t>
            </a:r>
            <a:r>
              <a:rPr lang="en" sz="1100"/>
              <a:t>// PPWPPWNPPWPPWND</a:t>
            </a:r>
            <a:endParaRPr sz="1100"/>
          </a:p>
          <a:p>
            <a:pPr indent="0" lvl="0" marL="0" rtl="0" algn="l">
              <a:lnSpc>
                <a:spcPct val="115000"/>
              </a:lnSpc>
              <a:spcBef>
                <a:spcPts val="400"/>
              </a:spcBef>
              <a:spcAft>
                <a:spcPts val="0"/>
              </a:spcAft>
              <a:buClr>
                <a:schemeClr val="dk1"/>
              </a:buClr>
              <a:buSzPts val="1800"/>
              <a:buFont typeface="Arial"/>
              <a:buNone/>
            </a:pPr>
            <a:r>
              <a:rPr lang="en" sz="1100">
                <a:solidFill>
                  <a:srgbClr val="008000"/>
                </a:solidFill>
              </a:rPr>
              <a:t>"PWND"</a:t>
            </a:r>
            <a:r>
              <a:rPr lang="en" sz="1100">
                <a:solidFill>
                  <a:srgbClr val="37474F"/>
                </a:solidFill>
              </a:rPr>
              <a:t>.</a:t>
            </a:r>
            <a:r>
              <a:rPr i="1" lang="en" sz="1100">
                <a:solidFill>
                  <a:srgbClr val="37474F"/>
                </a:solidFill>
              </a:rPr>
              <a:t>foldRight</a:t>
            </a:r>
            <a:r>
              <a:rPr lang="en" sz="1100">
                <a:solidFill>
                  <a:srgbClr val="37474F"/>
                </a:solidFill>
              </a:rPr>
              <a:t>(</a:t>
            </a:r>
            <a:r>
              <a:rPr lang="en" sz="1100">
                <a:solidFill>
                  <a:srgbClr val="008000"/>
                </a:solidFill>
              </a:rPr>
              <a:t>""</a:t>
            </a:r>
            <a:r>
              <a:rPr lang="en" sz="1100">
                <a:solidFill>
                  <a:srgbClr val="37474F"/>
                </a:solidFill>
              </a:rPr>
              <a:t>) { x, acc -&gt; </a:t>
            </a:r>
            <a:r>
              <a:rPr lang="en" sz="1100">
                <a:solidFill>
                  <a:srgbClr val="008000"/>
                </a:solidFill>
              </a:rPr>
              <a:t>"${acc}${acc}$x"</a:t>
            </a:r>
            <a:r>
              <a:rPr lang="en" sz="1100">
                <a:solidFill>
                  <a:srgbClr val="37474F"/>
                </a:solidFill>
              </a:rPr>
              <a:t> } 	</a:t>
            </a:r>
            <a:r>
              <a:rPr lang="en" sz="1100"/>
              <a:t>// DDNDDNWDDNDDNWP</a:t>
            </a:r>
            <a:endParaRPr sz="1100"/>
          </a:p>
          <a:p>
            <a:pPr indent="0" lvl="0" marL="0" rtl="0" algn="l">
              <a:lnSpc>
                <a:spcPct val="115000"/>
              </a:lnSpc>
              <a:spcBef>
                <a:spcPts val="400"/>
              </a:spcBef>
              <a:spcAft>
                <a:spcPts val="0"/>
              </a:spcAft>
              <a:buClr>
                <a:schemeClr val="dk1"/>
              </a:buClr>
              <a:buSzPts val="1800"/>
              <a:buFont typeface="Arial"/>
              <a:buNone/>
            </a:pPr>
            <a:r>
              <a:t/>
            </a:r>
            <a:endParaRPr sz="1100">
              <a:solidFill>
                <a:srgbClr val="666666"/>
              </a:solidFill>
            </a:endParaRPr>
          </a:p>
          <a:p>
            <a:pPr indent="0" lvl="0" marL="0" rtl="0" algn="l">
              <a:lnSpc>
                <a:spcPct val="115000"/>
              </a:lnSpc>
              <a:spcBef>
                <a:spcPts val="400"/>
              </a:spcBef>
              <a:spcAft>
                <a:spcPts val="0"/>
              </a:spcAft>
              <a:buClr>
                <a:schemeClr val="dk1"/>
              </a:buClr>
              <a:buSzPts val="1800"/>
              <a:buFont typeface="Arial"/>
              <a:buNone/>
            </a:pPr>
            <a:r>
              <a:rPr lang="en" sz="1100">
                <a:latin typeface="Open Sans"/>
                <a:ea typeface="Open Sans"/>
                <a:cs typeface="Open Sans"/>
                <a:sym typeface="Open Sans"/>
              </a:rPr>
              <a:t>Be careful with the order of your l</a:t>
            </a:r>
            <a:r>
              <a:rPr lang="en" sz="1100">
                <a:latin typeface="Open Sans"/>
                <a:ea typeface="Open Sans"/>
                <a:cs typeface="Open Sans"/>
                <a:sym typeface="Open Sans"/>
              </a:rPr>
              <a:t>ambdas’ arguments:</a:t>
            </a:r>
            <a:endParaRPr sz="1100">
              <a:solidFill>
                <a:srgbClr val="666666"/>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list.</a:t>
            </a:r>
            <a:r>
              <a:rPr i="1" lang="en" sz="1100">
                <a:solidFill>
                  <a:srgbClr val="37474F"/>
                </a:solidFill>
              </a:rPr>
              <a:t>fold</a:t>
            </a:r>
            <a:r>
              <a:rPr lang="en" sz="1100">
                <a:solidFill>
                  <a:srgbClr val="37474F"/>
                </a:solidFill>
              </a:rPr>
              <a:t>(0) { acc, x -&gt; acc - x } </a:t>
            </a:r>
            <a:r>
              <a:rPr lang="en" sz="1100">
                <a:solidFill>
                  <a:srgbClr val="666666"/>
                </a:solidFill>
              </a:rPr>
              <a:t>// (((0 - 1) - 2) - 3) = -6</a:t>
            </a:r>
            <a:endParaRPr sz="1100">
              <a:solidFill>
                <a:srgbClr val="666666"/>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list.</a:t>
            </a:r>
            <a:r>
              <a:rPr i="1" lang="en" sz="1100">
                <a:solidFill>
                  <a:srgbClr val="37474F"/>
                </a:solidFill>
              </a:rPr>
              <a:t>foldRight</a:t>
            </a:r>
            <a:r>
              <a:rPr lang="en" sz="1100">
                <a:solidFill>
                  <a:srgbClr val="37474F"/>
                </a:solidFill>
              </a:rPr>
              <a:t>(0) { x, acc -&gt; acc - x } </a:t>
            </a:r>
            <a:r>
              <a:rPr lang="en" sz="1100">
                <a:solidFill>
                  <a:srgbClr val="666666"/>
                </a:solidFill>
              </a:rPr>
              <a:t>// (-1 + (-2 + (0 - 3))) = -6</a:t>
            </a:r>
            <a:endParaRPr sz="1100">
              <a:solidFill>
                <a:srgbClr val="666666"/>
              </a:solidFill>
            </a:endParaRPr>
          </a:p>
          <a:p>
            <a:pPr indent="0" lvl="0" marL="0" rtl="0" algn="l">
              <a:lnSpc>
                <a:spcPct val="115000"/>
              </a:lnSpc>
              <a:spcBef>
                <a:spcPts val="400"/>
              </a:spcBef>
              <a:spcAft>
                <a:spcPts val="0"/>
              </a:spcAft>
              <a:buNone/>
            </a:pPr>
            <a:r>
              <a:rPr lang="en" sz="1100">
                <a:solidFill>
                  <a:srgbClr val="990000"/>
                </a:solidFill>
              </a:rPr>
              <a:t>list.</a:t>
            </a:r>
            <a:r>
              <a:rPr i="1" lang="en" sz="1100">
                <a:solidFill>
                  <a:srgbClr val="990000"/>
                </a:solidFill>
              </a:rPr>
              <a:t>foldRight</a:t>
            </a:r>
            <a:r>
              <a:rPr lang="en" sz="1100">
                <a:solidFill>
                  <a:srgbClr val="990000"/>
                </a:solidFill>
              </a:rPr>
              <a:t>(0) { acc, x -&gt; acc - x } // (1 - (2 - (3 - 0))) = 2</a:t>
            </a:r>
            <a:endParaRPr sz="1100">
              <a:solidFill>
                <a:srgbClr val="990000"/>
              </a:solidFill>
            </a:endParaRPr>
          </a:p>
          <a:p>
            <a:pPr indent="0" lvl="0" marL="0" rtl="0" algn="l">
              <a:lnSpc>
                <a:spcPct val="115000"/>
              </a:lnSpc>
              <a:spcBef>
                <a:spcPts val="400"/>
              </a:spcBef>
              <a:spcAft>
                <a:spcPts val="400"/>
              </a:spcAft>
              <a:buNone/>
            </a:pPr>
            <a:r>
              <a:t/>
            </a:r>
            <a:endParaRPr sz="1100"/>
          </a:p>
        </p:txBody>
      </p:sp>
      <p:sp>
        <p:nvSpPr>
          <p:cNvPr id="140" name="Google Shape;140;p2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order functions (HOFs)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6"/>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val</a:t>
            </a:r>
            <a:r>
              <a:rPr lang="en" sz="1100">
                <a:solidFill>
                  <a:srgbClr val="37474F"/>
                </a:solidFill>
              </a:rPr>
              <a:t> string = </a:t>
            </a:r>
            <a:r>
              <a:rPr lang="en" sz="1100">
                <a:solidFill>
                  <a:srgbClr val="008000"/>
                </a:solidFill>
              </a:rPr>
              <a:t>"""</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One-one was a race horse.</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Two-two was one too.</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One-one won one race.</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Two-two won one too. </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a:t>
            </a:r>
            <a:r>
              <a:rPr lang="en" sz="1100">
                <a:solidFill>
                  <a:srgbClr val="37474F"/>
                </a:solidFill>
              </a:rPr>
              <a:t>.trimIndent()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val</a:t>
            </a:r>
            <a:r>
              <a:rPr lang="en" sz="1100">
                <a:solidFill>
                  <a:srgbClr val="37474F"/>
                </a:solidFill>
              </a:rPr>
              <a:t> result = string</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.split(</a:t>
            </a:r>
            <a:r>
              <a:rPr lang="en" sz="1100">
                <a:solidFill>
                  <a:srgbClr val="008000"/>
                </a:solidFill>
              </a:rPr>
              <a:t>" "</a:t>
            </a:r>
            <a:r>
              <a:rPr lang="en" sz="1100">
                <a:solidFill>
                  <a:srgbClr val="37474F"/>
                </a:solidFill>
              </a:rPr>
              <a:t>, </a:t>
            </a:r>
            <a:r>
              <a:rPr lang="en" sz="1100">
                <a:solidFill>
                  <a:srgbClr val="008000"/>
                </a:solidFill>
              </a:rPr>
              <a:t>"-"</a:t>
            </a:r>
            <a:r>
              <a:rPr lang="en" sz="1100">
                <a:solidFill>
                  <a:srgbClr val="37474F"/>
                </a:solidFill>
              </a:rPr>
              <a:t>, </a:t>
            </a:r>
            <a:r>
              <a:rPr lang="en" sz="1100">
                <a:solidFill>
                  <a:srgbClr val="008000"/>
                </a:solidFill>
              </a:rPr>
              <a:t>"."</a:t>
            </a:r>
            <a:r>
              <a:rPr lang="en" sz="1100">
                <a:solidFill>
                  <a:srgbClr val="37474F"/>
                </a:solidFill>
              </a:rPr>
              <a:t>, System.lineSeparator())</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.filter { it.isNotEmpty()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.map { it.lowercase()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.groupingBy { it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.eachCount()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.toList()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.sortedBy { (_, count) -&gt; count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.reversed()</a:t>
            </a:r>
            <a:endParaRPr sz="1100">
              <a:solidFill>
                <a:srgbClr val="37474F"/>
              </a:solidFill>
            </a:endParaRPr>
          </a:p>
          <a:p>
            <a:pPr indent="0" lvl="0" marL="0" rtl="0" algn="l">
              <a:lnSpc>
                <a:spcPct val="115000"/>
              </a:lnSpc>
              <a:spcBef>
                <a:spcPts val="0"/>
              </a:spcBef>
              <a:spcAft>
                <a:spcPts val="0"/>
              </a:spcAft>
              <a:buNone/>
            </a:pPr>
            <a:r>
              <a:t/>
            </a:r>
            <a:endParaRPr sz="1100"/>
          </a:p>
        </p:txBody>
      </p:sp>
      <p:sp>
        <p:nvSpPr>
          <p:cNvPr id="146" name="Google Shape;146;p2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order functions (HOFs)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7"/>
          <p:cNvSpPr txBox="1"/>
          <p:nvPr>
            <p:ph idx="1" type="body"/>
          </p:nvPr>
        </p:nvSpPr>
        <p:spPr>
          <a:xfrm>
            <a:off x="292600" y="1335025"/>
            <a:ext cx="8326800" cy="19311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val</a:t>
            </a:r>
            <a:r>
              <a:rPr lang="en" sz="1100">
                <a:solidFill>
                  <a:srgbClr val="37474F"/>
                </a:solidFill>
              </a:rPr>
              <a:t> string = </a:t>
            </a:r>
            <a:r>
              <a:rPr lang="en" sz="1100">
                <a:solidFill>
                  <a:srgbClr val="008000"/>
                </a:solidFill>
              </a:rPr>
              <a:t>"""</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One-one was a race horse.</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Two-two was one too.</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One-one won one race.</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Two-two won one too. </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a:t>
            </a:r>
            <a:r>
              <a:rPr lang="en" sz="1100">
                <a:solidFill>
                  <a:srgbClr val="37474F"/>
                </a:solidFill>
              </a:rPr>
              <a:t>.trimIndent()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val</a:t>
            </a:r>
            <a:r>
              <a:rPr lang="en" sz="1100">
                <a:solidFill>
                  <a:srgbClr val="37474F"/>
                </a:solidFill>
              </a:rPr>
              <a:t> result = string</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7474F"/>
                </a:solidFill>
                <a:highlight>
                  <a:srgbClr val="B6D7A8"/>
                </a:highlight>
              </a:rPr>
              <a:t>.split(</a:t>
            </a:r>
            <a:r>
              <a:rPr lang="en" sz="1100">
                <a:solidFill>
                  <a:srgbClr val="008000"/>
                </a:solidFill>
                <a:highlight>
                  <a:srgbClr val="B6D7A8"/>
                </a:highlight>
              </a:rPr>
              <a:t>" "</a:t>
            </a:r>
            <a:r>
              <a:rPr lang="en" sz="1100">
                <a:solidFill>
                  <a:srgbClr val="37474F"/>
                </a:solidFill>
                <a:highlight>
                  <a:srgbClr val="B6D7A8"/>
                </a:highlight>
              </a:rPr>
              <a:t>, </a:t>
            </a:r>
            <a:r>
              <a:rPr lang="en" sz="1100">
                <a:solidFill>
                  <a:srgbClr val="008000"/>
                </a:solidFill>
                <a:highlight>
                  <a:srgbClr val="B6D7A8"/>
                </a:highlight>
              </a:rPr>
              <a:t>"-"</a:t>
            </a:r>
            <a:r>
              <a:rPr lang="en" sz="1100">
                <a:solidFill>
                  <a:srgbClr val="37474F"/>
                </a:solidFill>
                <a:highlight>
                  <a:srgbClr val="B6D7A8"/>
                </a:highlight>
              </a:rPr>
              <a:t>, </a:t>
            </a:r>
            <a:r>
              <a:rPr lang="en" sz="1100">
                <a:solidFill>
                  <a:srgbClr val="008000"/>
                </a:solidFill>
                <a:highlight>
                  <a:srgbClr val="B6D7A8"/>
                </a:highlight>
              </a:rPr>
              <a:t>"."</a:t>
            </a:r>
            <a:r>
              <a:rPr lang="en" sz="1100">
                <a:solidFill>
                  <a:srgbClr val="37474F"/>
                </a:solidFill>
                <a:highlight>
                  <a:srgbClr val="B6D7A8"/>
                </a:highlight>
              </a:rPr>
              <a:t>, System.lineSeparator())</a:t>
            </a:r>
            <a:r>
              <a:rPr lang="en" sz="1100">
                <a:solidFill>
                  <a:srgbClr val="37474F"/>
                </a:solidFill>
              </a:rPr>
              <a:t>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600"/>
              </a:spcAft>
              <a:buNone/>
            </a:pPr>
            <a:r>
              <a:t/>
            </a:r>
            <a:endParaRPr sz="1100"/>
          </a:p>
        </p:txBody>
      </p:sp>
      <p:sp>
        <p:nvSpPr>
          <p:cNvPr id="152" name="Google Shape;152;p27"/>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order functions (HOFs)</a:t>
            </a:r>
            <a:endParaRPr/>
          </a:p>
        </p:txBody>
      </p:sp>
      <p:sp>
        <p:nvSpPr>
          <p:cNvPr id="153" name="Google Shape;153;p27"/>
          <p:cNvSpPr txBox="1"/>
          <p:nvPr>
            <p:ph idx="1" type="body"/>
          </p:nvPr>
        </p:nvSpPr>
        <p:spPr>
          <a:xfrm>
            <a:off x="292600" y="3340875"/>
            <a:ext cx="7022700" cy="572400"/>
          </a:xfrm>
          <a:prstGeom prst="rect">
            <a:avLst/>
          </a:prstGeom>
        </p:spPr>
        <p:txBody>
          <a:bodyPr anchorCtr="0" anchor="t" bIns="91425" lIns="320025" spcFirstLastPara="1" rIns="91425" wrap="square" tIns="91425">
            <a:noAutofit/>
          </a:bodyPr>
          <a:lstStyle/>
          <a:p>
            <a:pPr indent="0" lvl="0" marL="0" rtl="0" algn="l">
              <a:lnSpc>
                <a:spcPct val="100000"/>
              </a:lnSpc>
              <a:spcBef>
                <a:spcPts val="0"/>
              </a:spcBef>
              <a:spcAft>
                <a:spcPts val="0"/>
              </a:spcAft>
              <a:buNone/>
            </a:pPr>
            <a:r>
              <a:rPr lang="en" sz="1100">
                <a:solidFill>
                  <a:srgbClr val="37474F"/>
                </a:solidFill>
              </a:rPr>
              <a:t>[One, one, was, a, race, horse, , Two, two, was, one, too, , One, one, won, one, race, , Two, two, won, one, too, , ]</a:t>
            </a:r>
            <a:endParaRPr sz="1100">
              <a:solidFill>
                <a:srgbClr val="00008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8"/>
          <p:cNvSpPr txBox="1"/>
          <p:nvPr/>
        </p:nvSpPr>
        <p:spPr>
          <a:xfrm>
            <a:off x="292600" y="3508575"/>
            <a:ext cx="6645900" cy="523200"/>
          </a:xfrm>
          <a:prstGeom prst="rect">
            <a:avLst/>
          </a:prstGeom>
          <a:noFill/>
          <a:ln>
            <a:noFill/>
          </a:ln>
        </p:spPr>
        <p:txBody>
          <a:bodyPr anchorCtr="0" anchor="t" bIns="91425" lIns="3200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100" u="none" cap="none" strike="noStrike">
                <a:solidFill>
                  <a:srgbClr val="37474F"/>
                </a:solidFill>
                <a:latin typeface="JetBrains Mono"/>
                <a:ea typeface="JetBrains Mono"/>
                <a:cs typeface="JetBrains Mono"/>
                <a:sym typeface="JetBrains Mono"/>
              </a:rPr>
              <a:t>[One, one, was, a, race, horse, Two, two, was, one, too, One, one, won, one, race, Two, two, won, one, too]</a:t>
            </a:r>
            <a:endParaRPr b="0" i="0" sz="1100" u="none" cap="none" strike="noStrike">
              <a:solidFill>
                <a:srgbClr val="37474F"/>
              </a:solidFill>
              <a:latin typeface="JetBrains Mono"/>
              <a:ea typeface="JetBrains Mono"/>
              <a:cs typeface="JetBrains Mono"/>
              <a:sym typeface="JetBrains Mono"/>
            </a:endParaRPr>
          </a:p>
        </p:txBody>
      </p:sp>
      <p:sp>
        <p:nvSpPr>
          <p:cNvPr id="159" name="Google Shape;159;p28"/>
          <p:cNvSpPr txBox="1"/>
          <p:nvPr>
            <p:ph idx="1" type="body"/>
          </p:nvPr>
        </p:nvSpPr>
        <p:spPr>
          <a:xfrm>
            <a:off x="292600" y="1335025"/>
            <a:ext cx="8326800" cy="1490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val</a:t>
            </a:r>
            <a:r>
              <a:rPr lang="en" sz="1100">
                <a:solidFill>
                  <a:srgbClr val="37474F"/>
                </a:solidFill>
              </a:rPr>
              <a:t> string = </a:t>
            </a:r>
            <a:r>
              <a:rPr lang="en" sz="1100">
                <a:solidFill>
                  <a:srgbClr val="008000"/>
                </a:solidFill>
              </a:rPr>
              <a:t>"""</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One-one was a race horse.</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Two-two was one too.</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One-one won one race.</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Two-two won one too. </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a:t>
            </a:r>
            <a:r>
              <a:rPr lang="en" sz="1100">
                <a:solidFill>
                  <a:srgbClr val="37474F"/>
                </a:solidFill>
              </a:rPr>
              <a:t>.trimIndent()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val</a:t>
            </a:r>
            <a:r>
              <a:rPr lang="en" sz="1100">
                <a:solidFill>
                  <a:srgbClr val="37474F"/>
                </a:solidFill>
              </a:rPr>
              <a:t> result = string</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.split(</a:t>
            </a:r>
            <a:r>
              <a:rPr lang="en" sz="1100">
                <a:solidFill>
                  <a:srgbClr val="008000"/>
                </a:solidFill>
              </a:rPr>
              <a:t>" "</a:t>
            </a:r>
            <a:r>
              <a:rPr lang="en" sz="1100">
                <a:solidFill>
                  <a:srgbClr val="37474F"/>
                </a:solidFill>
              </a:rPr>
              <a:t>, </a:t>
            </a:r>
            <a:r>
              <a:rPr lang="en" sz="1100">
                <a:solidFill>
                  <a:srgbClr val="008000"/>
                </a:solidFill>
              </a:rPr>
              <a:t>"-"</a:t>
            </a:r>
            <a:r>
              <a:rPr lang="en" sz="1100">
                <a:solidFill>
                  <a:srgbClr val="37474F"/>
                </a:solidFill>
              </a:rPr>
              <a:t>, </a:t>
            </a:r>
            <a:r>
              <a:rPr lang="en" sz="1100">
                <a:solidFill>
                  <a:srgbClr val="008000"/>
                </a:solidFill>
              </a:rPr>
              <a:t>"."</a:t>
            </a:r>
            <a:r>
              <a:rPr lang="en" sz="1100">
                <a:solidFill>
                  <a:srgbClr val="37474F"/>
                </a:solidFill>
              </a:rPr>
              <a:t>, System.lineSeparator())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7474F"/>
                </a:solidFill>
              </a:rPr>
              <a:t> </a:t>
            </a:r>
            <a:r>
              <a:rPr lang="en" sz="1100">
                <a:solidFill>
                  <a:srgbClr val="37474F"/>
                </a:solidFill>
                <a:highlight>
                  <a:srgbClr val="B6D7A8"/>
                </a:highlight>
              </a:rPr>
              <a:t>.filter { it.isNotEmpty() }</a:t>
            </a:r>
            <a:endParaRPr sz="1100">
              <a:solidFill>
                <a:srgbClr val="37474F"/>
              </a:solidFill>
              <a:highlight>
                <a:srgbClr val="B6D7A8"/>
              </a:highlight>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None/>
            </a:pPr>
            <a:r>
              <a:t/>
            </a:r>
            <a:endParaRPr sz="1100"/>
          </a:p>
        </p:txBody>
      </p:sp>
      <p:sp>
        <p:nvSpPr>
          <p:cNvPr id="160" name="Google Shape;160;p28"/>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order functions (HOFs)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9"/>
          <p:cNvSpPr txBox="1"/>
          <p:nvPr/>
        </p:nvSpPr>
        <p:spPr>
          <a:xfrm>
            <a:off x="292600" y="3717700"/>
            <a:ext cx="6273300" cy="523200"/>
          </a:xfrm>
          <a:prstGeom prst="rect">
            <a:avLst/>
          </a:prstGeom>
          <a:noFill/>
          <a:ln>
            <a:noFill/>
          </a:ln>
        </p:spPr>
        <p:txBody>
          <a:bodyPr anchorCtr="0" anchor="t" bIns="91425" lIns="3200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100" u="none" cap="none" strike="noStrike">
                <a:solidFill>
                  <a:srgbClr val="37474F"/>
                </a:solidFill>
                <a:latin typeface="JetBrains Mono"/>
                <a:ea typeface="JetBrains Mono"/>
                <a:cs typeface="JetBrains Mono"/>
                <a:sym typeface="JetBrains Mono"/>
              </a:rPr>
              <a:t>[one, one, was, a, race, horse, two, two, was, one, too, one, one, won, one, race, two, two, won, one, too]</a:t>
            </a:r>
            <a:endParaRPr b="0" i="0" sz="1100" u="none" cap="none" strike="noStrike">
              <a:solidFill>
                <a:srgbClr val="000000"/>
              </a:solidFill>
              <a:latin typeface="Arial"/>
              <a:ea typeface="Arial"/>
              <a:cs typeface="Arial"/>
              <a:sym typeface="Arial"/>
            </a:endParaRPr>
          </a:p>
        </p:txBody>
      </p:sp>
      <p:sp>
        <p:nvSpPr>
          <p:cNvPr id="166" name="Google Shape;166;p29"/>
          <p:cNvSpPr txBox="1"/>
          <p:nvPr>
            <p:ph idx="1" type="body"/>
          </p:nvPr>
        </p:nvSpPr>
        <p:spPr>
          <a:xfrm>
            <a:off x="292600" y="1335024"/>
            <a:ext cx="8326800" cy="12366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val</a:t>
            </a:r>
            <a:r>
              <a:rPr lang="en" sz="1100">
                <a:solidFill>
                  <a:srgbClr val="37474F"/>
                </a:solidFill>
              </a:rPr>
              <a:t> string = </a:t>
            </a:r>
            <a:r>
              <a:rPr lang="en" sz="1100">
                <a:solidFill>
                  <a:srgbClr val="008000"/>
                </a:solidFill>
              </a:rPr>
              <a:t>"""</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One-one was a race horse.</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Two-two was one too.</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One-one won one race.</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Two-two won one too. </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a:t>
            </a:r>
            <a:r>
              <a:rPr lang="en" sz="1100">
                <a:solidFill>
                  <a:srgbClr val="37474F"/>
                </a:solidFill>
              </a:rPr>
              <a:t>.trimIndent()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val</a:t>
            </a:r>
            <a:r>
              <a:rPr lang="en" sz="1100">
                <a:solidFill>
                  <a:srgbClr val="37474F"/>
                </a:solidFill>
              </a:rPr>
              <a:t> result = string</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.split(</a:t>
            </a:r>
            <a:r>
              <a:rPr lang="en" sz="1100">
                <a:solidFill>
                  <a:srgbClr val="008000"/>
                </a:solidFill>
              </a:rPr>
              <a:t>" "</a:t>
            </a:r>
            <a:r>
              <a:rPr lang="en" sz="1100">
                <a:solidFill>
                  <a:srgbClr val="37474F"/>
                </a:solidFill>
              </a:rPr>
              <a:t>, </a:t>
            </a:r>
            <a:r>
              <a:rPr lang="en" sz="1100">
                <a:solidFill>
                  <a:srgbClr val="008000"/>
                </a:solidFill>
              </a:rPr>
              <a:t>"-"</a:t>
            </a:r>
            <a:r>
              <a:rPr lang="en" sz="1100">
                <a:solidFill>
                  <a:srgbClr val="37474F"/>
                </a:solidFill>
              </a:rPr>
              <a:t>, </a:t>
            </a:r>
            <a:r>
              <a:rPr lang="en" sz="1100">
                <a:solidFill>
                  <a:srgbClr val="008000"/>
                </a:solidFill>
              </a:rPr>
              <a:t>"."</a:t>
            </a:r>
            <a:r>
              <a:rPr lang="en" sz="1100">
                <a:solidFill>
                  <a:srgbClr val="37474F"/>
                </a:solidFill>
              </a:rPr>
              <a:t>, System.lineSeparator())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.filter { it.isNotEmpty()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7474F"/>
                </a:solidFill>
                <a:highlight>
                  <a:srgbClr val="B6D7A8"/>
                </a:highlight>
              </a:rPr>
              <a:t>.map { it.lowercase() }</a:t>
            </a:r>
            <a:endParaRPr sz="1100">
              <a:solidFill>
                <a:srgbClr val="37474F"/>
              </a:solidFill>
              <a:highlight>
                <a:srgbClr val="B6D7A8"/>
              </a:highlight>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600"/>
              </a:spcAft>
              <a:buNone/>
            </a:pPr>
            <a:r>
              <a:t/>
            </a:r>
            <a:endParaRPr sz="1100"/>
          </a:p>
        </p:txBody>
      </p:sp>
      <p:sp>
        <p:nvSpPr>
          <p:cNvPr id="167" name="Google Shape;167;p29"/>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order functions (HOFs)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0"/>
          <p:cNvSpPr txBox="1"/>
          <p:nvPr/>
        </p:nvSpPr>
        <p:spPr>
          <a:xfrm>
            <a:off x="620400" y="4322875"/>
            <a:ext cx="6694800" cy="3540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i="0" lang="en" sz="1100" u="none" cap="none" strike="noStrike">
                <a:solidFill>
                  <a:srgbClr val="37474F"/>
                </a:solidFill>
                <a:latin typeface="JetBrains Mono"/>
                <a:ea typeface="JetBrains Mono"/>
                <a:cs typeface="JetBrains Mono"/>
                <a:sym typeface="JetBrains Mono"/>
              </a:rPr>
              <a:t>{one=7, was=2, a=1, race=2, horse=1, two=4, too=2, won=2}</a:t>
            </a:r>
            <a:endParaRPr i="0" sz="1100" u="none" cap="none" strike="noStrike">
              <a:solidFill>
                <a:srgbClr val="000000"/>
              </a:solidFill>
              <a:latin typeface="JetBrains Mono"/>
              <a:ea typeface="JetBrains Mono"/>
              <a:cs typeface="JetBrains Mono"/>
              <a:sym typeface="JetBrains Mono"/>
            </a:endParaRPr>
          </a:p>
        </p:txBody>
      </p:sp>
      <p:sp>
        <p:nvSpPr>
          <p:cNvPr id="173" name="Google Shape;173;p30"/>
          <p:cNvSpPr txBox="1"/>
          <p:nvPr>
            <p:ph idx="4294967295" type="body"/>
          </p:nvPr>
        </p:nvSpPr>
        <p:spPr>
          <a:xfrm>
            <a:off x="4713300" y="3101625"/>
            <a:ext cx="459900" cy="3693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800"/>
              <a:buNone/>
            </a:pPr>
            <a:r>
              <a:rPr b="1" lang="en" sz="1400"/>
              <a:t>OR</a:t>
            </a:r>
            <a:endParaRPr b="1" sz="1200">
              <a:solidFill>
                <a:srgbClr val="666666"/>
              </a:solidFill>
            </a:endParaRPr>
          </a:p>
          <a:p>
            <a:pPr indent="0" lvl="0" marL="0" rtl="0" algn="l">
              <a:lnSpc>
                <a:spcPct val="100000"/>
              </a:lnSpc>
              <a:spcBef>
                <a:spcPts val="0"/>
              </a:spcBef>
              <a:spcAft>
                <a:spcPts val="0"/>
              </a:spcAft>
              <a:buSzPts val="1800"/>
              <a:buNone/>
            </a:pPr>
            <a:r>
              <a:t/>
            </a:r>
            <a:endParaRPr b="1" sz="1200">
              <a:solidFill>
                <a:srgbClr val="666666"/>
              </a:solidFill>
              <a:latin typeface="JetBrains Mono"/>
              <a:ea typeface="JetBrains Mono"/>
              <a:cs typeface="JetBrains Mono"/>
              <a:sym typeface="JetBrains Mono"/>
            </a:endParaRPr>
          </a:p>
          <a:p>
            <a:pPr indent="0" lvl="0" marL="0" rtl="0" algn="l">
              <a:lnSpc>
                <a:spcPct val="100000"/>
              </a:lnSpc>
              <a:spcBef>
                <a:spcPts val="0"/>
              </a:spcBef>
              <a:spcAft>
                <a:spcPts val="0"/>
              </a:spcAft>
              <a:buSzPts val="1800"/>
              <a:buNone/>
            </a:pPr>
            <a:r>
              <a:t/>
            </a:r>
            <a:endParaRPr b="1" sz="1200">
              <a:solidFill>
                <a:srgbClr val="666666"/>
              </a:solidFill>
              <a:latin typeface="JetBrains Mono"/>
              <a:ea typeface="JetBrains Mono"/>
              <a:cs typeface="JetBrains Mono"/>
              <a:sym typeface="JetBrains Mono"/>
            </a:endParaRPr>
          </a:p>
          <a:p>
            <a:pPr indent="0" lvl="0" marL="0" rtl="0" algn="l">
              <a:lnSpc>
                <a:spcPct val="100000"/>
              </a:lnSpc>
              <a:spcBef>
                <a:spcPts val="0"/>
              </a:spcBef>
              <a:spcAft>
                <a:spcPts val="0"/>
              </a:spcAft>
              <a:buSzPts val="1800"/>
              <a:buNone/>
            </a:pPr>
            <a:r>
              <a:t/>
            </a:r>
            <a:endParaRPr b="1" sz="1200">
              <a:solidFill>
                <a:srgbClr val="666666"/>
              </a:solidFill>
              <a:latin typeface="JetBrains Mono"/>
              <a:ea typeface="JetBrains Mono"/>
              <a:cs typeface="JetBrains Mono"/>
              <a:sym typeface="JetBrains Mono"/>
            </a:endParaRPr>
          </a:p>
        </p:txBody>
      </p:sp>
      <p:sp>
        <p:nvSpPr>
          <p:cNvPr id="174" name="Google Shape;174;p30"/>
          <p:cNvSpPr txBox="1"/>
          <p:nvPr>
            <p:ph idx="4294967295" type="body"/>
          </p:nvPr>
        </p:nvSpPr>
        <p:spPr>
          <a:xfrm>
            <a:off x="5289900" y="2660904"/>
            <a:ext cx="3854100" cy="1446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1100">
                <a:solidFill>
                  <a:srgbClr val="37474F"/>
                </a:solidFill>
                <a:latin typeface="JetBrains Mono"/>
                <a:ea typeface="JetBrains Mono"/>
                <a:cs typeface="JetBrains Mono"/>
                <a:sym typeface="JetBrains Mono"/>
              </a:rPr>
              <a:t>string</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SzPts val="1800"/>
              <a:buNone/>
            </a:pPr>
            <a:r>
              <a:rPr lang="en" sz="1100">
                <a:solidFill>
                  <a:srgbClr val="37474F"/>
                </a:solidFill>
                <a:latin typeface="JetBrains Mono"/>
                <a:ea typeface="JetBrains Mono"/>
                <a:cs typeface="JetBrains Mono"/>
                <a:sym typeface="JetBrains Mono"/>
              </a:rPr>
              <a:t>    .split(...)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SzPts val="1800"/>
              <a:buNone/>
            </a:pPr>
            <a:r>
              <a:rPr lang="en" sz="1100">
                <a:solidFill>
                  <a:srgbClr val="37474F"/>
                </a:solidFill>
                <a:latin typeface="JetBrains Mono"/>
                <a:ea typeface="JetBrains Mono"/>
                <a:cs typeface="JetBrains Mono"/>
                <a:sym typeface="JetBrains Mono"/>
              </a:rPr>
              <a:t>    .filter { it.isNotEmpty()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latin typeface="JetBrains Mono"/>
                <a:ea typeface="JetBrains Mono"/>
                <a:cs typeface="JetBrains Mono"/>
                <a:sym typeface="JetBrains Mono"/>
              </a:rPr>
              <a:t>    </a:t>
            </a:r>
            <a:r>
              <a:rPr lang="en" sz="1100">
                <a:solidFill>
                  <a:srgbClr val="37474F"/>
                </a:solidFill>
                <a:highlight>
                  <a:srgbClr val="B6D7A8"/>
                </a:highlight>
                <a:latin typeface="JetBrains Mono"/>
                <a:ea typeface="JetBrains Mono"/>
                <a:cs typeface="JetBrains Mono"/>
                <a:sym typeface="JetBrains Mono"/>
              </a:rPr>
              <a:t>.groupBy({ it.lowercase() }, { it })</a:t>
            </a:r>
            <a:endParaRPr sz="1100">
              <a:solidFill>
                <a:srgbClr val="37474F"/>
              </a:solidFill>
              <a:highlight>
                <a:srgbClr val="B6D7A8"/>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800"/>
              <a:buNone/>
            </a:pPr>
            <a:r>
              <a:rPr lang="en" sz="1100">
                <a:solidFill>
                  <a:srgbClr val="37474F"/>
                </a:solidFill>
                <a:latin typeface="JetBrains Mono"/>
                <a:ea typeface="JetBrains Mono"/>
                <a:cs typeface="JetBrains Mono"/>
                <a:sym typeface="JetBrains Mono"/>
              </a:rPr>
              <a:t>    </a:t>
            </a:r>
            <a:r>
              <a:rPr lang="en" sz="1100">
                <a:solidFill>
                  <a:srgbClr val="37474F"/>
                </a:solidFill>
                <a:highlight>
                  <a:srgbClr val="B6D7A8"/>
                </a:highlight>
                <a:latin typeface="JetBrains Mono"/>
                <a:ea typeface="JetBrains Mono"/>
                <a:cs typeface="JetBrains Mono"/>
                <a:sym typeface="JetBrains Mono"/>
              </a:rPr>
              <a:t>.mapValues { (key, value) -&gt;</a:t>
            </a: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SzPts val="1800"/>
              <a:buNone/>
            </a:pPr>
            <a:r>
              <a:rPr lang="en" sz="1100">
                <a:solidFill>
                  <a:srgbClr val="37474F"/>
                </a:solidFill>
                <a:latin typeface="JetBrains Mono"/>
                <a:ea typeface="JetBrains Mono"/>
                <a:cs typeface="JetBrains Mono"/>
                <a:sym typeface="JetBrains Mono"/>
              </a:rPr>
              <a:t>    </a:t>
            </a:r>
            <a:r>
              <a:rPr lang="en" sz="1100">
                <a:solidFill>
                  <a:srgbClr val="37474F"/>
                </a:solidFill>
                <a:highlight>
                  <a:srgbClr val="B6D7A8"/>
                </a:highlight>
                <a:latin typeface="JetBrains Mono"/>
                <a:ea typeface="JetBrains Mono"/>
                <a:cs typeface="JetBrains Mono"/>
                <a:sym typeface="JetBrains Mono"/>
              </a:rPr>
              <a:t>    value.size</a:t>
            </a:r>
            <a:endParaRPr sz="1100">
              <a:solidFill>
                <a:srgbClr val="37474F"/>
              </a:solidFill>
              <a:highlight>
                <a:srgbClr val="B6D7A8"/>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800"/>
              <a:buNone/>
            </a:pPr>
            <a:r>
              <a:rPr lang="en" sz="1100">
                <a:solidFill>
                  <a:srgbClr val="37474F"/>
                </a:solidFill>
                <a:latin typeface="JetBrains Mono"/>
                <a:ea typeface="JetBrains Mono"/>
                <a:cs typeface="JetBrains Mono"/>
                <a:sym typeface="JetBrains Mono"/>
              </a:rPr>
              <a:t>    </a:t>
            </a:r>
            <a:r>
              <a:rPr lang="en" sz="1100">
                <a:solidFill>
                  <a:srgbClr val="37474F"/>
                </a:solidFill>
                <a:highlight>
                  <a:srgbClr val="B6D7A8"/>
                </a:highlight>
                <a:latin typeface="JetBrains Mono"/>
                <a:ea typeface="JetBrains Mono"/>
                <a:cs typeface="JetBrains Mono"/>
                <a:sym typeface="JetBrains Mono"/>
              </a:rPr>
              <a:t>}</a:t>
            </a:r>
            <a:endParaRPr sz="1100">
              <a:solidFill>
                <a:srgbClr val="37474F"/>
              </a:solidFill>
              <a:highlight>
                <a:srgbClr val="B6D7A8"/>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800"/>
              <a:buNone/>
            </a:pPr>
            <a:r>
              <a:t/>
            </a:r>
            <a:endParaRPr sz="1100">
              <a:solidFill>
                <a:srgbClr val="37474F"/>
              </a:solidFill>
              <a:latin typeface="JetBrains Mono"/>
              <a:ea typeface="JetBrains Mono"/>
              <a:cs typeface="JetBrains Mono"/>
              <a:sym typeface="JetBrains Mono"/>
            </a:endParaRPr>
          </a:p>
        </p:txBody>
      </p:sp>
      <p:sp>
        <p:nvSpPr>
          <p:cNvPr id="175" name="Google Shape;175;p30"/>
          <p:cNvSpPr txBox="1"/>
          <p:nvPr>
            <p:ph idx="1" type="body"/>
          </p:nvPr>
        </p:nvSpPr>
        <p:spPr>
          <a:xfrm>
            <a:off x="292600" y="1335025"/>
            <a:ext cx="4509300" cy="29169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val</a:t>
            </a:r>
            <a:r>
              <a:rPr lang="en" sz="1100">
                <a:solidFill>
                  <a:srgbClr val="37474F"/>
                </a:solidFill>
              </a:rPr>
              <a:t> string = </a:t>
            </a:r>
            <a:r>
              <a:rPr lang="en" sz="1100">
                <a:solidFill>
                  <a:srgbClr val="008000"/>
                </a:solidFill>
              </a:rPr>
              <a:t>"""</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One-one was a race horse.</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Two-two was one too.</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One-one won one race.</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Two-two won one too. </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a:t>
            </a:r>
            <a:r>
              <a:rPr lang="en" sz="1100">
                <a:solidFill>
                  <a:srgbClr val="37474F"/>
                </a:solidFill>
              </a:rPr>
              <a:t>.trimIndent()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val</a:t>
            </a:r>
            <a:r>
              <a:rPr lang="en" sz="1100">
                <a:solidFill>
                  <a:srgbClr val="37474F"/>
                </a:solidFill>
              </a:rPr>
              <a:t> result = string</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.split(</a:t>
            </a:r>
            <a:r>
              <a:rPr lang="en" sz="1100">
                <a:solidFill>
                  <a:srgbClr val="008000"/>
                </a:solidFill>
              </a:rPr>
              <a:t>" "</a:t>
            </a:r>
            <a:r>
              <a:rPr lang="en" sz="1100">
                <a:solidFill>
                  <a:srgbClr val="37474F"/>
                </a:solidFill>
              </a:rPr>
              <a:t>, </a:t>
            </a:r>
            <a:r>
              <a:rPr lang="en" sz="1100">
                <a:solidFill>
                  <a:srgbClr val="008000"/>
                </a:solidFill>
              </a:rPr>
              <a:t>"-"</a:t>
            </a:r>
            <a:r>
              <a:rPr lang="en" sz="1100">
                <a:solidFill>
                  <a:srgbClr val="37474F"/>
                </a:solidFill>
              </a:rPr>
              <a:t>, </a:t>
            </a:r>
            <a:r>
              <a:rPr lang="en" sz="1100">
                <a:solidFill>
                  <a:srgbClr val="008000"/>
                </a:solidFill>
              </a:rPr>
              <a:t>"."</a:t>
            </a:r>
            <a:r>
              <a:rPr lang="en" sz="1100">
                <a:solidFill>
                  <a:srgbClr val="37474F"/>
                </a:solidFill>
              </a:rPr>
              <a:t>, System.lineSeparator())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.filter { it.isNotEmpty()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.map { it.lowercase()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7474F"/>
                </a:solidFill>
                <a:highlight>
                  <a:srgbClr val="B6D7A8"/>
                </a:highlight>
              </a:rPr>
              <a:t>.groupingBy { it }</a:t>
            </a:r>
            <a:endParaRPr sz="1100">
              <a:solidFill>
                <a:srgbClr val="37474F"/>
              </a:solidFill>
              <a:highlight>
                <a:srgbClr val="B6D7A8"/>
              </a:highlight>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7474F"/>
                </a:solidFill>
                <a:highlight>
                  <a:srgbClr val="B6D7A8"/>
                </a:highlight>
              </a:rPr>
              <a:t>.eachCount()</a:t>
            </a:r>
            <a:endParaRPr sz="1100">
              <a:solidFill>
                <a:srgbClr val="37474F"/>
              </a:solidFill>
              <a:highlight>
                <a:srgbClr val="B6D7A8"/>
              </a:highlight>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600"/>
              </a:spcAft>
              <a:buNone/>
            </a:pPr>
            <a:r>
              <a:t/>
            </a:r>
            <a:endParaRPr sz="1100"/>
          </a:p>
        </p:txBody>
      </p:sp>
      <p:sp>
        <p:nvSpPr>
          <p:cNvPr id="176" name="Google Shape;176;p30"/>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order functions (HOFs)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1"/>
          <p:cNvSpPr txBox="1"/>
          <p:nvPr/>
        </p:nvSpPr>
        <p:spPr>
          <a:xfrm>
            <a:off x="292600" y="4270325"/>
            <a:ext cx="5754000" cy="523200"/>
          </a:xfrm>
          <a:prstGeom prst="rect">
            <a:avLst/>
          </a:prstGeom>
          <a:noFill/>
          <a:ln>
            <a:noFill/>
          </a:ln>
        </p:spPr>
        <p:txBody>
          <a:bodyPr anchorCtr="0" anchor="t" bIns="91425" lIns="3200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i="0" lang="en" sz="1100" u="none" cap="none" strike="noStrike">
                <a:solidFill>
                  <a:srgbClr val="37474F"/>
                </a:solidFill>
                <a:latin typeface="JetBrains Mono"/>
                <a:ea typeface="JetBrains Mono"/>
                <a:cs typeface="JetBrains Mono"/>
                <a:sym typeface="JetBrains Mono"/>
              </a:rPr>
              <a:t>[(one, 7), (was, 2), (a, 1), (race, 2), (horse, 1), (two, 4), (too, 2), (won, 2)]</a:t>
            </a:r>
            <a:endParaRPr i="0" sz="1100" u="none" cap="none" strike="noStrike">
              <a:solidFill>
                <a:srgbClr val="000000"/>
              </a:solidFill>
              <a:latin typeface="JetBrains Mono"/>
              <a:ea typeface="JetBrains Mono"/>
              <a:cs typeface="JetBrains Mono"/>
              <a:sym typeface="JetBrains Mono"/>
            </a:endParaRPr>
          </a:p>
        </p:txBody>
      </p:sp>
      <p:sp>
        <p:nvSpPr>
          <p:cNvPr id="182" name="Google Shape;182;p31"/>
          <p:cNvSpPr txBox="1"/>
          <p:nvPr>
            <p:ph idx="1" type="body"/>
          </p:nvPr>
        </p:nvSpPr>
        <p:spPr>
          <a:xfrm>
            <a:off x="292600" y="1335025"/>
            <a:ext cx="8326800" cy="22038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val</a:t>
            </a:r>
            <a:r>
              <a:rPr lang="en" sz="1100">
                <a:solidFill>
                  <a:srgbClr val="37474F"/>
                </a:solidFill>
              </a:rPr>
              <a:t> string = </a:t>
            </a:r>
            <a:r>
              <a:rPr lang="en" sz="1100">
                <a:solidFill>
                  <a:srgbClr val="008000"/>
                </a:solidFill>
              </a:rPr>
              <a:t>"""</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One-one was a race horse.</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Two-two was one too.</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One-one won one race.</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Two-two won one too. </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a:t>
            </a:r>
            <a:r>
              <a:rPr lang="en" sz="1100">
                <a:solidFill>
                  <a:srgbClr val="37474F"/>
                </a:solidFill>
              </a:rPr>
              <a:t>.trimIndent()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val</a:t>
            </a:r>
            <a:r>
              <a:rPr lang="en" sz="1100">
                <a:solidFill>
                  <a:srgbClr val="37474F"/>
                </a:solidFill>
              </a:rPr>
              <a:t> result = string</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.split(</a:t>
            </a:r>
            <a:r>
              <a:rPr lang="en" sz="1100">
                <a:solidFill>
                  <a:srgbClr val="008000"/>
                </a:solidFill>
              </a:rPr>
              <a:t>" "</a:t>
            </a:r>
            <a:r>
              <a:rPr lang="en" sz="1100">
                <a:solidFill>
                  <a:srgbClr val="37474F"/>
                </a:solidFill>
              </a:rPr>
              <a:t>, </a:t>
            </a:r>
            <a:r>
              <a:rPr lang="en" sz="1100">
                <a:solidFill>
                  <a:srgbClr val="008000"/>
                </a:solidFill>
              </a:rPr>
              <a:t>"-"</a:t>
            </a:r>
            <a:r>
              <a:rPr lang="en" sz="1100">
                <a:solidFill>
                  <a:srgbClr val="37474F"/>
                </a:solidFill>
              </a:rPr>
              <a:t>, </a:t>
            </a:r>
            <a:r>
              <a:rPr lang="en" sz="1100">
                <a:solidFill>
                  <a:srgbClr val="008000"/>
                </a:solidFill>
              </a:rPr>
              <a:t>"."</a:t>
            </a:r>
            <a:r>
              <a:rPr lang="en" sz="1100">
                <a:solidFill>
                  <a:srgbClr val="37474F"/>
                </a:solidFill>
              </a:rPr>
              <a:t>, System.lineSeparator())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.filter { it.isNotEmpty()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.map { it.lowercase()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.groupingBy { it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.eachCount()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7474F"/>
                </a:solidFill>
                <a:highlight>
                  <a:srgbClr val="B6D7A8"/>
                </a:highlight>
              </a:rPr>
              <a:t>.toList()</a:t>
            </a:r>
            <a:endParaRPr sz="1100">
              <a:solidFill>
                <a:srgbClr val="37474F"/>
              </a:solidFill>
              <a:highlight>
                <a:srgbClr val="B6D7A8"/>
              </a:highlight>
            </a:endParaRPr>
          </a:p>
          <a:p>
            <a:pPr indent="0" lvl="0" marL="0" rtl="0" algn="l">
              <a:lnSpc>
                <a:spcPct val="115000"/>
              </a:lnSpc>
              <a:spcBef>
                <a:spcPts val="0"/>
              </a:spcBef>
              <a:spcAft>
                <a:spcPts val="600"/>
              </a:spcAft>
              <a:buNone/>
            </a:pPr>
            <a:r>
              <a:t/>
            </a:r>
            <a:endParaRPr sz="1100"/>
          </a:p>
        </p:txBody>
      </p:sp>
      <p:sp>
        <p:nvSpPr>
          <p:cNvPr id="183" name="Google Shape;183;p3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order functions (HOFs)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2"/>
          <p:cNvSpPr txBox="1"/>
          <p:nvPr/>
        </p:nvSpPr>
        <p:spPr>
          <a:xfrm>
            <a:off x="292600" y="4481775"/>
            <a:ext cx="7463700" cy="354000"/>
          </a:xfrm>
          <a:prstGeom prst="rect">
            <a:avLst/>
          </a:prstGeom>
          <a:noFill/>
          <a:ln>
            <a:noFill/>
          </a:ln>
        </p:spPr>
        <p:txBody>
          <a:bodyPr anchorCtr="0" anchor="t" bIns="91425" lIns="3200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i="0" lang="en" sz="1100" u="none" cap="none" strike="noStrike">
                <a:solidFill>
                  <a:srgbClr val="37474F"/>
                </a:solidFill>
                <a:latin typeface="JetBrains Mono"/>
                <a:ea typeface="JetBrains Mono"/>
                <a:cs typeface="JetBrains Mono"/>
                <a:sym typeface="JetBrains Mono"/>
              </a:rPr>
              <a:t>[(a, 1), (horse, 1), (was, 2), (race, 2), (too, 2), (won, 2), (two, 4), (one, 7)]</a:t>
            </a:r>
            <a:endParaRPr i="0" sz="1100" u="none" cap="none" strike="noStrike">
              <a:solidFill>
                <a:srgbClr val="000000"/>
              </a:solidFill>
              <a:latin typeface="JetBrains Mono"/>
              <a:ea typeface="JetBrains Mono"/>
              <a:cs typeface="JetBrains Mono"/>
              <a:sym typeface="JetBrains Mono"/>
            </a:endParaRPr>
          </a:p>
        </p:txBody>
      </p:sp>
      <p:sp>
        <p:nvSpPr>
          <p:cNvPr id="189" name="Google Shape;189;p32"/>
          <p:cNvSpPr txBox="1"/>
          <p:nvPr>
            <p:ph idx="1" type="body"/>
          </p:nvPr>
        </p:nvSpPr>
        <p:spPr>
          <a:xfrm>
            <a:off x="292600" y="1335025"/>
            <a:ext cx="8326800" cy="22971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val</a:t>
            </a:r>
            <a:r>
              <a:rPr lang="en" sz="1100">
                <a:solidFill>
                  <a:srgbClr val="37474F"/>
                </a:solidFill>
              </a:rPr>
              <a:t> string = </a:t>
            </a:r>
            <a:r>
              <a:rPr lang="en" sz="1100">
                <a:solidFill>
                  <a:srgbClr val="008000"/>
                </a:solidFill>
              </a:rPr>
              <a:t>"""</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One-one was a race horse.</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Two-two was one too.</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One-one won one race.</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Two-two won one too. </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a:t>
            </a:r>
            <a:r>
              <a:rPr lang="en" sz="1100">
                <a:solidFill>
                  <a:srgbClr val="37474F"/>
                </a:solidFill>
              </a:rPr>
              <a:t>.trimIndent()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val</a:t>
            </a:r>
            <a:r>
              <a:rPr lang="en" sz="1100">
                <a:solidFill>
                  <a:srgbClr val="37474F"/>
                </a:solidFill>
              </a:rPr>
              <a:t> result = string</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.split(</a:t>
            </a:r>
            <a:r>
              <a:rPr lang="en" sz="1100">
                <a:solidFill>
                  <a:srgbClr val="008000"/>
                </a:solidFill>
              </a:rPr>
              <a:t>" "</a:t>
            </a:r>
            <a:r>
              <a:rPr lang="en" sz="1100">
                <a:solidFill>
                  <a:srgbClr val="37474F"/>
                </a:solidFill>
              </a:rPr>
              <a:t>, </a:t>
            </a:r>
            <a:r>
              <a:rPr lang="en" sz="1100">
                <a:solidFill>
                  <a:srgbClr val="008000"/>
                </a:solidFill>
              </a:rPr>
              <a:t>"-"</a:t>
            </a:r>
            <a:r>
              <a:rPr lang="en" sz="1100">
                <a:solidFill>
                  <a:srgbClr val="37474F"/>
                </a:solidFill>
              </a:rPr>
              <a:t>, </a:t>
            </a:r>
            <a:r>
              <a:rPr lang="en" sz="1100">
                <a:solidFill>
                  <a:srgbClr val="008000"/>
                </a:solidFill>
              </a:rPr>
              <a:t>"."</a:t>
            </a:r>
            <a:r>
              <a:rPr lang="en" sz="1100">
                <a:solidFill>
                  <a:srgbClr val="37474F"/>
                </a:solidFill>
              </a:rPr>
              <a:t>, System.lineSeparator())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.filter { it.isNotEmpty()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.map { it.lowercase()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.groupingBy { it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.eachCount()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.toList()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7474F"/>
                </a:solidFill>
                <a:highlight>
                  <a:srgbClr val="B6D7A8"/>
                </a:highlight>
              </a:rPr>
              <a:t>.sortedBy { (_, count) -&gt; count }</a:t>
            </a:r>
            <a:endParaRPr sz="1100">
              <a:solidFill>
                <a:srgbClr val="37474F"/>
              </a:solidFill>
              <a:highlight>
                <a:srgbClr val="B6D7A8"/>
              </a:highlight>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600"/>
              </a:spcAft>
              <a:buNone/>
            </a:pPr>
            <a:r>
              <a:t/>
            </a:r>
            <a:endParaRPr sz="1100"/>
          </a:p>
        </p:txBody>
      </p:sp>
      <p:sp>
        <p:nvSpPr>
          <p:cNvPr id="190" name="Google Shape;190;p32"/>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order functions (HOFs)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3"/>
          <p:cNvSpPr txBox="1"/>
          <p:nvPr/>
        </p:nvSpPr>
        <p:spPr>
          <a:xfrm>
            <a:off x="292600" y="4157475"/>
            <a:ext cx="3306600" cy="449400"/>
          </a:xfrm>
          <a:prstGeom prst="rect">
            <a:avLst/>
          </a:prstGeom>
          <a:noFill/>
          <a:ln>
            <a:noFill/>
          </a:ln>
        </p:spPr>
        <p:txBody>
          <a:bodyPr anchorCtr="0" anchor="t" bIns="91425" lIns="228600" spcFirstLastPara="1" rIns="91425" wrap="square" tIns="91425">
            <a:spAutoFit/>
          </a:bodyPr>
          <a:lstStyle/>
          <a:p>
            <a:pPr indent="0" lvl="0" marL="0" marR="0" rtl="0" algn="l">
              <a:lnSpc>
                <a:spcPct val="115000"/>
              </a:lnSpc>
              <a:spcBef>
                <a:spcPts val="0"/>
              </a:spcBef>
              <a:spcAft>
                <a:spcPts val="200"/>
              </a:spcAft>
              <a:buClr>
                <a:srgbClr val="000000"/>
              </a:buClr>
              <a:buSzPts val="1200"/>
              <a:buFont typeface="Arial"/>
              <a:buNone/>
            </a:pPr>
            <a:r>
              <a:rPr i="0" lang="en" sz="800" u="none" cap="none" strike="noStrike">
                <a:solidFill>
                  <a:srgbClr val="37474F"/>
                </a:solidFill>
                <a:latin typeface="JetBrains Mono"/>
                <a:ea typeface="JetBrains Mono"/>
                <a:cs typeface="JetBrains Mono"/>
                <a:sym typeface="JetBrains Mono"/>
              </a:rPr>
              <a:t>[(one, 7), (two, 4), (won, 2), (too, 2), (race, 2), (was, 2), (horse, 1), (a, 1)]</a:t>
            </a:r>
            <a:endParaRPr i="0" sz="800" u="none" cap="none" strike="noStrike">
              <a:solidFill>
                <a:srgbClr val="000000"/>
              </a:solidFill>
              <a:latin typeface="JetBrains Mono"/>
              <a:ea typeface="JetBrains Mono"/>
              <a:cs typeface="JetBrains Mono"/>
              <a:sym typeface="JetBrains Mono"/>
            </a:endParaRPr>
          </a:p>
        </p:txBody>
      </p:sp>
      <p:sp>
        <p:nvSpPr>
          <p:cNvPr id="196" name="Google Shape;196;p33"/>
          <p:cNvSpPr txBox="1"/>
          <p:nvPr>
            <p:ph idx="4294967295" type="body"/>
          </p:nvPr>
        </p:nvSpPr>
        <p:spPr>
          <a:xfrm>
            <a:off x="4075975" y="2279225"/>
            <a:ext cx="459900" cy="3693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800"/>
              <a:buNone/>
            </a:pPr>
            <a:r>
              <a:rPr b="1" lang="en" sz="1400"/>
              <a:t>OR</a:t>
            </a:r>
            <a:endParaRPr b="1" sz="1200">
              <a:solidFill>
                <a:srgbClr val="666666"/>
              </a:solidFill>
            </a:endParaRPr>
          </a:p>
          <a:p>
            <a:pPr indent="0" lvl="0" marL="0" rtl="0" algn="l">
              <a:lnSpc>
                <a:spcPct val="100000"/>
              </a:lnSpc>
              <a:spcBef>
                <a:spcPts val="0"/>
              </a:spcBef>
              <a:spcAft>
                <a:spcPts val="0"/>
              </a:spcAft>
              <a:buSzPts val="1800"/>
              <a:buNone/>
            </a:pPr>
            <a:r>
              <a:t/>
            </a:r>
            <a:endParaRPr b="1" sz="1200">
              <a:solidFill>
                <a:srgbClr val="666666"/>
              </a:solidFill>
              <a:latin typeface="JetBrains Mono"/>
              <a:ea typeface="JetBrains Mono"/>
              <a:cs typeface="JetBrains Mono"/>
              <a:sym typeface="JetBrains Mono"/>
            </a:endParaRPr>
          </a:p>
          <a:p>
            <a:pPr indent="0" lvl="0" marL="0" rtl="0" algn="l">
              <a:lnSpc>
                <a:spcPct val="100000"/>
              </a:lnSpc>
              <a:spcBef>
                <a:spcPts val="0"/>
              </a:spcBef>
              <a:spcAft>
                <a:spcPts val="0"/>
              </a:spcAft>
              <a:buSzPts val="1800"/>
              <a:buNone/>
            </a:pPr>
            <a:r>
              <a:t/>
            </a:r>
            <a:endParaRPr b="1" sz="1200">
              <a:solidFill>
                <a:srgbClr val="666666"/>
              </a:solidFill>
              <a:latin typeface="JetBrains Mono"/>
              <a:ea typeface="JetBrains Mono"/>
              <a:cs typeface="JetBrains Mono"/>
              <a:sym typeface="JetBrains Mono"/>
            </a:endParaRPr>
          </a:p>
          <a:p>
            <a:pPr indent="0" lvl="0" marL="0" rtl="0" algn="l">
              <a:lnSpc>
                <a:spcPct val="100000"/>
              </a:lnSpc>
              <a:spcBef>
                <a:spcPts val="0"/>
              </a:spcBef>
              <a:spcAft>
                <a:spcPts val="0"/>
              </a:spcAft>
              <a:buSzPts val="1800"/>
              <a:buNone/>
            </a:pPr>
            <a:r>
              <a:t/>
            </a:r>
            <a:endParaRPr b="1" sz="1200">
              <a:solidFill>
                <a:srgbClr val="666666"/>
              </a:solidFill>
              <a:latin typeface="JetBrains Mono"/>
              <a:ea typeface="JetBrains Mono"/>
              <a:cs typeface="JetBrains Mono"/>
              <a:sym typeface="JetBrains Mono"/>
            </a:endParaRPr>
          </a:p>
        </p:txBody>
      </p:sp>
      <p:sp>
        <p:nvSpPr>
          <p:cNvPr id="197" name="Google Shape;197;p33"/>
          <p:cNvSpPr txBox="1"/>
          <p:nvPr>
            <p:ph idx="4294967295" type="body"/>
          </p:nvPr>
        </p:nvSpPr>
        <p:spPr>
          <a:xfrm>
            <a:off x="4075975" y="3525850"/>
            <a:ext cx="459900" cy="3693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800"/>
              <a:buNone/>
            </a:pPr>
            <a:r>
              <a:rPr b="1" lang="en" sz="1400"/>
              <a:t>OR</a:t>
            </a:r>
            <a:endParaRPr b="1" sz="1200">
              <a:solidFill>
                <a:srgbClr val="666666"/>
              </a:solidFill>
            </a:endParaRPr>
          </a:p>
          <a:p>
            <a:pPr indent="0" lvl="0" marL="0" rtl="0" algn="l">
              <a:lnSpc>
                <a:spcPct val="100000"/>
              </a:lnSpc>
              <a:spcBef>
                <a:spcPts val="0"/>
              </a:spcBef>
              <a:spcAft>
                <a:spcPts val="0"/>
              </a:spcAft>
              <a:buSzPts val="1800"/>
              <a:buNone/>
            </a:pPr>
            <a:r>
              <a:t/>
            </a:r>
            <a:endParaRPr b="1" sz="1200">
              <a:solidFill>
                <a:srgbClr val="666666"/>
              </a:solidFill>
              <a:latin typeface="JetBrains Mono"/>
              <a:ea typeface="JetBrains Mono"/>
              <a:cs typeface="JetBrains Mono"/>
              <a:sym typeface="JetBrains Mono"/>
            </a:endParaRPr>
          </a:p>
          <a:p>
            <a:pPr indent="0" lvl="0" marL="0" rtl="0" algn="l">
              <a:lnSpc>
                <a:spcPct val="100000"/>
              </a:lnSpc>
              <a:spcBef>
                <a:spcPts val="0"/>
              </a:spcBef>
              <a:spcAft>
                <a:spcPts val="0"/>
              </a:spcAft>
              <a:buSzPts val="1800"/>
              <a:buNone/>
            </a:pPr>
            <a:r>
              <a:t/>
            </a:r>
            <a:endParaRPr b="1" sz="1200">
              <a:solidFill>
                <a:srgbClr val="666666"/>
              </a:solidFill>
              <a:latin typeface="JetBrains Mono"/>
              <a:ea typeface="JetBrains Mono"/>
              <a:cs typeface="JetBrains Mono"/>
              <a:sym typeface="JetBrains Mono"/>
            </a:endParaRPr>
          </a:p>
          <a:p>
            <a:pPr indent="0" lvl="0" marL="0" rtl="0" algn="l">
              <a:lnSpc>
                <a:spcPct val="100000"/>
              </a:lnSpc>
              <a:spcBef>
                <a:spcPts val="0"/>
              </a:spcBef>
              <a:spcAft>
                <a:spcPts val="0"/>
              </a:spcAft>
              <a:buSzPts val="1800"/>
              <a:buNone/>
            </a:pPr>
            <a:r>
              <a:t/>
            </a:r>
            <a:endParaRPr b="1" sz="1200">
              <a:solidFill>
                <a:srgbClr val="666666"/>
              </a:solidFill>
              <a:latin typeface="JetBrains Mono"/>
              <a:ea typeface="JetBrains Mono"/>
              <a:cs typeface="JetBrains Mono"/>
              <a:sym typeface="JetBrains Mono"/>
            </a:endParaRPr>
          </a:p>
        </p:txBody>
      </p:sp>
      <p:sp>
        <p:nvSpPr>
          <p:cNvPr id="198" name="Google Shape;198;p33"/>
          <p:cNvSpPr txBox="1"/>
          <p:nvPr>
            <p:ph idx="4294967295" type="body"/>
          </p:nvPr>
        </p:nvSpPr>
        <p:spPr>
          <a:xfrm>
            <a:off x="4890025" y="1810775"/>
            <a:ext cx="2331300" cy="1078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800">
                <a:solidFill>
                  <a:srgbClr val="37474F"/>
                </a:solidFill>
                <a:latin typeface="JetBrains Mono"/>
                <a:ea typeface="JetBrains Mono"/>
                <a:cs typeface="JetBrains Mono"/>
                <a:sym typeface="JetBrains Mono"/>
              </a:rPr>
              <a:t>string</a:t>
            </a:r>
            <a:endParaRPr sz="8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800">
                <a:solidFill>
                  <a:srgbClr val="37474F"/>
                </a:solidFill>
                <a:latin typeface="JetBrains Mono"/>
                <a:ea typeface="JetBrains Mono"/>
                <a:cs typeface="JetBrains Mono"/>
                <a:sym typeface="JetBrains Mono"/>
              </a:rPr>
              <a:t>    .allFunnyFuncs(...)</a:t>
            </a:r>
            <a:endParaRPr sz="8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800">
                <a:solidFill>
                  <a:srgbClr val="37474F"/>
                </a:solidFill>
                <a:latin typeface="JetBrains Mono"/>
                <a:ea typeface="JetBrains Mono"/>
                <a:cs typeface="JetBrains Mono"/>
                <a:sym typeface="JetBrains Mono"/>
              </a:rPr>
              <a:t>    .toList()</a:t>
            </a:r>
            <a:endParaRPr sz="8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800">
                <a:solidFill>
                  <a:srgbClr val="37474F"/>
                </a:solidFill>
                <a:highlight>
                  <a:schemeClr val="lt1"/>
                </a:highlight>
                <a:latin typeface="JetBrains Mono"/>
                <a:ea typeface="JetBrains Mono"/>
                <a:cs typeface="JetBrains Mono"/>
                <a:sym typeface="JetBrains Mono"/>
              </a:rPr>
              <a:t>    </a:t>
            </a:r>
            <a:r>
              <a:rPr lang="en" sz="800">
                <a:solidFill>
                  <a:srgbClr val="37474F"/>
                </a:solidFill>
                <a:highlight>
                  <a:srgbClr val="B6D7A8"/>
                </a:highlight>
                <a:latin typeface="JetBrains Mono"/>
                <a:ea typeface="JetBrains Mono"/>
                <a:cs typeface="JetBrains Mono"/>
                <a:sym typeface="JetBrains Mono"/>
              </a:rPr>
              <a:t>.sortedWith { l, r -&gt; </a:t>
            </a:r>
            <a:endParaRPr sz="800">
              <a:solidFill>
                <a:srgbClr val="37474F"/>
              </a:solidFill>
              <a:highlight>
                <a:srgbClr val="B6D7A8"/>
              </a:highlight>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800">
                <a:solidFill>
                  <a:srgbClr val="37474F"/>
                </a:solidFill>
                <a:highlight>
                  <a:schemeClr val="lt1"/>
                </a:highlight>
                <a:latin typeface="JetBrains Mono"/>
                <a:ea typeface="JetBrains Mono"/>
                <a:cs typeface="JetBrains Mono"/>
                <a:sym typeface="JetBrains Mono"/>
              </a:rPr>
              <a:t>    </a:t>
            </a:r>
            <a:r>
              <a:rPr lang="en" sz="800">
                <a:solidFill>
                  <a:srgbClr val="37474F"/>
                </a:solidFill>
                <a:highlight>
                  <a:srgbClr val="B6D7A8"/>
                </a:highlight>
                <a:latin typeface="JetBrains Mono"/>
                <a:ea typeface="JetBrains Mono"/>
                <a:cs typeface="JetBrains Mono"/>
                <a:sym typeface="JetBrains Mono"/>
              </a:rPr>
              <a:t>    r.second - l.second </a:t>
            </a:r>
            <a:endParaRPr sz="800">
              <a:solidFill>
                <a:srgbClr val="37474F"/>
              </a:solidFill>
              <a:highlight>
                <a:srgbClr val="B6D7A8"/>
              </a:highlight>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800">
                <a:solidFill>
                  <a:srgbClr val="37474F"/>
                </a:solidFill>
                <a:highlight>
                  <a:schemeClr val="lt1"/>
                </a:highlight>
                <a:latin typeface="JetBrains Mono"/>
                <a:ea typeface="JetBrains Mono"/>
                <a:cs typeface="JetBrains Mono"/>
                <a:sym typeface="JetBrains Mono"/>
              </a:rPr>
              <a:t>    </a:t>
            </a:r>
            <a:r>
              <a:rPr lang="en" sz="800">
                <a:solidFill>
                  <a:srgbClr val="37474F"/>
                </a:solidFill>
                <a:highlight>
                  <a:srgbClr val="B6D7A8"/>
                </a:highlight>
                <a:latin typeface="JetBrains Mono"/>
                <a:ea typeface="JetBrains Mono"/>
                <a:cs typeface="JetBrains Mono"/>
                <a:sym typeface="JetBrains Mono"/>
              </a:rPr>
              <a:t>}</a:t>
            </a:r>
            <a:endParaRPr sz="800">
              <a:solidFill>
                <a:srgbClr val="37474F"/>
              </a:solidFill>
              <a:highlight>
                <a:srgbClr val="B6D7A8"/>
              </a:highlight>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100"/>
              <a:buFont typeface="Arial"/>
              <a:buNone/>
            </a:pPr>
            <a:r>
              <a:t/>
            </a:r>
            <a:endParaRPr sz="8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200"/>
              </a:spcAft>
              <a:buSzPts val="1800"/>
              <a:buNone/>
            </a:pPr>
            <a:r>
              <a:t/>
            </a:r>
            <a:endParaRPr sz="800">
              <a:solidFill>
                <a:srgbClr val="37474F"/>
              </a:solidFill>
              <a:latin typeface="JetBrains Mono"/>
              <a:ea typeface="JetBrains Mono"/>
              <a:cs typeface="JetBrains Mono"/>
              <a:sym typeface="JetBrains Mono"/>
            </a:endParaRPr>
          </a:p>
        </p:txBody>
      </p:sp>
      <p:sp>
        <p:nvSpPr>
          <p:cNvPr id="199" name="Google Shape;199;p33"/>
          <p:cNvSpPr txBox="1"/>
          <p:nvPr>
            <p:ph idx="4294967295" type="body"/>
          </p:nvPr>
        </p:nvSpPr>
        <p:spPr>
          <a:xfrm>
            <a:off x="4890025" y="3102284"/>
            <a:ext cx="2331300" cy="1446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800">
                <a:solidFill>
                  <a:srgbClr val="37474F"/>
                </a:solidFill>
                <a:latin typeface="JetBrains Mono"/>
                <a:ea typeface="JetBrains Mono"/>
                <a:cs typeface="JetBrains Mono"/>
                <a:sym typeface="JetBrains Mono"/>
              </a:rPr>
              <a:t>string</a:t>
            </a:r>
            <a:endParaRPr sz="8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800">
                <a:solidFill>
                  <a:srgbClr val="37474F"/>
                </a:solidFill>
                <a:latin typeface="JetBrains Mono"/>
                <a:ea typeface="JetBrains Mono"/>
                <a:cs typeface="JetBrains Mono"/>
                <a:sym typeface="JetBrains Mono"/>
              </a:rPr>
              <a:t>    .allFunnyFuncs(...)</a:t>
            </a:r>
            <a:endParaRPr sz="8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800">
                <a:solidFill>
                  <a:srgbClr val="37474F"/>
                </a:solidFill>
                <a:latin typeface="JetBrains Mono"/>
                <a:ea typeface="JetBrains Mono"/>
                <a:cs typeface="JetBrains Mono"/>
                <a:sym typeface="JetBrains Mono"/>
              </a:rPr>
              <a:t>    .toList()</a:t>
            </a:r>
            <a:endParaRPr sz="8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800">
                <a:solidFill>
                  <a:srgbClr val="37474F"/>
                </a:solidFill>
                <a:highlight>
                  <a:schemeClr val="lt1"/>
                </a:highlight>
                <a:latin typeface="JetBrains Mono"/>
                <a:ea typeface="JetBrains Mono"/>
                <a:cs typeface="JetBrains Mono"/>
                <a:sym typeface="JetBrains Mono"/>
              </a:rPr>
              <a:t>    </a:t>
            </a:r>
            <a:r>
              <a:rPr lang="en" sz="800">
                <a:solidFill>
                  <a:srgbClr val="37474F"/>
                </a:solidFill>
                <a:highlight>
                  <a:srgbClr val="B6D7A8"/>
                </a:highlight>
                <a:latin typeface="JetBrains Mono"/>
                <a:ea typeface="JetBrains Mono"/>
                <a:cs typeface="JetBrains Mono"/>
                <a:sym typeface="JetBrains Mono"/>
              </a:rPr>
              <a:t>.sortedByDescending { (_, c) -&gt; </a:t>
            </a:r>
            <a:endParaRPr sz="800">
              <a:solidFill>
                <a:srgbClr val="37474F"/>
              </a:solidFill>
              <a:highlight>
                <a:srgbClr val="B6D7A8"/>
              </a:highlight>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800">
                <a:solidFill>
                  <a:srgbClr val="37474F"/>
                </a:solidFill>
                <a:highlight>
                  <a:schemeClr val="lt1"/>
                </a:highlight>
                <a:latin typeface="JetBrains Mono"/>
                <a:ea typeface="JetBrains Mono"/>
                <a:cs typeface="JetBrains Mono"/>
                <a:sym typeface="JetBrains Mono"/>
              </a:rPr>
              <a:t>    </a:t>
            </a:r>
            <a:r>
              <a:rPr lang="en" sz="800">
                <a:solidFill>
                  <a:srgbClr val="37474F"/>
                </a:solidFill>
                <a:highlight>
                  <a:srgbClr val="B6D7A8"/>
                </a:highlight>
                <a:latin typeface="JetBrains Mono"/>
                <a:ea typeface="JetBrains Mono"/>
                <a:cs typeface="JetBrains Mono"/>
                <a:sym typeface="JetBrains Mono"/>
              </a:rPr>
              <a:t>    c</a:t>
            </a:r>
            <a:endParaRPr sz="800">
              <a:solidFill>
                <a:srgbClr val="37474F"/>
              </a:solidFill>
              <a:highlight>
                <a:srgbClr val="B6D7A8"/>
              </a:highlight>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800">
                <a:solidFill>
                  <a:srgbClr val="37474F"/>
                </a:solidFill>
                <a:highlight>
                  <a:schemeClr val="lt1"/>
                </a:highlight>
                <a:latin typeface="JetBrains Mono"/>
                <a:ea typeface="JetBrains Mono"/>
                <a:cs typeface="JetBrains Mono"/>
                <a:sym typeface="JetBrains Mono"/>
              </a:rPr>
              <a:t>    </a:t>
            </a:r>
            <a:r>
              <a:rPr lang="en" sz="800">
                <a:solidFill>
                  <a:srgbClr val="37474F"/>
                </a:solidFill>
                <a:highlight>
                  <a:srgbClr val="B6D7A8"/>
                </a:highlight>
                <a:latin typeface="JetBrains Mono"/>
                <a:ea typeface="JetBrains Mono"/>
                <a:cs typeface="JetBrains Mono"/>
                <a:sym typeface="JetBrains Mono"/>
              </a:rPr>
              <a:t>}</a:t>
            </a:r>
            <a:endParaRPr sz="800">
              <a:solidFill>
                <a:srgbClr val="37474F"/>
              </a:solidFill>
              <a:highlight>
                <a:srgbClr val="B6D7A8"/>
              </a:highlight>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t/>
            </a:r>
            <a:endParaRPr sz="8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200"/>
              </a:spcAft>
              <a:buSzPts val="1800"/>
              <a:buNone/>
            </a:pPr>
            <a:r>
              <a:t/>
            </a:r>
            <a:endParaRPr sz="800">
              <a:solidFill>
                <a:srgbClr val="37474F"/>
              </a:solidFill>
              <a:latin typeface="JetBrains Mono"/>
              <a:ea typeface="JetBrains Mono"/>
              <a:cs typeface="JetBrains Mono"/>
              <a:sym typeface="JetBrains Mono"/>
            </a:endParaRPr>
          </a:p>
        </p:txBody>
      </p:sp>
      <p:sp>
        <p:nvSpPr>
          <p:cNvPr id="200" name="Google Shape;200;p33"/>
          <p:cNvSpPr txBox="1"/>
          <p:nvPr>
            <p:ph idx="1" type="body"/>
          </p:nvPr>
        </p:nvSpPr>
        <p:spPr>
          <a:xfrm>
            <a:off x="292600" y="1335025"/>
            <a:ext cx="3807900" cy="23289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a:solidFill>
                  <a:srgbClr val="000080"/>
                </a:solidFill>
              </a:rPr>
              <a:t>val</a:t>
            </a:r>
            <a:r>
              <a:rPr lang="en">
                <a:solidFill>
                  <a:srgbClr val="37474F"/>
                </a:solidFill>
              </a:rPr>
              <a:t> string = </a:t>
            </a:r>
            <a:r>
              <a:rPr lang="en">
                <a:solidFill>
                  <a:srgbClr val="008000"/>
                </a:solidFill>
              </a:rPr>
              <a:t>"""</a:t>
            </a:r>
            <a:endParaRPr>
              <a:solidFill>
                <a:srgbClr val="008000"/>
              </a:solidFill>
            </a:endParaRPr>
          </a:p>
          <a:p>
            <a:pPr indent="0" lvl="0" marL="0" rtl="0" algn="l">
              <a:lnSpc>
                <a:spcPct val="115000"/>
              </a:lnSpc>
              <a:spcBef>
                <a:spcPts val="200"/>
              </a:spcBef>
              <a:spcAft>
                <a:spcPts val="0"/>
              </a:spcAft>
              <a:buClr>
                <a:schemeClr val="dk1"/>
              </a:buClr>
              <a:buSzPts val="1800"/>
              <a:buFont typeface="Arial"/>
              <a:buNone/>
            </a:pPr>
            <a:r>
              <a:rPr lang="en">
                <a:solidFill>
                  <a:srgbClr val="008000"/>
                </a:solidFill>
              </a:rPr>
              <a:t>    One-one was a race horse.</a:t>
            </a:r>
            <a:endParaRPr>
              <a:solidFill>
                <a:srgbClr val="008000"/>
              </a:solidFill>
            </a:endParaRPr>
          </a:p>
          <a:p>
            <a:pPr indent="0" lvl="0" marL="0" rtl="0" algn="l">
              <a:lnSpc>
                <a:spcPct val="115000"/>
              </a:lnSpc>
              <a:spcBef>
                <a:spcPts val="200"/>
              </a:spcBef>
              <a:spcAft>
                <a:spcPts val="0"/>
              </a:spcAft>
              <a:buClr>
                <a:schemeClr val="dk1"/>
              </a:buClr>
              <a:buSzPts val="1800"/>
              <a:buFont typeface="Arial"/>
              <a:buNone/>
            </a:pPr>
            <a:r>
              <a:rPr lang="en">
                <a:solidFill>
                  <a:srgbClr val="008000"/>
                </a:solidFill>
              </a:rPr>
              <a:t>    Two-two was one too.</a:t>
            </a:r>
            <a:endParaRPr>
              <a:solidFill>
                <a:srgbClr val="008000"/>
              </a:solidFill>
            </a:endParaRPr>
          </a:p>
          <a:p>
            <a:pPr indent="0" lvl="0" marL="0" rtl="0" algn="l">
              <a:lnSpc>
                <a:spcPct val="115000"/>
              </a:lnSpc>
              <a:spcBef>
                <a:spcPts val="200"/>
              </a:spcBef>
              <a:spcAft>
                <a:spcPts val="0"/>
              </a:spcAft>
              <a:buClr>
                <a:schemeClr val="dk1"/>
              </a:buClr>
              <a:buSzPts val="1800"/>
              <a:buFont typeface="Arial"/>
              <a:buNone/>
            </a:pPr>
            <a:r>
              <a:rPr lang="en">
                <a:solidFill>
                  <a:srgbClr val="008000"/>
                </a:solidFill>
              </a:rPr>
              <a:t>    One-one won one race.</a:t>
            </a:r>
            <a:endParaRPr>
              <a:solidFill>
                <a:srgbClr val="008000"/>
              </a:solidFill>
            </a:endParaRPr>
          </a:p>
          <a:p>
            <a:pPr indent="0" lvl="0" marL="0" rtl="0" algn="l">
              <a:lnSpc>
                <a:spcPct val="115000"/>
              </a:lnSpc>
              <a:spcBef>
                <a:spcPts val="200"/>
              </a:spcBef>
              <a:spcAft>
                <a:spcPts val="0"/>
              </a:spcAft>
              <a:buClr>
                <a:schemeClr val="dk1"/>
              </a:buClr>
              <a:buSzPts val="1800"/>
              <a:buFont typeface="Arial"/>
              <a:buNone/>
            </a:pPr>
            <a:r>
              <a:rPr lang="en">
                <a:solidFill>
                  <a:srgbClr val="008000"/>
                </a:solidFill>
              </a:rPr>
              <a:t>    Two-two won one too. </a:t>
            </a:r>
            <a:endParaRPr>
              <a:solidFill>
                <a:srgbClr val="008000"/>
              </a:solidFill>
            </a:endParaRPr>
          </a:p>
          <a:p>
            <a:pPr indent="0" lvl="0" marL="0" rtl="0" algn="l">
              <a:lnSpc>
                <a:spcPct val="115000"/>
              </a:lnSpc>
              <a:spcBef>
                <a:spcPts val="200"/>
              </a:spcBef>
              <a:spcAft>
                <a:spcPts val="0"/>
              </a:spcAft>
              <a:buClr>
                <a:schemeClr val="dk1"/>
              </a:buClr>
              <a:buSzPts val="1800"/>
              <a:buFont typeface="Arial"/>
              <a:buNone/>
            </a:pPr>
            <a:r>
              <a:rPr lang="en">
                <a:solidFill>
                  <a:srgbClr val="008000"/>
                </a:solidFill>
              </a:rPr>
              <a:t>"""</a:t>
            </a:r>
            <a:r>
              <a:rPr lang="en">
                <a:solidFill>
                  <a:srgbClr val="37474F"/>
                </a:solidFill>
              </a:rPr>
              <a:t>.trimIndent()</a:t>
            </a:r>
            <a:endParaRPr>
              <a:solidFill>
                <a:srgbClr val="37474F"/>
              </a:solidFill>
            </a:endParaRPr>
          </a:p>
          <a:p>
            <a:pPr indent="0" lvl="0" marL="0" rtl="0" algn="l">
              <a:lnSpc>
                <a:spcPct val="115000"/>
              </a:lnSpc>
              <a:spcBef>
                <a:spcPts val="200"/>
              </a:spcBef>
              <a:spcAft>
                <a:spcPts val="0"/>
              </a:spcAft>
              <a:buClr>
                <a:schemeClr val="dk1"/>
              </a:buClr>
              <a:buSzPts val="1800"/>
              <a:buFont typeface="Arial"/>
              <a:buNone/>
            </a:pPr>
            <a:r>
              <a:t/>
            </a:r>
            <a:endParaRPr>
              <a:solidFill>
                <a:srgbClr val="37474F"/>
              </a:solidFill>
            </a:endParaRPr>
          </a:p>
          <a:p>
            <a:pPr indent="0" lvl="0" marL="0" rtl="0" algn="l">
              <a:lnSpc>
                <a:spcPct val="115000"/>
              </a:lnSpc>
              <a:spcBef>
                <a:spcPts val="200"/>
              </a:spcBef>
              <a:spcAft>
                <a:spcPts val="0"/>
              </a:spcAft>
              <a:buClr>
                <a:schemeClr val="dk1"/>
              </a:buClr>
              <a:buSzPts val="1800"/>
              <a:buFont typeface="Arial"/>
              <a:buNone/>
            </a:pPr>
            <a:r>
              <a:rPr lang="en">
                <a:solidFill>
                  <a:srgbClr val="000080"/>
                </a:solidFill>
              </a:rPr>
              <a:t>val</a:t>
            </a:r>
            <a:r>
              <a:rPr lang="en">
                <a:solidFill>
                  <a:srgbClr val="37474F"/>
                </a:solidFill>
              </a:rPr>
              <a:t> result = string</a:t>
            </a:r>
            <a:endParaRPr>
              <a:solidFill>
                <a:srgbClr val="37474F"/>
              </a:solidFill>
            </a:endParaRPr>
          </a:p>
          <a:p>
            <a:pPr indent="0" lvl="0" marL="0" rtl="0" algn="l">
              <a:lnSpc>
                <a:spcPct val="115000"/>
              </a:lnSpc>
              <a:spcBef>
                <a:spcPts val="200"/>
              </a:spcBef>
              <a:spcAft>
                <a:spcPts val="0"/>
              </a:spcAft>
              <a:buClr>
                <a:schemeClr val="dk1"/>
              </a:buClr>
              <a:buSzPts val="1800"/>
              <a:buFont typeface="Arial"/>
              <a:buNone/>
            </a:pPr>
            <a:r>
              <a:rPr lang="en">
                <a:solidFill>
                  <a:srgbClr val="37474F"/>
                </a:solidFill>
              </a:rPr>
              <a:t>    .split(</a:t>
            </a:r>
            <a:r>
              <a:rPr lang="en">
                <a:solidFill>
                  <a:srgbClr val="008000"/>
                </a:solidFill>
              </a:rPr>
              <a:t>" "</a:t>
            </a:r>
            <a:r>
              <a:rPr lang="en">
                <a:solidFill>
                  <a:srgbClr val="37474F"/>
                </a:solidFill>
              </a:rPr>
              <a:t>, </a:t>
            </a:r>
            <a:r>
              <a:rPr lang="en">
                <a:solidFill>
                  <a:srgbClr val="008000"/>
                </a:solidFill>
              </a:rPr>
              <a:t>"-"</a:t>
            </a:r>
            <a:r>
              <a:rPr lang="en">
                <a:solidFill>
                  <a:srgbClr val="37474F"/>
                </a:solidFill>
              </a:rPr>
              <a:t>, </a:t>
            </a:r>
            <a:r>
              <a:rPr lang="en">
                <a:solidFill>
                  <a:srgbClr val="008000"/>
                </a:solidFill>
              </a:rPr>
              <a:t>"."</a:t>
            </a:r>
            <a:r>
              <a:rPr lang="en">
                <a:solidFill>
                  <a:srgbClr val="37474F"/>
                </a:solidFill>
              </a:rPr>
              <a:t>, System.lineSeparator())  </a:t>
            </a:r>
            <a:endParaRPr>
              <a:solidFill>
                <a:srgbClr val="37474F"/>
              </a:solidFill>
            </a:endParaRPr>
          </a:p>
          <a:p>
            <a:pPr indent="0" lvl="0" marL="0" rtl="0" algn="l">
              <a:lnSpc>
                <a:spcPct val="115000"/>
              </a:lnSpc>
              <a:spcBef>
                <a:spcPts val="200"/>
              </a:spcBef>
              <a:spcAft>
                <a:spcPts val="0"/>
              </a:spcAft>
              <a:buClr>
                <a:schemeClr val="dk1"/>
              </a:buClr>
              <a:buSzPts val="1800"/>
              <a:buFont typeface="Arial"/>
              <a:buNone/>
            </a:pPr>
            <a:r>
              <a:rPr lang="en">
                <a:solidFill>
                  <a:srgbClr val="37474F"/>
                </a:solidFill>
              </a:rPr>
              <a:t>    .filter { it.isNotEmpty() }</a:t>
            </a:r>
            <a:endParaRPr>
              <a:solidFill>
                <a:srgbClr val="37474F"/>
              </a:solidFill>
            </a:endParaRPr>
          </a:p>
          <a:p>
            <a:pPr indent="0" lvl="0" marL="0" rtl="0" algn="l">
              <a:lnSpc>
                <a:spcPct val="115000"/>
              </a:lnSpc>
              <a:spcBef>
                <a:spcPts val="200"/>
              </a:spcBef>
              <a:spcAft>
                <a:spcPts val="0"/>
              </a:spcAft>
              <a:buClr>
                <a:schemeClr val="dk1"/>
              </a:buClr>
              <a:buSzPts val="1800"/>
              <a:buFont typeface="Arial"/>
              <a:buNone/>
            </a:pPr>
            <a:r>
              <a:rPr lang="en">
                <a:solidFill>
                  <a:srgbClr val="37474F"/>
                </a:solidFill>
              </a:rPr>
              <a:t>    .map { it.lowercase() }</a:t>
            </a:r>
            <a:endParaRPr>
              <a:solidFill>
                <a:srgbClr val="37474F"/>
              </a:solidFill>
            </a:endParaRPr>
          </a:p>
          <a:p>
            <a:pPr indent="0" lvl="0" marL="0" rtl="0" algn="l">
              <a:lnSpc>
                <a:spcPct val="115000"/>
              </a:lnSpc>
              <a:spcBef>
                <a:spcPts val="200"/>
              </a:spcBef>
              <a:spcAft>
                <a:spcPts val="0"/>
              </a:spcAft>
              <a:buClr>
                <a:schemeClr val="dk1"/>
              </a:buClr>
              <a:buSzPts val="1800"/>
              <a:buFont typeface="Arial"/>
              <a:buNone/>
            </a:pPr>
            <a:r>
              <a:rPr lang="en">
                <a:solidFill>
                  <a:srgbClr val="37474F"/>
                </a:solidFill>
              </a:rPr>
              <a:t>    .groupingBy { it }</a:t>
            </a:r>
            <a:endParaRPr>
              <a:solidFill>
                <a:srgbClr val="37474F"/>
              </a:solidFill>
            </a:endParaRPr>
          </a:p>
          <a:p>
            <a:pPr indent="0" lvl="0" marL="0" rtl="0" algn="l">
              <a:lnSpc>
                <a:spcPct val="115000"/>
              </a:lnSpc>
              <a:spcBef>
                <a:spcPts val="200"/>
              </a:spcBef>
              <a:spcAft>
                <a:spcPts val="0"/>
              </a:spcAft>
              <a:buClr>
                <a:schemeClr val="dk1"/>
              </a:buClr>
              <a:buSzPts val="1800"/>
              <a:buFont typeface="Arial"/>
              <a:buNone/>
            </a:pPr>
            <a:r>
              <a:rPr lang="en">
                <a:solidFill>
                  <a:srgbClr val="37474F"/>
                </a:solidFill>
              </a:rPr>
              <a:t>    .eachCount()</a:t>
            </a:r>
            <a:endParaRPr>
              <a:solidFill>
                <a:srgbClr val="37474F"/>
              </a:solidFill>
            </a:endParaRPr>
          </a:p>
          <a:p>
            <a:pPr indent="0" lvl="0" marL="0" rtl="0" algn="l">
              <a:lnSpc>
                <a:spcPct val="115000"/>
              </a:lnSpc>
              <a:spcBef>
                <a:spcPts val="200"/>
              </a:spcBef>
              <a:spcAft>
                <a:spcPts val="0"/>
              </a:spcAft>
              <a:buClr>
                <a:schemeClr val="dk1"/>
              </a:buClr>
              <a:buSzPts val="1800"/>
              <a:buFont typeface="Arial"/>
              <a:buNone/>
            </a:pPr>
            <a:r>
              <a:rPr lang="en">
                <a:solidFill>
                  <a:srgbClr val="37474F"/>
                </a:solidFill>
              </a:rPr>
              <a:t>    .toList()</a:t>
            </a:r>
            <a:endParaRPr>
              <a:solidFill>
                <a:srgbClr val="37474F"/>
              </a:solidFill>
            </a:endParaRPr>
          </a:p>
          <a:p>
            <a:pPr indent="0" lvl="0" marL="0" rtl="0" algn="l">
              <a:lnSpc>
                <a:spcPct val="115000"/>
              </a:lnSpc>
              <a:spcBef>
                <a:spcPts val="200"/>
              </a:spcBef>
              <a:spcAft>
                <a:spcPts val="0"/>
              </a:spcAft>
              <a:buClr>
                <a:schemeClr val="dk1"/>
              </a:buClr>
              <a:buSzPts val="1800"/>
              <a:buFont typeface="Arial"/>
              <a:buNone/>
            </a:pPr>
            <a:r>
              <a:rPr lang="en">
                <a:solidFill>
                  <a:srgbClr val="37474F"/>
                </a:solidFill>
              </a:rPr>
              <a:t>    .sortedBy { (_, count) -&gt; count }</a:t>
            </a:r>
            <a:endParaRPr>
              <a:solidFill>
                <a:srgbClr val="37474F"/>
              </a:solidFill>
            </a:endParaRPr>
          </a:p>
          <a:p>
            <a:pPr indent="0" lvl="0" marL="0" rtl="0" algn="l">
              <a:lnSpc>
                <a:spcPct val="115000"/>
              </a:lnSpc>
              <a:spcBef>
                <a:spcPts val="200"/>
              </a:spcBef>
              <a:spcAft>
                <a:spcPts val="0"/>
              </a:spcAft>
              <a:buClr>
                <a:schemeClr val="dk1"/>
              </a:buClr>
              <a:buSzPts val="1800"/>
              <a:buFont typeface="Arial"/>
              <a:buNone/>
            </a:pPr>
            <a:r>
              <a:rPr lang="en">
                <a:solidFill>
                  <a:srgbClr val="37474F"/>
                </a:solidFill>
              </a:rPr>
              <a:t>    </a:t>
            </a:r>
            <a:r>
              <a:rPr lang="en">
                <a:solidFill>
                  <a:srgbClr val="37474F"/>
                </a:solidFill>
                <a:highlight>
                  <a:srgbClr val="B6D7A8"/>
                </a:highlight>
              </a:rPr>
              <a:t>.reversed()</a:t>
            </a:r>
            <a:endParaRPr>
              <a:solidFill>
                <a:srgbClr val="37474F"/>
              </a:solidFill>
              <a:highlight>
                <a:srgbClr val="B6D7A8"/>
              </a:highlight>
            </a:endParaRPr>
          </a:p>
          <a:p>
            <a:pPr indent="0" lvl="0" marL="0" rtl="0" algn="l">
              <a:lnSpc>
                <a:spcPct val="115000"/>
              </a:lnSpc>
              <a:spcBef>
                <a:spcPts val="200"/>
              </a:spcBef>
              <a:spcAft>
                <a:spcPts val="0"/>
              </a:spcAft>
              <a:buClr>
                <a:schemeClr val="dk1"/>
              </a:buClr>
              <a:buSzPts val="1800"/>
              <a:buFont typeface="Arial"/>
              <a:buNone/>
            </a:pPr>
            <a:r>
              <a:t/>
            </a:r>
            <a:endParaRPr>
              <a:solidFill>
                <a:srgbClr val="37474F"/>
              </a:solidFill>
            </a:endParaRPr>
          </a:p>
          <a:p>
            <a:pPr indent="0" lvl="0" marL="0" rtl="0" algn="l">
              <a:lnSpc>
                <a:spcPct val="115000"/>
              </a:lnSpc>
              <a:spcBef>
                <a:spcPts val="200"/>
              </a:spcBef>
              <a:spcAft>
                <a:spcPts val="200"/>
              </a:spcAft>
              <a:buNone/>
            </a:pPr>
            <a:r>
              <a:t/>
            </a:r>
            <a:endParaRPr/>
          </a:p>
        </p:txBody>
      </p:sp>
      <p:sp>
        <p:nvSpPr>
          <p:cNvPr id="201" name="Google Shape;201;p3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order functions (HOFs)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4"/>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1400">
                <a:latin typeface="Open Sans"/>
                <a:ea typeface="Open Sans"/>
                <a:cs typeface="Open Sans"/>
                <a:sym typeface="Open Sans"/>
              </a:rPr>
              <a:t>Lambdas are not the only functions that </a:t>
            </a:r>
            <a:r>
              <a:rPr lang="en" sz="1400">
                <a:latin typeface="Open Sans"/>
                <a:ea typeface="Open Sans"/>
                <a:cs typeface="Open Sans"/>
                <a:sym typeface="Open Sans"/>
              </a:rPr>
              <a:t>can be passed as arguments to functions expecting other functions, as </a:t>
            </a:r>
            <a:r>
              <a:rPr i="1" lang="en" sz="1400">
                <a:latin typeface="Open Sans"/>
                <a:ea typeface="Open Sans"/>
                <a:cs typeface="Open Sans"/>
                <a:sym typeface="Open Sans"/>
              </a:rPr>
              <a:t>references</a:t>
            </a:r>
            <a:r>
              <a:rPr lang="en" sz="1400">
                <a:latin typeface="Open Sans"/>
                <a:ea typeface="Open Sans"/>
                <a:cs typeface="Open Sans"/>
                <a:sym typeface="Open Sans"/>
              </a:rPr>
              <a:t> to already defined functions can be as well:</a:t>
            </a:r>
            <a:br>
              <a:rPr lang="en" sz="1400">
                <a:latin typeface="Open Sans"/>
                <a:ea typeface="Open Sans"/>
                <a:cs typeface="Open Sans"/>
                <a:sym typeface="Open Sans"/>
              </a:rPr>
            </a:b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rPr lang="en" sz="1400">
                <a:solidFill>
                  <a:srgbClr val="3F51B5"/>
                </a:solidFill>
              </a:rPr>
              <a:t>fun</a:t>
            </a:r>
            <a:r>
              <a:rPr lang="en" sz="1400">
                <a:solidFill>
                  <a:srgbClr val="37474F"/>
                </a:solidFill>
              </a:rPr>
              <a:t> isEven(x: Int) = x % 2 == 0</a:t>
            </a:r>
            <a:endParaRPr sz="1400">
              <a:solidFill>
                <a:srgbClr val="37474F"/>
              </a:solidFill>
            </a:endParaRPr>
          </a:p>
          <a:p>
            <a:pPr indent="0" lvl="0" marL="0" rtl="0" algn="l">
              <a:lnSpc>
                <a:spcPct val="115000"/>
              </a:lnSpc>
              <a:spcBef>
                <a:spcPts val="400"/>
              </a:spcBef>
              <a:spcAft>
                <a:spcPts val="0"/>
              </a:spcAft>
              <a:buNone/>
            </a:pPr>
            <a:r>
              <a:t/>
            </a:r>
            <a:endParaRPr sz="14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400">
                <a:solidFill>
                  <a:srgbClr val="3F51B5"/>
                </a:solidFill>
              </a:rPr>
              <a:t>val</a:t>
            </a:r>
            <a:r>
              <a:rPr lang="en" sz="1400">
                <a:solidFill>
                  <a:srgbClr val="37474F"/>
                </a:solidFill>
              </a:rPr>
              <a:t> isEvenLambda = { x: Int -&gt; x % 2 == 0 }</a:t>
            </a:r>
            <a:endParaRPr sz="14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4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400">
                <a:latin typeface="Open Sans"/>
                <a:ea typeface="Open Sans"/>
                <a:cs typeface="Open Sans"/>
                <a:sym typeface="Open Sans"/>
              </a:rPr>
              <a:t>Same results, different calls:</a:t>
            </a:r>
            <a:endParaRPr sz="1400">
              <a:latin typeface="Open Sans"/>
              <a:ea typeface="Open Sans"/>
              <a:cs typeface="Open Sans"/>
              <a:sym typeface="Open Sans"/>
            </a:endParaRPr>
          </a:p>
          <a:p>
            <a:pPr indent="-317500" lvl="0" marL="457200" rtl="0" algn="l">
              <a:lnSpc>
                <a:spcPct val="115000"/>
              </a:lnSpc>
              <a:spcBef>
                <a:spcPts val="400"/>
              </a:spcBef>
              <a:spcAft>
                <a:spcPts val="0"/>
              </a:spcAft>
              <a:buClr>
                <a:srgbClr val="37474F"/>
              </a:buClr>
              <a:buSzPts val="1400"/>
              <a:buChar char="●"/>
            </a:pPr>
            <a:r>
              <a:rPr lang="en" sz="1400">
                <a:solidFill>
                  <a:srgbClr val="37474F"/>
                </a:solidFill>
              </a:rPr>
              <a:t>list.partition { it % 2 == 0 }</a:t>
            </a:r>
            <a:endParaRPr sz="1400">
              <a:solidFill>
                <a:srgbClr val="37474F"/>
              </a:solidFill>
            </a:endParaRPr>
          </a:p>
          <a:p>
            <a:pPr indent="-317500" lvl="0" marL="457200" rtl="0" algn="l">
              <a:lnSpc>
                <a:spcPct val="115000"/>
              </a:lnSpc>
              <a:spcBef>
                <a:spcPts val="400"/>
              </a:spcBef>
              <a:spcAft>
                <a:spcPts val="0"/>
              </a:spcAft>
              <a:buSzPts val="1400"/>
              <a:buChar char="●"/>
            </a:pPr>
            <a:r>
              <a:rPr lang="en" sz="1400">
                <a:solidFill>
                  <a:srgbClr val="37474F"/>
                </a:solidFill>
              </a:rPr>
              <a:t>list.partition(::isEven) </a:t>
            </a:r>
            <a:r>
              <a:rPr lang="en" sz="1400"/>
              <a:t>// function reference</a:t>
            </a:r>
            <a:endParaRPr sz="1400"/>
          </a:p>
          <a:p>
            <a:pPr indent="-317500" lvl="0" marL="457200" rtl="0" algn="l">
              <a:lnSpc>
                <a:spcPct val="115000"/>
              </a:lnSpc>
              <a:spcBef>
                <a:spcPts val="400"/>
              </a:spcBef>
              <a:spcAft>
                <a:spcPts val="400"/>
              </a:spcAft>
              <a:buSzPts val="1400"/>
              <a:buChar char="●"/>
            </a:pPr>
            <a:r>
              <a:rPr lang="en" sz="1400">
                <a:solidFill>
                  <a:srgbClr val="37474F"/>
                </a:solidFill>
              </a:rPr>
              <a:t>list.partition(isEvenLambda)  </a:t>
            </a:r>
            <a:r>
              <a:rPr lang="en" sz="1400"/>
              <a:t>// pass lambda by name</a:t>
            </a:r>
            <a:endParaRPr sz="1400"/>
          </a:p>
        </p:txBody>
      </p:sp>
      <p:sp>
        <p:nvSpPr>
          <p:cNvPr id="207" name="Google Shape;207;p3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order functions (HOFs)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Lazy computations</a:t>
            </a:r>
            <a:endParaRPr/>
          </a:p>
        </p:txBody>
      </p:sp>
      <p:sp>
        <p:nvSpPr>
          <p:cNvPr id="213" name="Google Shape;213;p35"/>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400">
                <a:latin typeface="Open Sans"/>
                <a:ea typeface="Open Sans"/>
                <a:cs typeface="Open Sans"/>
                <a:sym typeface="Open Sans"/>
              </a:rPr>
              <a:t>Consider the following code:</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t/>
            </a:r>
            <a:endParaRPr sz="11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100"/>
              <a:buFont typeface="Arial"/>
              <a:buNone/>
            </a:pPr>
            <a:r>
              <a:rPr lang="en" sz="1100">
                <a:solidFill>
                  <a:srgbClr val="000080"/>
                </a:solidFill>
              </a:rPr>
              <a:t>fun </a:t>
            </a:r>
            <a:r>
              <a:rPr lang="en" sz="1100">
                <a:solidFill>
                  <a:srgbClr val="37474F"/>
                </a:solidFill>
              </a:rPr>
              <a:t>&lt;F&gt; withFunction(</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number: Int, even: F, odd: F</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F = </a:t>
            </a:r>
            <a:r>
              <a:rPr lang="en" sz="1100">
                <a:solidFill>
                  <a:srgbClr val="000080"/>
                </a:solidFill>
              </a:rPr>
              <a:t>when</a:t>
            </a:r>
            <a:r>
              <a:rPr lang="en" sz="1100">
                <a:solidFill>
                  <a:srgbClr val="37474F"/>
                </a:solidFill>
              </a:rPr>
              <a:t> (number % 2) {</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0 -&gt; even</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a:t>
            </a:r>
            <a:r>
              <a:rPr lang="en" sz="1100">
                <a:solidFill>
                  <a:srgbClr val="000080"/>
                </a:solidFill>
              </a:rPr>
              <a:t>else</a:t>
            </a:r>
            <a:r>
              <a:rPr lang="en" sz="1100">
                <a:solidFill>
                  <a:srgbClr val="37474F"/>
                </a:solidFill>
              </a:rPr>
              <a:t> -&gt; odd</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withFunction(4, println(</a:t>
            </a:r>
            <a:r>
              <a:rPr lang="en" sz="1100">
                <a:solidFill>
                  <a:srgbClr val="008000"/>
                </a:solidFill>
              </a:rPr>
              <a:t>"even"</a:t>
            </a:r>
            <a:r>
              <a:rPr lang="en" sz="1100">
                <a:solidFill>
                  <a:srgbClr val="37474F"/>
                </a:solidFill>
              </a:rPr>
              <a:t>), println(</a:t>
            </a:r>
            <a:r>
              <a:rPr lang="en" sz="1100">
                <a:solidFill>
                  <a:srgbClr val="008000"/>
                </a:solidFill>
              </a:rPr>
              <a:t>"odd"</a:t>
            </a:r>
            <a:r>
              <a:rPr lang="en" sz="1100">
                <a:solidFill>
                  <a:srgbClr val="37474F"/>
                </a:solidFill>
              </a:rPr>
              <a:t>))</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400">
                <a:latin typeface="Open Sans"/>
                <a:ea typeface="Open Sans"/>
                <a:cs typeface="Open Sans"/>
                <a:sym typeface="Open Sans"/>
              </a:rPr>
              <a:t>What will be printed to the console?</a:t>
            </a:r>
            <a:endParaRPr sz="1400">
              <a:solidFill>
                <a:srgbClr val="37474F"/>
              </a:solidFill>
            </a:endParaRPr>
          </a:p>
          <a:p>
            <a:pPr indent="0" lvl="0" marL="0" rtl="0" algn="l">
              <a:lnSpc>
                <a:spcPct val="115000"/>
              </a:lnSpc>
              <a:spcBef>
                <a:spcPts val="400"/>
              </a:spcBef>
              <a:spcAft>
                <a:spcPts val="400"/>
              </a:spcAft>
              <a:buNone/>
            </a:pPr>
            <a:r>
              <a:t/>
            </a:r>
            <a:endParaRPr sz="11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6"/>
          <p:cNvSpPr txBox="1"/>
          <p:nvPr/>
        </p:nvSpPr>
        <p:spPr>
          <a:xfrm>
            <a:off x="3169925" y="4262650"/>
            <a:ext cx="14172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200"/>
              <a:buFont typeface="Arial"/>
              <a:buNone/>
            </a:pPr>
            <a:r>
              <a:rPr b="0" i="0" lang="en" sz="1200" u="none" cap="none" strike="noStrike">
                <a:solidFill>
                  <a:srgbClr val="37474F"/>
                </a:solidFill>
                <a:latin typeface="JetBrains Mono"/>
                <a:ea typeface="JetBrains Mono"/>
                <a:cs typeface="JetBrains Mono"/>
                <a:sym typeface="JetBrains Mono"/>
              </a:rPr>
              <a:t>e</a:t>
            </a:r>
            <a:r>
              <a:rPr b="0" i="0" lang="en" sz="1200" u="none" cap="none" strike="noStrike">
                <a:solidFill>
                  <a:srgbClr val="37474F"/>
                </a:solidFill>
                <a:latin typeface="JetBrains Mono"/>
                <a:ea typeface="JetBrains Mono"/>
                <a:cs typeface="JetBrains Mono"/>
                <a:sym typeface="JetBrains Mono"/>
              </a:rPr>
              <a:t>ven</a:t>
            </a:r>
            <a:r>
              <a:rPr lang="en" sz="1200">
                <a:solidFill>
                  <a:srgbClr val="37474F"/>
                </a:solidFill>
                <a:latin typeface="JetBrains Mono"/>
                <a:ea typeface="JetBrains Mono"/>
                <a:cs typeface="JetBrains Mono"/>
                <a:sym typeface="JetBrains Mono"/>
              </a:rPr>
              <a:t> </a:t>
            </a:r>
            <a:r>
              <a:rPr b="0" i="0" lang="en" sz="1200" u="none" cap="none" strike="noStrike">
                <a:solidFill>
                  <a:srgbClr val="37474F"/>
                </a:solidFill>
                <a:latin typeface="JetBrains Mono"/>
                <a:ea typeface="JetBrains Mono"/>
                <a:cs typeface="JetBrains Mono"/>
                <a:sym typeface="JetBrains Mono"/>
              </a:rPr>
              <a:t>odd</a:t>
            </a:r>
            <a:endParaRPr b="0" i="0" sz="1200" u="none" cap="none" strike="noStrike">
              <a:solidFill>
                <a:srgbClr val="37474F"/>
              </a:solidFill>
              <a:latin typeface="JetBrains Mono"/>
              <a:ea typeface="JetBrains Mono"/>
              <a:cs typeface="JetBrains Mono"/>
              <a:sym typeface="JetBrains Mono"/>
            </a:endParaRPr>
          </a:p>
        </p:txBody>
      </p:sp>
      <p:sp>
        <p:nvSpPr>
          <p:cNvPr id="219" name="Google Shape;219;p36"/>
          <p:cNvSpPr txBox="1"/>
          <p:nvPr/>
        </p:nvSpPr>
        <p:spPr>
          <a:xfrm>
            <a:off x="4572000" y="1335025"/>
            <a:ext cx="3566400" cy="877200"/>
          </a:xfrm>
          <a:prstGeom prst="rect">
            <a:avLst/>
          </a:prstGeom>
          <a:noFill/>
          <a:ln>
            <a:noFill/>
          </a:ln>
        </p:spPr>
        <p:txBody>
          <a:bodyPr anchorCtr="0" anchor="t" bIns="91425" lIns="91425" spcFirstLastPara="1" rIns="91425" wrap="square" tIns="73150">
            <a:spAutoFit/>
          </a:bodyPr>
          <a:lstStyle/>
          <a:p>
            <a:pPr indent="0" lvl="0" marL="0" marR="0" rtl="0" algn="l">
              <a:lnSpc>
                <a:spcPct val="115000"/>
              </a:lnSpc>
              <a:spcBef>
                <a:spcPts val="0"/>
              </a:spcBef>
              <a:spcAft>
                <a:spcPts val="400"/>
              </a:spcAft>
              <a:buClr>
                <a:srgbClr val="000000"/>
              </a:buClr>
              <a:buSzPts val="1400"/>
              <a:buFont typeface="Arial"/>
              <a:buNone/>
            </a:pPr>
            <a:r>
              <a:rPr lang="en">
                <a:solidFill>
                  <a:schemeClr val="dk2"/>
                </a:solidFill>
                <a:latin typeface="Open Sans"/>
                <a:ea typeface="Open Sans"/>
                <a:cs typeface="Open Sans"/>
                <a:sym typeface="Open Sans"/>
              </a:rPr>
              <a:t>A</a:t>
            </a:r>
            <a:r>
              <a:rPr i="0" lang="en" u="none" cap="none" strike="noStrike">
                <a:solidFill>
                  <a:schemeClr val="dk2"/>
                </a:solidFill>
                <a:latin typeface="Open Sans"/>
                <a:ea typeface="Open Sans"/>
                <a:cs typeface="Open Sans"/>
                <a:sym typeface="Open Sans"/>
              </a:rPr>
              <a:t>rgument</a:t>
            </a:r>
            <a:r>
              <a:rPr lang="en">
                <a:solidFill>
                  <a:schemeClr val="dk2"/>
                </a:solidFill>
                <a:latin typeface="Open Sans"/>
                <a:ea typeface="Open Sans"/>
                <a:cs typeface="Open Sans"/>
                <a:sym typeface="Open Sans"/>
              </a:rPr>
              <a:t>s</a:t>
            </a:r>
            <a:r>
              <a:rPr i="0" lang="en" u="none" cap="none" strike="noStrike">
                <a:solidFill>
                  <a:schemeClr val="dk2"/>
                </a:solidFill>
                <a:latin typeface="Open Sans"/>
                <a:ea typeface="Open Sans"/>
                <a:cs typeface="Open Sans"/>
                <a:sym typeface="Open Sans"/>
              </a:rPr>
              <a:t> of the </a:t>
            </a:r>
            <a:r>
              <a:rPr b="0" i="0" lang="en" u="none" cap="none" strike="noStrike">
                <a:solidFill>
                  <a:srgbClr val="37474F"/>
                </a:solidFill>
                <a:latin typeface="JetBrains Mono"/>
                <a:ea typeface="JetBrains Mono"/>
                <a:cs typeface="JetBrains Mono"/>
                <a:sym typeface="JetBrains Mono"/>
              </a:rPr>
              <a:t>withFunction</a:t>
            </a:r>
            <a:r>
              <a:rPr i="0" lang="en" u="none" cap="none" strike="noStrike">
                <a:solidFill>
                  <a:srgbClr val="37474F"/>
                </a:solidFill>
                <a:latin typeface="Open Sans"/>
                <a:ea typeface="Open Sans"/>
                <a:cs typeface="Open Sans"/>
                <a:sym typeface="Open Sans"/>
              </a:rPr>
              <a:t> </a:t>
            </a:r>
            <a:r>
              <a:rPr i="0" lang="en" u="none" cap="none" strike="noStrike">
                <a:solidFill>
                  <a:schemeClr val="dk2"/>
                </a:solidFill>
                <a:latin typeface="Open Sans"/>
                <a:ea typeface="Open Sans"/>
                <a:cs typeface="Open Sans"/>
                <a:sym typeface="Open Sans"/>
              </a:rPr>
              <a:t>function will be evaluated </a:t>
            </a:r>
            <a:r>
              <a:rPr b="1" i="0" lang="en" u="none" cap="none" strike="noStrike">
                <a:solidFill>
                  <a:schemeClr val="dk2"/>
                </a:solidFill>
                <a:latin typeface="Open Sans"/>
                <a:ea typeface="Open Sans"/>
                <a:cs typeface="Open Sans"/>
                <a:sym typeface="Open Sans"/>
              </a:rPr>
              <a:t>before</a:t>
            </a:r>
            <a:r>
              <a:rPr i="0" lang="en" u="none" cap="none" strike="noStrike">
                <a:solidFill>
                  <a:schemeClr val="dk2"/>
                </a:solidFill>
                <a:latin typeface="Open Sans"/>
                <a:ea typeface="Open Sans"/>
                <a:cs typeface="Open Sans"/>
                <a:sym typeface="Open Sans"/>
              </a:rPr>
              <a:t> its body is executed (eager execution).</a:t>
            </a:r>
            <a:endParaRPr i="0" u="none" cap="none" strike="noStrike">
              <a:solidFill>
                <a:srgbClr val="000000"/>
              </a:solidFill>
              <a:latin typeface="Open Sans"/>
              <a:ea typeface="Open Sans"/>
              <a:cs typeface="Open Sans"/>
              <a:sym typeface="Open Sans"/>
            </a:endParaRPr>
          </a:p>
        </p:txBody>
      </p:sp>
      <p:sp>
        <p:nvSpPr>
          <p:cNvPr id="220" name="Google Shape;220;p36"/>
          <p:cNvSpPr txBox="1"/>
          <p:nvPr>
            <p:ph idx="1" type="body"/>
          </p:nvPr>
        </p:nvSpPr>
        <p:spPr>
          <a:xfrm>
            <a:off x="292600" y="1335025"/>
            <a:ext cx="3748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400">
                <a:latin typeface="Open Sans"/>
                <a:ea typeface="Open Sans"/>
                <a:cs typeface="Open Sans"/>
                <a:sym typeface="Open Sans"/>
              </a:rPr>
              <a:t>Consider the following code:</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t/>
            </a:r>
            <a:endParaRPr sz="11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fun </a:t>
            </a:r>
            <a:r>
              <a:rPr lang="en" sz="1100">
                <a:solidFill>
                  <a:srgbClr val="37474F"/>
                </a:solidFill>
              </a:rPr>
              <a:t>&lt;F&gt; withFunction(</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number: Int, even: F, odd: F</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F = </a:t>
            </a:r>
            <a:r>
              <a:rPr lang="en" sz="1100">
                <a:solidFill>
                  <a:srgbClr val="000080"/>
                </a:solidFill>
              </a:rPr>
              <a:t>when</a:t>
            </a:r>
            <a:r>
              <a:rPr lang="en" sz="1100">
                <a:solidFill>
                  <a:srgbClr val="37474F"/>
                </a:solidFill>
              </a:rPr>
              <a:t> (number % 2)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0 -&gt; even</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r>
              <a:rPr lang="en" sz="1100">
                <a:solidFill>
                  <a:srgbClr val="000080"/>
                </a:solidFill>
              </a:rPr>
              <a:t>else</a:t>
            </a:r>
            <a:r>
              <a:rPr lang="en" sz="1100">
                <a:solidFill>
                  <a:srgbClr val="37474F"/>
                </a:solidFill>
              </a:rPr>
              <a:t> -&gt; odd</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withFunction(4, println(</a:t>
            </a:r>
            <a:r>
              <a:rPr lang="en" sz="1100">
                <a:solidFill>
                  <a:srgbClr val="008000"/>
                </a:solidFill>
              </a:rPr>
              <a:t>"even"</a:t>
            </a:r>
            <a:r>
              <a:rPr lang="en" sz="1100">
                <a:solidFill>
                  <a:srgbClr val="37474F"/>
                </a:solidFill>
              </a:rPr>
              <a:t>), println(</a:t>
            </a:r>
            <a:r>
              <a:rPr lang="en" sz="1100">
                <a:solidFill>
                  <a:srgbClr val="008000"/>
                </a:solidFill>
              </a:rPr>
              <a:t>"odd"</a:t>
            </a:r>
            <a:r>
              <a:rPr lang="en" sz="1100">
                <a:solidFill>
                  <a:srgbClr val="37474F"/>
                </a:solidFill>
              </a:rPr>
              <a:t>))</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400">
                <a:latin typeface="Open Sans"/>
                <a:ea typeface="Open Sans"/>
                <a:cs typeface="Open Sans"/>
                <a:sym typeface="Open Sans"/>
              </a:rPr>
              <a:t>What will be printed into console?</a:t>
            </a:r>
            <a:endParaRPr sz="14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400"/>
              </a:spcAft>
              <a:buNone/>
            </a:pPr>
            <a:r>
              <a:t/>
            </a:r>
            <a:endParaRPr sz="1100"/>
          </a:p>
        </p:txBody>
      </p:sp>
      <p:sp>
        <p:nvSpPr>
          <p:cNvPr id="221" name="Google Shape;221;p3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Lazy computations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7"/>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a:t>Lazy Deferred computations</a:t>
            </a:r>
            <a:endParaRPr/>
          </a:p>
          <a:p>
            <a:pPr indent="0" lvl="0" marL="0" rtl="0" algn="l">
              <a:spcBef>
                <a:spcPts val="0"/>
              </a:spcBef>
              <a:spcAft>
                <a:spcPts val="0"/>
              </a:spcAft>
              <a:buSzPts val="1100"/>
              <a:buNone/>
            </a:pPr>
            <a:r>
              <a:t/>
            </a:r>
            <a:endParaRPr/>
          </a:p>
        </p:txBody>
      </p:sp>
      <p:sp>
        <p:nvSpPr>
          <p:cNvPr id="227" name="Google Shape;227;p37"/>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400">
                <a:latin typeface="Open Sans"/>
                <a:ea typeface="Open Sans"/>
                <a:cs typeface="Open Sans"/>
                <a:sym typeface="Open Sans"/>
              </a:rPr>
              <a:t>Consider the following code:</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t/>
            </a:r>
            <a:endParaRPr sz="11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fun </a:t>
            </a:r>
            <a:r>
              <a:rPr lang="en" sz="1100">
                <a:solidFill>
                  <a:srgbClr val="37474F"/>
                </a:solidFill>
              </a:rPr>
              <a:t>&lt;F&gt; withLambda(</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number: Int, even: () -&gt; F, odd: () -&gt; F</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F = </a:t>
            </a:r>
            <a:r>
              <a:rPr lang="en" sz="1100">
                <a:solidFill>
                  <a:srgbClr val="000080"/>
                </a:solidFill>
              </a:rPr>
              <a:t>when</a:t>
            </a:r>
            <a:r>
              <a:rPr lang="en" sz="1100">
                <a:solidFill>
                  <a:srgbClr val="37474F"/>
                </a:solidFill>
              </a:rPr>
              <a:t> (number % 2)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0 -&gt; even()</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r>
              <a:rPr lang="en" sz="1100">
                <a:solidFill>
                  <a:srgbClr val="000080"/>
                </a:solidFill>
              </a:rPr>
              <a:t>else</a:t>
            </a:r>
            <a:r>
              <a:rPr lang="en" sz="1100">
                <a:solidFill>
                  <a:srgbClr val="37474F"/>
                </a:solidFill>
              </a:rPr>
              <a:t> -&gt; odd()</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withLambda(4, { println(</a:t>
            </a:r>
            <a:r>
              <a:rPr lang="en" sz="1100">
                <a:solidFill>
                  <a:srgbClr val="008000"/>
                </a:solidFill>
              </a:rPr>
              <a:t>"even"</a:t>
            </a:r>
            <a:r>
              <a:rPr lang="en" sz="1100">
                <a:solidFill>
                  <a:srgbClr val="37474F"/>
                </a:solidFill>
              </a:rPr>
              <a:t>) }, { println(</a:t>
            </a:r>
            <a:r>
              <a:rPr lang="en" sz="1100">
                <a:solidFill>
                  <a:srgbClr val="008000"/>
                </a:solidFill>
              </a:rPr>
              <a:t>"odd"</a:t>
            </a:r>
            <a:r>
              <a:rPr lang="en" sz="1100">
                <a:solidFill>
                  <a:srgbClr val="37474F"/>
                </a:solidFill>
              </a:rPr>
              <a:t>)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400">
                <a:latin typeface="Open Sans"/>
                <a:ea typeface="Open Sans"/>
                <a:cs typeface="Open Sans"/>
                <a:sym typeface="Open Sans"/>
              </a:rPr>
              <a:t>It will print just </a:t>
            </a:r>
            <a:r>
              <a:rPr lang="en" sz="1400">
                <a:solidFill>
                  <a:srgbClr val="37474F"/>
                </a:solidFill>
              </a:rPr>
              <a:t>even</a:t>
            </a:r>
            <a:r>
              <a:rPr lang="en" sz="1400">
                <a:latin typeface="Open Sans"/>
                <a:ea typeface="Open Sans"/>
                <a:cs typeface="Open Sans"/>
                <a:sym typeface="Open Sans"/>
              </a:rPr>
              <a:t> into the console because of </a:t>
            </a:r>
            <a:r>
              <a:rPr lang="en" sz="1400">
                <a:latin typeface="Open Sans"/>
                <a:ea typeface="Open Sans"/>
                <a:cs typeface="Open Sans"/>
                <a:sym typeface="Open Sans"/>
              </a:rPr>
              <a:t>the </a:t>
            </a:r>
            <a:r>
              <a:rPr lang="en" sz="1400" strike="sngStrike">
                <a:latin typeface="Open Sans"/>
                <a:ea typeface="Open Sans"/>
                <a:cs typeface="Open Sans"/>
                <a:sym typeface="Open Sans"/>
              </a:rPr>
              <a:t>lazy</a:t>
            </a:r>
            <a:r>
              <a:rPr lang="en" sz="1400">
                <a:latin typeface="Open Sans"/>
                <a:ea typeface="Open Sans"/>
                <a:cs typeface="Open Sans"/>
                <a:sym typeface="Open Sans"/>
              </a:rPr>
              <a:t> deferred</a:t>
            </a:r>
            <a:r>
              <a:rPr lang="en" sz="1400">
                <a:latin typeface="Open Sans"/>
                <a:ea typeface="Open Sans"/>
                <a:cs typeface="Open Sans"/>
                <a:sym typeface="Open Sans"/>
              </a:rPr>
              <a:t> computations.</a:t>
            </a:r>
            <a:endParaRPr sz="1400">
              <a:solidFill>
                <a:srgbClr val="37474F"/>
              </a:solidFill>
            </a:endParaRPr>
          </a:p>
          <a:p>
            <a:pPr indent="0" lvl="0" marL="0" rtl="0" algn="l">
              <a:lnSpc>
                <a:spcPct val="115000"/>
              </a:lnSpc>
              <a:spcBef>
                <a:spcPts val="400"/>
              </a:spcBef>
              <a:spcAft>
                <a:spcPts val="400"/>
              </a:spcAft>
              <a:buNone/>
            </a:pPr>
            <a:r>
              <a:t/>
            </a:r>
            <a:endParaRPr sz="11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8"/>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Operator overloading</a:t>
            </a:r>
            <a:endParaRPr/>
          </a:p>
        </p:txBody>
      </p:sp>
      <p:sp>
        <p:nvSpPr>
          <p:cNvPr id="233" name="Google Shape;233;p38"/>
          <p:cNvSpPr txBox="1"/>
          <p:nvPr/>
        </p:nvSpPr>
        <p:spPr>
          <a:xfrm>
            <a:off x="292608" y="4251975"/>
            <a:ext cx="7854900" cy="600000"/>
          </a:xfrm>
          <a:prstGeom prst="rect">
            <a:avLst/>
          </a:prstGeom>
          <a:noFill/>
          <a:ln>
            <a:noFill/>
          </a:ln>
        </p:spPr>
        <p:txBody>
          <a:bodyPr anchorCtr="0" anchor="t" bIns="91425" lIns="0" spcFirstLastPara="1" rIns="0" wrap="square" tIns="91425">
            <a:spAutoFit/>
          </a:bodyPr>
          <a:lstStyle/>
          <a:p>
            <a:pPr indent="0" lvl="0" marL="0" marR="0" rtl="0" algn="l">
              <a:lnSpc>
                <a:spcPct val="115000"/>
              </a:lnSpc>
              <a:spcBef>
                <a:spcPts val="0"/>
              </a:spcBef>
              <a:spcAft>
                <a:spcPts val="0"/>
              </a:spcAft>
              <a:buClr>
                <a:srgbClr val="000000"/>
              </a:buClr>
              <a:buSzPts val="1200"/>
              <a:buFont typeface="Arial"/>
              <a:buNone/>
            </a:pPr>
            <a:r>
              <a:rPr b="0" i="0" lang="en" sz="1100" u="none" cap="none" strike="noStrike">
                <a:solidFill>
                  <a:srgbClr val="000080"/>
                </a:solidFill>
                <a:latin typeface="JetBrains Mono"/>
                <a:ea typeface="JetBrains Mono"/>
                <a:cs typeface="JetBrains Mono"/>
                <a:sym typeface="JetBrains Mono"/>
              </a:rPr>
              <a:t>class</a:t>
            </a:r>
            <a:r>
              <a:rPr b="0" i="0" lang="en" sz="1100" u="none" cap="none" strike="noStrike">
                <a:solidFill>
                  <a:srgbClr val="37474F"/>
                </a:solidFill>
                <a:latin typeface="JetBrains Mono"/>
                <a:ea typeface="JetBrains Mono"/>
                <a:cs typeface="JetBrains Mono"/>
                <a:sym typeface="JetBrains Mono"/>
              </a:rPr>
              <a:t> A&lt;T&gt;</a:t>
            </a:r>
            <a:endParaRPr b="0" i="0" sz="1100" u="none" cap="none" strike="noStrike">
              <a:solidFill>
                <a:srgbClr val="37474F"/>
              </a:solidFill>
              <a:latin typeface="JetBrains Mono"/>
              <a:ea typeface="JetBrains Mono"/>
              <a:cs typeface="JetBrains Mono"/>
              <a:sym typeface="JetBrains Mono"/>
            </a:endParaRPr>
          </a:p>
          <a:p>
            <a:pPr indent="0" lvl="0" marL="0" marR="0" rtl="0" algn="l">
              <a:lnSpc>
                <a:spcPct val="115000"/>
              </a:lnSpc>
              <a:spcBef>
                <a:spcPts val="400"/>
              </a:spcBef>
              <a:spcAft>
                <a:spcPts val="400"/>
              </a:spcAft>
              <a:buClr>
                <a:srgbClr val="000000"/>
              </a:buClr>
              <a:buSzPts val="1200"/>
              <a:buFont typeface="Arial"/>
              <a:buNone/>
            </a:pPr>
            <a:r>
              <a:rPr b="0" i="0" lang="en" sz="1100" u="none" cap="none" strike="noStrike">
                <a:solidFill>
                  <a:srgbClr val="000080"/>
                </a:solidFill>
                <a:latin typeface="JetBrains Mono"/>
                <a:ea typeface="JetBrains Mono"/>
                <a:cs typeface="JetBrains Mono"/>
                <a:sym typeface="JetBrains Mono"/>
              </a:rPr>
              <a:t>operator fun</a:t>
            </a:r>
            <a:r>
              <a:rPr b="0" i="0" lang="en" sz="1100" u="none" cap="none" strike="noStrike">
                <a:solidFill>
                  <a:srgbClr val="37474F"/>
                </a:solidFill>
                <a:latin typeface="JetBrains Mono"/>
                <a:ea typeface="JetBrains Mono"/>
                <a:cs typeface="JetBrains Mono"/>
                <a:sym typeface="JetBrains Mono"/>
              </a:rPr>
              <a:t> &lt;T&gt; A&lt;T&gt;.iterator(): Iterator&lt;T&gt; = </a:t>
            </a:r>
            <a:r>
              <a:rPr b="0" i="0" lang="en" sz="1100" u="none" cap="none" strike="noStrike">
                <a:solidFill>
                  <a:srgbClr val="20999D"/>
                </a:solidFill>
                <a:latin typeface="JetBrains Mono"/>
                <a:ea typeface="JetBrains Mono"/>
                <a:cs typeface="JetBrains Mono"/>
                <a:sym typeface="JetBrains Mono"/>
              </a:rPr>
              <a:t>TODO("Not yet implemented")</a:t>
            </a:r>
            <a:endParaRPr b="0" i="0" sz="1100" u="none" cap="none" strike="noStrike">
              <a:solidFill>
                <a:srgbClr val="37474F"/>
              </a:solidFill>
              <a:latin typeface="JetBrains Mono"/>
              <a:ea typeface="JetBrains Mono"/>
              <a:cs typeface="JetBrains Mono"/>
              <a:sym typeface="JetBrains Mono"/>
            </a:endParaRPr>
          </a:p>
        </p:txBody>
      </p:sp>
      <p:sp>
        <p:nvSpPr>
          <p:cNvPr id="234" name="Google Shape;234;p38"/>
          <p:cNvSpPr txBox="1"/>
          <p:nvPr/>
        </p:nvSpPr>
        <p:spPr>
          <a:xfrm>
            <a:off x="292608" y="3776675"/>
            <a:ext cx="717000" cy="461700"/>
          </a:xfrm>
          <a:prstGeom prst="rect">
            <a:avLst/>
          </a:prstGeom>
          <a:noFill/>
          <a:ln>
            <a:noFill/>
          </a:ln>
        </p:spPr>
        <p:txBody>
          <a:bodyPr anchorCtr="0" anchor="t" bIns="91425" lIns="0" spcFirstLastPara="1" rIns="0" wrap="square" tIns="91425">
            <a:spAutoFit/>
          </a:bodyPr>
          <a:lstStyle/>
          <a:p>
            <a:pPr indent="0" lvl="0" marL="0" marR="0" rtl="0" algn="l">
              <a:lnSpc>
                <a:spcPct val="150000"/>
              </a:lnSpc>
              <a:spcBef>
                <a:spcPts val="0"/>
              </a:spcBef>
              <a:spcAft>
                <a:spcPts val="0"/>
              </a:spcAft>
              <a:buClr>
                <a:srgbClr val="000000"/>
              </a:buClr>
              <a:buSzPts val="2600"/>
              <a:buFont typeface="Arial"/>
              <a:buNone/>
            </a:pPr>
            <a:r>
              <a:rPr b="1" i="0" lang="en" sz="1800" u="none" cap="none" strike="noStrike">
                <a:solidFill>
                  <a:schemeClr val="dk2"/>
                </a:solidFill>
                <a:latin typeface="Open Sans"/>
                <a:ea typeface="Open Sans"/>
                <a:cs typeface="Open Sans"/>
                <a:sym typeface="Open Sans"/>
              </a:rPr>
              <a:t>VS</a:t>
            </a:r>
            <a:endParaRPr b="1" i="0" sz="1800" u="none" cap="none" strike="noStrike">
              <a:solidFill>
                <a:srgbClr val="000000"/>
              </a:solidFill>
              <a:latin typeface="Open Sans"/>
              <a:ea typeface="Open Sans"/>
              <a:cs typeface="Open Sans"/>
              <a:sym typeface="Open Sans"/>
            </a:endParaRPr>
          </a:p>
        </p:txBody>
      </p:sp>
      <p:sp>
        <p:nvSpPr>
          <p:cNvPr id="235" name="Google Shape;235;p38"/>
          <p:cNvSpPr txBox="1"/>
          <p:nvPr>
            <p:ph idx="1" type="body"/>
          </p:nvPr>
        </p:nvSpPr>
        <p:spPr>
          <a:xfrm>
            <a:off x="292600" y="1335025"/>
            <a:ext cx="8326800" cy="21573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400">
                <a:latin typeface="Open Sans"/>
                <a:ea typeface="Open Sans"/>
                <a:cs typeface="Open Sans"/>
                <a:sym typeface="Open Sans"/>
              </a:rPr>
              <a:t>Kotlin has extension functions that you can use to override operators, for example the </a:t>
            </a:r>
            <a:r>
              <a:rPr lang="en" sz="1400"/>
              <a:t>iterator</a:t>
            </a:r>
            <a:r>
              <a:rPr lang="en" sz="1400">
                <a:latin typeface="Open Sans"/>
                <a:ea typeface="Open Sans"/>
                <a:cs typeface="Open Sans"/>
                <a:sym typeface="Open Sans"/>
              </a:rPr>
              <a:t>. That is, you do not need to create a new entity that inherits from the Iterable interface, as you would in OOP code.</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t/>
            </a:r>
            <a:endParaRPr sz="11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MyIterable&lt;T&gt; : Iterable&lt;T&gt; { </a:t>
            </a:r>
            <a:r>
              <a:rPr lang="en" sz="1100">
                <a:solidFill>
                  <a:srgbClr val="898989"/>
                </a:solidFill>
              </a:rPr>
              <a:t>// you need access to the sources of MyIterable</a:t>
            </a:r>
            <a:endParaRPr sz="1100">
              <a:solidFill>
                <a:srgbClr val="898989"/>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r>
              <a:rPr lang="en" sz="1100">
                <a:solidFill>
                  <a:srgbClr val="000080"/>
                </a:solidFill>
              </a:rPr>
              <a:t>override</a:t>
            </a:r>
            <a:r>
              <a:rPr lang="en" sz="1100">
                <a:solidFill>
                  <a:srgbClr val="37474F"/>
                </a:solidFill>
              </a:rPr>
              <a:t> fun iterator(): Iterator&lt;T&gt;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r>
              <a:rPr lang="en" sz="1100">
                <a:solidFill>
                  <a:srgbClr val="20999D"/>
                </a:solidFill>
              </a:rPr>
              <a:t>TODO("Not yet implemented")</a:t>
            </a:r>
            <a:endParaRPr sz="1100">
              <a:solidFill>
                <a:srgbClr val="20999D"/>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a:t>
            </a:r>
            <a:endParaRPr sz="1100">
              <a:solidFill>
                <a:srgbClr val="37474F"/>
              </a:solidFill>
            </a:endParaRPr>
          </a:p>
          <a:p>
            <a:pPr indent="0" lvl="0" marL="0" rtl="0" algn="l">
              <a:lnSpc>
                <a:spcPct val="115000"/>
              </a:lnSpc>
              <a:spcBef>
                <a:spcPts val="400"/>
              </a:spcBef>
              <a:spcAft>
                <a:spcPts val="400"/>
              </a:spcAft>
              <a:buNone/>
            </a:pPr>
            <a:r>
              <a:t/>
            </a:r>
            <a:endParaRPr sz="11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9"/>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One</a:t>
            </a:r>
            <a:r>
              <a:rPr lang="en"/>
              <a:t> last thing…</a:t>
            </a:r>
            <a:endParaRPr/>
          </a:p>
        </p:txBody>
      </p:sp>
      <p:sp>
        <p:nvSpPr>
          <p:cNvPr id="241" name="Google Shape;241;p39"/>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400">
                <a:latin typeface="Open Sans"/>
                <a:ea typeface="Open Sans"/>
                <a:cs typeface="Open Sans"/>
                <a:sym typeface="Open Sans"/>
              </a:rPr>
              <a:t>Is this code correct?</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enum</a:t>
            </a:r>
            <a:r>
              <a:rPr lang="en" sz="1100">
                <a:solidFill>
                  <a:srgbClr val="37474F"/>
                </a:solidFill>
              </a:rPr>
              <a:t> </a:t>
            </a:r>
            <a:r>
              <a:rPr lang="en" sz="1100">
                <a:solidFill>
                  <a:srgbClr val="000080"/>
                </a:solidFill>
              </a:rPr>
              <a:t>class</a:t>
            </a:r>
            <a:r>
              <a:rPr lang="en" sz="1100">
                <a:solidFill>
                  <a:srgbClr val="37474F"/>
                </a:solidFill>
              </a:rPr>
              <a:t> Color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r>
              <a:rPr lang="en" sz="1100">
                <a:solidFill>
                  <a:srgbClr val="660E7A"/>
                </a:solidFill>
              </a:rPr>
              <a:t>WHITE</a:t>
            </a:r>
            <a:r>
              <a:rPr lang="en" sz="1100">
                <a:solidFill>
                  <a:srgbClr val="37474F"/>
                </a:solidFill>
              </a:rPr>
              <a:t>,</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r>
              <a:rPr lang="en" sz="1100">
                <a:solidFill>
                  <a:srgbClr val="660E7A"/>
                </a:solidFill>
              </a:rPr>
              <a:t>AZURE</a:t>
            </a:r>
            <a:r>
              <a:rPr lang="en" sz="1100">
                <a:solidFill>
                  <a:srgbClr val="37474F"/>
                </a:solidFill>
              </a:rPr>
              <a:t>,</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r>
              <a:rPr lang="en" sz="1100">
                <a:solidFill>
                  <a:srgbClr val="660E7A"/>
                </a:solidFill>
              </a:rPr>
              <a:t>HONEYDEW</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fun</a:t>
            </a:r>
            <a:r>
              <a:rPr lang="en" sz="1100">
                <a:solidFill>
                  <a:srgbClr val="37474F"/>
                </a:solidFill>
              </a:rPr>
              <a:t> Color.getRGB() = </a:t>
            </a:r>
            <a:r>
              <a:rPr lang="en" sz="1100">
                <a:solidFill>
                  <a:srgbClr val="000080"/>
                </a:solidFill>
              </a:rPr>
              <a:t>when</a:t>
            </a:r>
            <a:r>
              <a:rPr lang="en" sz="1100">
                <a:solidFill>
                  <a:srgbClr val="37474F"/>
                </a:solidFill>
              </a:rPr>
              <a:t> (</a:t>
            </a:r>
            <a:r>
              <a:rPr lang="en" sz="1100">
                <a:solidFill>
                  <a:srgbClr val="000080"/>
                </a:solidFill>
              </a:rPr>
              <a:t>this</a:t>
            </a:r>
            <a:r>
              <a:rPr lang="en" sz="1100">
                <a:solidFill>
                  <a:srgbClr val="37474F"/>
                </a:solidFill>
              </a:rPr>
              <a:t>)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Color.</a:t>
            </a:r>
            <a:r>
              <a:rPr lang="en" sz="1100">
                <a:solidFill>
                  <a:srgbClr val="660E7A"/>
                </a:solidFill>
              </a:rPr>
              <a:t>WHITE</a:t>
            </a:r>
            <a:r>
              <a:rPr lang="en" sz="1100">
                <a:solidFill>
                  <a:srgbClr val="37474F"/>
                </a:solidFill>
              </a:rPr>
              <a:t> -&gt; </a:t>
            </a:r>
            <a:r>
              <a:rPr lang="en" sz="1100">
                <a:solidFill>
                  <a:srgbClr val="008000"/>
                </a:solidFill>
              </a:rPr>
              <a:t>"#FFFFFF"</a:t>
            </a:r>
            <a:endParaRPr sz="1100">
              <a:solidFill>
                <a:srgbClr val="008000"/>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Color.</a:t>
            </a:r>
            <a:r>
              <a:rPr lang="en" sz="1100">
                <a:solidFill>
                  <a:srgbClr val="660E7A"/>
                </a:solidFill>
              </a:rPr>
              <a:t>AZURE</a:t>
            </a:r>
            <a:r>
              <a:rPr lang="en" sz="1100">
                <a:solidFill>
                  <a:srgbClr val="37474F"/>
                </a:solidFill>
              </a:rPr>
              <a:t> -&gt; </a:t>
            </a:r>
            <a:r>
              <a:rPr lang="en" sz="1100">
                <a:solidFill>
                  <a:srgbClr val="008000"/>
                </a:solidFill>
              </a:rPr>
              <a:t>"#F0FFFF"</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Color.</a:t>
            </a:r>
            <a:r>
              <a:rPr lang="en" sz="1100">
                <a:solidFill>
                  <a:srgbClr val="660E7A"/>
                </a:solidFill>
              </a:rPr>
              <a:t>HONEYDEW</a:t>
            </a:r>
            <a:r>
              <a:rPr lang="en" sz="1100">
                <a:solidFill>
                  <a:srgbClr val="37474F"/>
                </a:solidFill>
              </a:rPr>
              <a:t> -&gt; </a:t>
            </a:r>
            <a:r>
              <a:rPr lang="en" sz="1100">
                <a:solidFill>
                  <a:srgbClr val="008000"/>
                </a:solidFill>
              </a:rPr>
              <a:t>"F0FFF0"</a:t>
            </a:r>
            <a:endParaRPr sz="1100">
              <a:solidFill>
                <a:srgbClr val="37474F"/>
              </a:solidFill>
            </a:endParaRPr>
          </a:p>
          <a:p>
            <a:pPr indent="0" lvl="0" marL="0" rtl="0" algn="l">
              <a:lnSpc>
                <a:spcPct val="115000"/>
              </a:lnSpc>
              <a:spcBef>
                <a:spcPts val="400"/>
              </a:spcBef>
              <a:spcAft>
                <a:spcPts val="400"/>
              </a:spcAft>
              <a:buNone/>
            </a:pPr>
            <a:r>
              <a:rPr lang="en" sz="1100">
                <a:solidFill>
                  <a:srgbClr val="37474F"/>
                </a:solidFill>
              </a:rPr>
              <a:t>}</a:t>
            </a:r>
            <a:endParaRPr sz="11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40"/>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400">
                <a:latin typeface="Open Sans"/>
                <a:ea typeface="Open Sans"/>
                <a:cs typeface="Open Sans"/>
                <a:sym typeface="Open Sans"/>
              </a:rPr>
              <a:t>Is this code correct? </a:t>
            </a:r>
            <a:r>
              <a:rPr b="1" lang="en" sz="1400">
                <a:latin typeface="Open Sans"/>
                <a:ea typeface="Open Sans"/>
                <a:cs typeface="Open Sans"/>
                <a:sym typeface="Open Sans"/>
              </a:rPr>
              <a:t>Yes</a:t>
            </a:r>
            <a:r>
              <a:rPr lang="en" sz="1400">
                <a:latin typeface="Open Sans"/>
                <a:ea typeface="Open Sans"/>
                <a:cs typeface="Open Sans"/>
                <a:sym typeface="Open Sans"/>
              </a:rPr>
              <a:t>, because the compiler knows </a:t>
            </a:r>
            <a:r>
              <a:rPr b="1" lang="en" sz="1400">
                <a:latin typeface="Open Sans"/>
                <a:ea typeface="Open Sans"/>
                <a:cs typeface="Open Sans"/>
                <a:sym typeface="Open Sans"/>
              </a:rPr>
              <a:t>all</a:t>
            </a:r>
            <a:r>
              <a:rPr lang="en" sz="1400">
                <a:latin typeface="Open Sans"/>
                <a:ea typeface="Open Sans"/>
                <a:cs typeface="Open Sans"/>
                <a:sym typeface="Open Sans"/>
              </a:rPr>
              <a:t> of the possible values.</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enum</a:t>
            </a:r>
            <a:r>
              <a:rPr lang="en" sz="1100">
                <a:solidFill>
                  <a:srgbClr val="37474F"/>
                </a:solidFill>
              </a:rPr>
              <a:t> </a:t>
            </a:r>
            <a:r>
              <a:rPr lang="en" sz="1100">
                <a:solidFill>
                  <a:srgbClr val="000080"/>
                </a:solidFill>
              </a:rPr>
              <a:t>class</a:t>
            </a:r>
            <a:r>
              <a:rPr lang="en" sz="1100">
                <a:solidFill>
                  <a:srgbClr val="37474F"/>
                </a:solidFill>
              </a:rPr>
              <a:t> </a:t>
            </a:r>
            <a:r>
              <a:rPr lang="en" sz="1100">
                <a:solidFill>
                  <a:srgbClr val="37474F"/>
                </a:solidFill>
              </a:rPr>
              <a:t>C</a:t>
            </a:r>
            <a:r>
              <a:rPr lang="en" sz="1100">
                <a:solidFill>
                  <a:srgbClr val="37474F"/>
                </a:solidFill>
              </a:rPr>
              <a:t>olor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r>
              <a:rPr lang="en" sz="1100">
                <a:solidFill>
                  <a:srgbClr val="660E7A"/>
                </a:solidFill>
              </a:rPr>
              <a:t>WHITE</a:t>
            </a:r>
            <a:r>
              <a:rPr lang="en" sz="1100">
                <a:solidFill>
                  <a:srgbClr val="37474F"/>
                </a:solidFill>
              </a:rPr>
              <a:t>,</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r>
              <a:rPr lang="en" sz="1100">
                <a:solidFill>
                  <a:srgbClr val="660E7A"/>
                </a:solidFill>
              </a:rPr>
              <a:t>AZURE</a:t>
            </a:r>
            <a:r>
              <a:rPr lang="en" sz="1100">
                <a:solidFill>
                  <a:srgbClr val="37474F"/>
                </a:solidFill>
              </a:rPr>
              <a:t>,</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r>
              <a:rPr lang="en" sz="1100">
                <a:solidFill>
                  <a:srgbClr val="660E7A"/>
                </a:solidFill>
              </a:rPr>
              <a:t>HONEYDEW</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fun</a:t>
            </a:r>
            <a:r>
              <a:rPr lang="en" sz="1100">
                <a:solidFill>
                  <a:srgbClr val="37474F"/>
                </a:solidFill>
              </a:rPr>
              <a:t> Color.getRGB() = </a:t>
            </a:r>
            <a:r>
              <a:rPr lang="en" sz="1100">
                <a:solidFill>
                  <a:srgbClr val="000080"/>
                </a:solidFill>
              </a:rPr>
              <a:t>when</a:t>
            </a:r>
            <a:r>
              <a:rPr lang="en" sz="1100">
                <a:solidFill>
                  <a:srgbClr val="37474F"/>
                </a:solidFill>
              </a:rPr>
              <a:t> (</a:t>
            </a:r>
            <a:r>
              <a:rPr lang="en" sz="1100">
                <a:solidFill>
                  <a:srgbClr val="000080"/>
                </a:solidFill>
              </a:rPr>
              <a:t>this</a:t>
            </a:r>
            <a:r>
              <a:rPr lang="en" sz="1100">
                <a:solidFill>
                  <a:srgbClr val="37474F"/>
                </a:solidFill>
              </a:rPr>
              <a:t>)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Color.</a:t>
            </a:r>
            <a:r>
              <a:rPr lang="en" sz="1100">
                <a:solidFill>
                  <a:srgbClr val="660E7A"/>
                </a:solidFill>
              </a:rPr>
              <a:t>WHITE</a:t>
            </a:r>
            <a:r>
              <a:rPr lang="en" sz="1100">
                <a:solidFill>
                  <a:srgbClr val="37474F"/>
                </a:solidFill>
              </a:rPr>
              <a:t> -&gt; </a:t>
            </a:r>
            <a:r>
              <a:rPr lang="en" sz="1100">
                <a:solidFill>
                  <a:srgbClr val="008000"/>
                </a:solidFill>
              </a:rPr>
              <a:t>"#FFFFFF"</a:t>
            </a:r>
            <a:endParaRPr sz="1100">
              <a:solidFill>
                <a:srgbClr val="008000"/>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Color.</a:t>
            </a:r>
            <a:r>
              <a:rPr lang="en" sz="1100">
                <a:solidFill>
                  <a:srgbClr val="660E7A"/>
                </a:solidFill>
              </a:rPr>
              <a:t>AZURE</a:t>
            </a:r>
            <a:r>
              <a:rPr lang="en" sz="1100">
                <a:solidFill>
                  <a:srgbClr val="37474F"/>
                </a:solidFill>
              </a:rPr>
              <a:t> -&gt; </a:t>
            </a:r>
            <a:r>
              <a:rPr lang="en" sz="1100">
                <a:solidFill>
                  <a:srgbClr val="008000"/>
                </a:solidFill>
              </a:rPr>
              <a:t>"#F0FFFF"</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Color.</a:t>
            </a:r>
            <a:r>
              <a:rPr lang="en" sz="1100">
                <a:solidFill>
                  <a:srgbClr val="660E7A"/>
                </a:solidFill>
              </a:rPr>
              <a:t>HONEYDEW</a:t>
            </a:r>
            <a:r>
              <a:rPr lang="en" sz="1100">
                <a:solidFill>
                  <a:srgbClr val="37474F"/>
                </a:solidFill>
              </a:rPr>
              <a:t> -&gt; </a:t>
            </a:r>
            <a:r>
              <a:rPr lang="en" sz="1100">
                <a:solidFill>
                  <a:srgbClr val="008000"/>
                </a:solidFill>
              </a:rPr>
              <a:t>"F0FFF0"</a:t>
            </a:r>
            <a:endParaRPr sz="1100">
              <a:solidFill>
                <a:srgbClr val="37474F"/>
              </a:solidFill>
            </a:endParaRPr>
          </a:p>
          <a:p>
            <a:pPr indent="0" lvl="0" marL="0" rtl="0" algn="l">
              <a:lnSpc>
                <a:spcPct val="115000"/>
              </a:lnSpc>
              <a:spcBef>
                <a:spcPts val="400"/>
              </a:spcBef>
              <a:spcAft>
                <a:spcPts val="400"/>
              </a:spcAft>
              <a:buNone/>
            </a:pPr>
            <a:r>
              <a:rPr lang="en" sz="1100">
                <a:solidFill>
                  <a:srgbClr val="37474F"/>
                </a:solidFill>
              </a:rPr>
              <a:t>}</a:t>
            </a:r>
            <a:endParaRPr sz="1100"/>
          </a:p>
        </p:txBody>
      </p:sp>
      <p:sp>
        <p:nvSpPr>
          <p:cNvPr id="247" name="Google Shape;247;p40"/>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a:t>One last thing…</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SzPts val="2800"/>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1"/>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400">
                <a:latin typeface="Open Sans"/>
                <a:ea typeface="Open Sans"/>
                <a:cs typeface="Open Sans"/>
                <a:sym typeface="Open Sans"/>
              </a:rPr>
              <a:t>What is about this example?</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sealed</a:t>
            </a:r>
            <a:r>
              <a:rPr lang="en" sz="1100">
                <a:solidFill>
                  <a:srgbClr val="37474F"/>
                </a:solidFill>
              </a:rPr>
              <a:t> </a:t>
            </a:r>
            <a:r>
              <a:rPr lang="en" sz="1100">
                <a:solidFill>
                  <a:srgbClr val="000080"/>
                </a:solidFill>
              </a:rPr>
              <a:t>class</a:t>
            </a:r>
            <a:r>
              <a:rPr lang="en" sz="1100">
                <a:solidFill>
                  <a:srgbClr val="37474F"/>
                </a:solidFill>
              </a:rPr>
              <a:t>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WhiteColor: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AzureColor: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HoneydewColor: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fun</a:t>
            </a:r>
            <a:r>
              <a:rPr lang="en" sz="1100">
                <a:solidFill>
                  <a:srgbClr val="37474F"/>
                </a:solidFill>
              </a:rPr>
              <a:t> Color.getRGB() = </a:t>
            </a:r>
            <a:r>
              <a:rPr lang="en" sz="1100">
                <a:solidFill>
                  <a:srgbClr val="000080"/>
                </a:solidFill>
              </a:rPr>
              <a:t>when</a:t>
            </a:r>
            <a:r>
              <a:rPr lang="en" sz="1100">
                <a:solidFill>
                  <a:srgbClr val="37474F"/>
                </a:solidFill>
              </a:rPr>
              <a:t> (</a:t>
            </a:r>
            <a:r>
              <a:rPr lang="en" sz="1100">
                <a:solidFill>
                  <a:srgbClr val="000080"/>
                </a:solidFill>
              </a:rPr>
              <a:t>this</a:t>
            </a:r>
            <a:r>
              <a:rPr lang="en" sz="1100">
                <a:solidFill>
                  <a:srgbClr val="37474F"/>
                </a:solidFill>
              </a:rPr>
              <a:t>)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r>
              <a:rPr lang="en" sz="1100">
                <a:solidFill>
                  <a:srgbClr val="000080"/>
                </a:solidFill>
              </a:rPr>
              <a:t>is</a:t>
            </a:r>
            <a:r>
              <a:rPr lang="en" sz="1100">
                <a:solidFill>
                  <a:srgbClr val="37474F"/>
                </a:solidFill>
              </a:rPr>
              <a:t> WhiteColor -&gt; </a:t>
            </a:r>
            <a:r>
              <a:rPr lang="en" sz="1100">
                <a:solidFill>
                  <a:srgbClr val="008000"/>
                </a:solidFill>
              </a:rPr>
              <a:t>"#FFFFFF"</a:t>
            </a:r>
            <a:endParaRPr sz="1100">
              <a:solidFill>
                <a:srgbClr val="008000"/>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r>
              <a:rPr lang="en" sz="1100">
                <a:solidFill>
                  <a:srgbClr val="000080"/>
                </a:solidFill>
              </a:rPr>
              <a:t>is</a:t>
            </a:r>
            <a:r>
              <a:rPr lang="en" sz="1100">
                <a:solidFill>
                  <a:srgbClr val="37474F"/>
                </a:solidFill>
              </a:rPr>
              <a:t> AzureColor -&gt; </a:t>
            </a:r>
            <a:r>
              <a:rPr lang="en" sz="1100">
                <a:solidFill>
                  <a:srgbClr val="008000"/>
                </a:solidFill>
              </a:rPr>
              <a:t>"#F0FFFF"</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r>
              <a:rPr lang="en" sz="1100">
                <a:solidFill>
                  <a:srgbClr val="000080"/>
                </a:solidFill>
              </a:rPr>
              <a:t>is</a:t>
            </a:r>
            <a:r>
              <a:rPr lang="en" sz="1100">
                <a:solidFill>
                  <a:srgbClr val="37474F"/>
                </a:solidFill>
              </a:rPr>
              <a:t> HoneydewColor -&gt; </a:t>
            </a:r>
            <a:r>
              <a:rPr lang="en" sz="1100">
                <a:solidFill>
                  <a:srgbClr val="008000"/>
                </a:solidFill>
              </a:rPr>
              <a:t>"F0FFF0"</a:t>
            </a:r>
            <a:endParaRPr sz="1100">
              <a:solidFill>
                <a:srgbClr val="37474F"/>
              </a:solidFill>
            </a:endParaRPr>
          </a:p>
          <a:p>
            <a:pPr indent="0" lvl="0" marL="0" rtl="0" algn="l">
              <a:lnSpc>
                <a:spcPct val="115000"/>
              </a:lnSpc>
              <a:spcBef>
                <a:spcPts val="400"/>
              </a:spcBef>
              <a:spcAft>
                <a:spcPts val="400"/>
              </a:spcAft>
              <a:buNone/>
            </a:pPr>
            <a:r>
              <a:rPr lang="en" sz="1100">
                <a:solidFill>
                  <a:srgbClr val="37474F"/>
                </a:solidFill>
              </a:rPr>
              <a:t>}</a:t>
            </a:r>
            <a:endParaRPr sz="1100"/>
          </a:p>
        </p:txBody>
      </p:sp>
      <p:sp>
        <p:nvSpPr>
          <p:cNvPr id="253" name="Google Shape;253;p4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One</a:t>
            </a:r>
            <a:r>
              <a:rPr lang="en"/>
              <a:t> last thing…</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2"/>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400">
                <a:latin typeface="Open Sans"/>
                <a:ea typeface="Open Sans"/>
                <a:cs typeface="Open Sans"/>
                <a:sym typeface="Open Sans"/>
              </a:rPr>
              <a:t>What about this example? Once again, the answer is </a:t>
            </a:r>
            <a:r>
              <a:rPr b="1" lang="en" sz="1400">
                <a:latin typeface="Open Sans"/>
                <a:ea typeface="Open Sans"/>
                <a:cs typeface="Open Sans"/>
                <a:sym typeface="Open Sans"/>
              </a:rPr>
              <a:t>yes</a:t>
            </a:r>
            <a:r>
              <a:rPr lang="en" sz="1400">
                <a:latin typeface="Open Sans"/>
                <a:ea typeface="Open Sans"/>
                <a:cs typeface="Open Sans"/>
                <a:sym typeface="Open Sans"/>
              </a:rPr>
              <a:t>, because the compiler knows about </a:t>
            </a:r>
            <a:r>
              <a:rPr b="1" lang="en" sz="1400">
                <a:latin typeface="Open Sans"/>
                <a:ea typeface="Open Sans"/>
                <a:cs typeface="Open Sans"/>
                <a:sym typeface="Open Sans"/>
              </a:rPr>
              <a:t>all</a:t>
            </a:r>
            <a:r>
              <a:rPr lang="en" sz="1400">
                <a:latin typeface="Open Sans"/>
                <a:ea typeface="Open Sans"/>
                <a:cs typeface="Open Sans"/>
                <a:sym typeface="Open Sans"/>
              </a:rPr>
              <a:t> possible children of the </a:t>
            </a:r>
            <a:r>
              <a:rPr lang="en" sz="1400"/>
              <a:t>Color </a:t>
            </a:r>
            <a:r>
              <a:rPr lang="en" sz="1400">
                <a:latin typeface="Open Sans"/>
                <a:ea typeface="Open Sans"/>
                <a:cs typeface="Open Sans"/>
                <a:sym typeface="Open Sans"/>
              </a:rPr>
              <a:t>class at the compilation stage and no new classes can appear.</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sealed</a:t>
            </a:r>
            <a:r>
              <a:rPr lang="en" sz="1100">
                <a:solidFill>
                  <a:srgbClr val="37474F"/>
                </a:solidFill>
              </a:rPr>
              <a:t> </a:t>
            </a:r>
            <a:r>
              <a:rPr lang="en" sz="1100">
                <a:solidFill>
                  <a:srgbClr val="000080"/>
                </a:solidFill>
              </a:rPr>
              <a:t>class</a:t>
            </a:r>
            <a:r>
              <a:rPr lang="en" sz="1100">
                <a:solidFill>
                  <a:srgbClr val="37474F"/>
                </a:solidFill>
              </a:rPr>
              <a:t>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WhiteColor: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AzureColor: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HoneydewColor: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fun</a:t>
            </a:r>
            <a:r>
              <a:rPr lang="en" sz="1100">
                <a:solidFill>
                  <a:srgbClr val="37474F"/>
                </a:solidFill>
              </a:rPr>
              <a:t> Color.getRGB() = </a:t>
            </a:r>
            <a:r>
              <a:rPr lang="en" sz="1100">
                <a:solidFill>
                  <a:srgbClr val="000080"/>
                </a:solidFill>
              </a:rPr>
              <a:t>when</a:t>
            </a:r>
            <a:r>
              <a:rPr lang="en" sz="1100">
                <a:solidFill>
                  <a:srgbClr val="37474F"/>
                </a:solidFill>
              </a:rPr>
              <a:t> (</a:t>
            </a:r>
            <a:r>
              <a:rPr lang="en" sz="1100">
                <a:solidFill>
                  <a:srgbClr val="000080"/>
                </a:solidFill>
              </a:rPr>
              <a:t>this</a:t>
            </a:r>
            <a:r>
              <a:rPr lang="en" sz="1100">
                <a:solidFill>
                  <a:srgbClr val="37474F"/>
                </a:solidFill>
              </a:rPr>
              <a:t>)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r>
              <a:rPr lang="en" sz="1100">
                <a:solidFill>
                  <a:srgbClr val="000080"/>
                </a:solidFill>
              </a:rPr>
              <a:t>is</a:t>
            </a:r>
            <a:r>
              <a:rPr lang="en" sz="1100">
                <a:solidFill>
                  <a:srgbClr val="37474F"/>
                </a:solidFill>
              </a:rPr>
              <a:t> WhiteColor -&gt; </a:t>
            </a:r>
            <a:r>
              <a:rPr lang="en" sz="1100">
                <a:solidFill>
                  <a:srgbClr val="008000"/>
                </a:solidFill>
              </a:rPr>
              <a:t>"#FFFFFF"</a:t>
            </a:r>
            <a:endParaRPr sz="1100">
              <a:solidFill>
                <a:srgbClr val="008000"/>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r>
              <a:rPr lang="en" sz="1100">
                <a:solidFill>
                  <a:srgbClr val="000080"/>
                </a:solidFill>
              </a:rPr>
              <a:t>is</a:t>
            </a:r>
            <a:r>
              <a:rPr lang="en" sz="1100">
                <a:solidFill>
                  <a:srgbClr val="37474F"/>
                </a:solidFill>
              </a:rPr>
              <a:t> AzureColor -&gt; </a:t>
            </a:r>
            <a:r>
              <a:rPr lang="en" sz="1100">
                <a:solidFill>
                  <a:srgbClr val="008000"/>
                </a:solidFill>
              </a:rPr>
              <a:t>"#F0FFFF"</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r>
              <a:rPr lang="en" sz="1100">
                <a:solidFill>
                  <a:srgbClr val="000080"/>
                </a:solidFill>
              </a:rPr>
              <a:t>is</a:t>
            </a:r>
            <a:r>
              <a:rPr lang="en" sz="1100">
                <a:solidFill>
                  <a:srgbClr val="37474F"/>
                </a:solidFill>
              </a:rPr>
              <a:t> HoneydewColor -&gt; </a:t>
            </a:r>
            <a:r>
              <a:rPr lang="en" sz="1100">
                <a:solidFill>
                  <a:srgbClr val="008000"/>
                </a:solidFill>
              </a:rPr>
              <a:t>"F0FFF0"</a:t>
            </a:r>
            <a:endParaRPr sz="1100">
              <a:solidFill>
                <a:srgbClr val="37474F"/>
              </a:solidFill>
            </a:endParaRPr>
          </a:p>
          <a:p>
            <a:pPr indent="0" lvl="0" marL="0" rtl="0" algn="l">
              <a:lnSpc>
                <a:spcPct val="115000"/>
              </a:lnSpc>
              <a:spcBef>
                <a:spcPts val="400"/>
              </a:spcBef>
              <a:spcAft>
                <a:spcPts val="400"/>
              </a:spcAft>
              <a:buNone/>
            </a:pPr>
            <a:r>
              <a:rPr lang="en" sz="1100">
                <a:solidFill>
                  <a:srgbClr val="37474F"/>
                </a:solidFill>
              </a:rPr>
              <a:t>}</a:t>
            </a:r>
            <a:endParaRPr sz="1100"/>
          </a:p>
        </p:txBody>
      </p:sp>
      <p:sp>
        <p:nvSpPr>
          <p:cNvPr id="259" name="Google Shape;259;p42"/>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One</a:t>
            </a:r>
            <a:r>
              <a:rPr lang="en"/>
              <a:t> last thing…</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3"/>
          <p:cNvSpPr txBox="1"/>
          <p:nvPr/>
        </p:nvSpPr>
        <p:spPr>
          <a:xfrm>
            <a:off x="4770100" y="1750550"/>
            <a:ext cx="4435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43"/>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400">
                <a:latin typeface="Open Sans"/>
                <a:ea typeface="Open Sans"/>
                <a:cs typeface="Open Sans"/>
                <a:sym typeface="Open Sans"/>
              </a:rPr>
              <a:t>Consider the following code:</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sealed</a:t>
            </a:r>
            <a:r>
              <a:rPr lang="en" sz="1100">
                <a:solidFill>
                  <a:srgbClr val="37474F"/>
                </a:solidFill>
              </a:rPr>
              <a:t> </a:t>
            </a:r>
            <a:r>
              <a:rPr lang="en" sz="1100">
                <a:solidFill>
                  <a:srgbClr val="000080"/>
                </a:solidFill>
              </a:rPr>
              <a:t>class</a:t>
            </a:r>
            <a:r>
              <a:rPr lang="en" sz="1100">
                <a:solidFill>
                  <a:srgbClr val="37474F"/>
                </a:solidFill>
              </a:rPr>
              <a:t>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WhiteColor(</a:t>
            </a:r>
            <a:r>
              <a:rPr lang="en" sz="1100">
                <a:solidFill>
                  <a:srgbClr val="000080"/>
                </a:solidFill>
              </a:rPr>
              <a:t>val</a:t>
            </a:r>
            <a:r>
              <a:rPr lang="en" sz="1100">
                <a:solidFill>
                  <a:srgbClr val="37474F"/>
                </a:solidFill>
              </a:rPr>
              <a:t> </a:t>
            </a:r>
            <a:r>
              <a:rPr lang="en" sz="1100">
                <a:solidFill>
                  <a:srgbClr val="660E7A"/>
                </a:solidFill>
              </a:rPr>
              <a:t>name</a:t>
            </a:r>
            <a:r>
              <a:rPr lang="en" sz="1100">
                <a:solidFill>
                  <a:srgbClr val="37474F"/>
                </a:solidFill>
              </a:rPr>
              <a:t>: String):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AzureColor(</a:t>
            </a:r>
            <a:r>
              <a:rPr lang="en" sz="1100">
                <a:solidFill>
                  <a:srgbClr val="000080"/>
                </a:solidFill>
              </a:rPr>
              <a:t>val </a:t>
            </a:r>
            <a:r>
              <a:rPr lang="en" sz="1100">
                <a:solidFill>
                  <a:srgbClr val="660E7A"/>
                </a:solidFill>
              </a:rPr>
              <a:t>name</a:t>
            </a:r>
            <a:r>
              <a:rPr lang="en" sz="1100">
                <a:solidFill>
                  <a:srgbClr val="37474F"/>
                </a:solidFill>
              </a:rPr>
              <a:t>: String):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HoneydewColor(</a:t>
            </a:r>
            <a:r>
              <a:rPr lang="en" sz="1100">
                <a:solidFill>
                  <a:srgbClr val="000080"/>
                </a:solidFill>
              </a:rPr>
              <a:t>val </a:t>
            </a:r>
            <a:r>
              <a:rPr lang="en" sz="1100">
                <a:solidFill>
                  <a:srgbClr val="660E7A"/>
                </a:solidFill>
              </a:rPr>
              <a:t>name</a:t>
            </a:r>
            <a:r>
              <a:rPr lang="en" sz="1100">
                <a:solidFill>
                  <a:srgbClr val="37474F"/>
                </a:solidFill>
              </a:rPr>
              <a:t>: String):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400">
                <a:latin typeface="Open Sans"/>
                <a:ea typeface="Open Sans"/>
                <a:cs typeface="Open Sans"/>
                <a:sym typeface="Open Sans"/>
              </a:rPr>
              <a:t>We have the common part in </a:t>
            </a:r>
            <a:r>
              <a:rPr b="1" lang="en" sz="1400">
                <a:latin typeface="Open Sans"/>
                <a:ea typeface="Open Sans"/>
                <a:cs typeface="Open Sans"/>
                <a:sym typeface="Open Sans"/>
              </a:rPr>
              <a:t>all</a:t>
            </a:r>
            <a:r>
              <a:rPr lang="en" sz="1400">
                <a:latin typeface="Open Sans"/>
                <a:ea typeface="Open Sans"/>
                <a:cs typeface="Open Sans"/>
                <a:sym typeface="Open Sans"/>
              </a:rPr>
              <a:t> classes and w</a:t>
            </a:r>
            <a:r>
              <a:rPr lang="en" sz="1400">
                <a:latin typeface="Open Sans"/>
                <a:ea typeface="Open Sans"/>
                <a:cs typeface="Open Sans"/>
                <a:sym typeface="Open Sans"/>
              </a:rPr>
              <a:t>e know that these are the </a:t>
            </a:r>
            <a:r>
              <a:rPr b="1" lang="en" sz="1400">
                <a:latin typeface="Open Sans"/>
                <a:ea typeface="Open Sans"/>
                <a:cs typeface="Open Sans"/>
                <a:sym typeface="Open Sans"/>
              </a:rPr>
              <a:t>only</a:t>
            </a:r>
            <a:r>
              <a:rPr lang="en" sz="1400">
                <a:latin typeface="Open Sans"/>
                <a:ea typeface="Open Sans"/>
                <a:cs typeface="Open Sans"/>
                <a:sym typeface="Open Sans"/>
              </a:rPr>
              <a:t> possible subclasses</a:t>
            </a:r>
            <a:r>
              <a:rPr lang="en" sz="1400">
                <a:latin typeface="Open Sans"/>
                <a:ea typeface="Open Sans"/>
                <a:cs typeface="Open Sans"/>
                <a:sym typeface="Open Sans"/>
              </a:rPr>
              <a:t>. Let’s move this code into the base class.</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100"/>
              <a:buFont typeface="Arial"/>
              <a:buNone/>
            </a:pPr>
            <a:r>
              <a:t/>
            </a:r>
            <a:endParaRPr sz="1400">
              <a:latin typeface="Open Sans"/>
              <a:ea typeface="Open Sans"/>
              <a:cs typeface="Open Sans"/>
              <a:sym typeface="Open Sans"/>
            </a:endParaRPr>
          </a:p>
          <a:p>
            <a:pPr indent="0" lvl="0" marL="0" rtl="0" algn="l">
              <a:lnSpc>
                <a:spcPct val="115000"/>
              </a:lnSpc>
              <a:spcBef>
                <a:spcPts val="400"/>
              </a:spcBef>
              <a:spcAft>
                <a:spcPts val="400"/>
              </a:spcAft>
              <a:buNone/>
            </a:pPr>
            <a:r>
              <a:t/>
            </a:r>
            <a:endParaRPr sz="1400">
              <a:latin typeface="Open Sans"/>
              <a:ea typeface="Open Sans"/>
              <a:cs typeface="Open Sans"/>
              <a:sym typeface="Open Sans"/>
            </a:endParaRPr>
          </a:p>
        </p:txBody>
      </p:sp>
      <p:sp>
        <p:nvSpPr>
          <p:cNvPr id="266" name="Google Shape;266;p4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One</a:t>
            </a:r>
            <a:r>
              <a:rPr lang="en"/>
              <a:t> last thing…</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4"/>
          <p:cNvSpPr txBox="1"/>
          <p:nvPr/>
        </p:nvSpPr>
        <p:spPr>
          <a:xfrm>
            <a:off x="4770100" y="1750550"/>
            <a:ext cx="4435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44"/>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sealed</a:t>
            </a:r>
            <a:r>
              <a:rPr lang="en" sz="1100">
                <a:solidFill>
                  <a:srgbClr val="37474F"/>
                </a:solidFill>
              </a:rPr>
              <a:t> </a:t>
            </a:r>
            <a:r>
              <a:rPr lang="en" sz="1100">
                <a:solidFill>
                  <a:srgbClr val="000080"/>
                </a:solidFill>
              </a:rPr>
              <a:t>class</a:t>
            </a:r>
            <a:r>
              <a:rPr lang="en" sz="1100">
                <a:solidFill>
                  <a:srgbClr val="37474F"/>
                </a:solidFill>
              </a:rPr>
              <a:t>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WhiteColor(</a:t>
            </a:r>
            <a:r>
              <a:rPr lang="en" sz="1100">
                <a:solidFill>
                  <a:srgbClr val="000080"/>
                </a:solidFill>
              </a:rPr>
              <a:t>val</a:t>
            </a:r>
            <a:r>
              <a:rPr lang="en" sz="1100">
                <a:solidFill>
                  <a:srgbClr val="37474F"/>
                </a:solidFill>
              </a:rPr>
              <a:t> </a:t>
            </a:r>
            <a:r>
              <a:rPr lang="en" sz="1100">
                <a:solidFill>
                  <a:srgbClr val="660E7A"/>
                </a:solidFill>
              </a:rPr>
              <a:t>name</a:t>
            </a:r>
            <a:r>
              <a:rPr lang="en" sz="1100">
                <a:solidFill>
                  <a:srgbClr val="37474F"/>
                </a:solidFill>
              </a:rPr>
              <a:t>: String):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AzureColor(</a:t>
            </a:r>
            <a:r>
              <a:rPr lang="en" sz="1100">
                <a:solidFill>
                  <a:srgbClr val="000080"/>
                </a:solidFill>
              </a:rPr>
              <a:t>val </a:t>
            </a:r>
            <a:r>
              <a:rPr lang="en" sz="1100">
                <a:solidFill>
                  <a:srgbClr val="660E7A"/>
                </a:solidFill>
              </a:rPr>
              <a:t>name</a:t>
            </a:r>
            <a:r>
              <a:rPr lang="en" sz="1100">
                <a:solidFill>
                  <a:srgbClr val="37474F"/>
                </a:solidFill>
              </a:rPr>
              <a:t>: String):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HoneydewColor(</a:t>
            </a:r>
            <a:r>
              <a:rPr lang="en" sz="1100">
                <a:solidFill>
                  <a:srgbClr val="000080"/>
                </a:solidFill>
              </a:rPr>
              <a:t>val </a:t>
            </a:r>
            <a:r>
              <a:rPr lang="en" sz="1100">
                <a:solidFill>
                  <a:srgbClr val="660E7A"/>
                </a:solidFill>
              </a:rPr>
              <a:t>name</a:t>
            </a:r>
            <a:r>
              <a:rPr lang="en" sz="1100">
                <a:solidFill>
                  <a:srgbClr val="37474F"/>
                </a:solidFill>
              </a:rPr>
              <a:t>: String):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sealed</a:t>
            </a:r>
            <a:r>
              <a:rPr lang="en" sz="1100">
                <a:solidFill>
                  <a:srgbClr val="37474F"/>
                </a:solidFill>
              </a:rPr>
              <a:t> </a:t>
            </a:r>
            <a:r>
              <a:rPr lang="en" sz="1100">
                <a:solidFill>
                  <a:srgbClr val="000080"/>
                </a:solidFill>
              </a:rPr>
              <a:t>class</a:t>
            </a:r>
            <a:r>
              <a:rPr lang="en" sz="1100">
                <a:solidFill>
                  <a:srgbClr val="37474F"/>
                </a:solidFill>
              </a:rPr>
              <a:t> NewColor(</a:t>
            </a:r>
            <a:r>
              <a:rPr lang="en" sz="1100">
                <a:solidFill>
                  <a:srgbClr val="000080"/>
                </a:solidFill>
              </a:rPr>
              <a:t>val</a:t>
            </a:r>
            <a:r>
              <a:rPr lang="en" sz="1100">
                <a:solidFill>
                  <a:srgbClr val="37474F"/>
                </a:solidFill>
              </a:rPr>
              <a:t> </a:t>
            </a:r>
            <a:r>
              <a:rPr lang="en" sz="1100">
                <a:solidFill>
                  <a:srgbClr val="660E7A"/>
                </a:solidFill>
              </a:rPr>
              <a:t>name</a:t>
            </a:r>
            <a:r>
              <a:rPr lang="en" sz="1100">
                <a:solidFill>
                  <a:srgbClr val="37474F"/>
                </a:solidFill>
              </a:rPr>
              <a:t>: String)</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WhiteColor(name: String): NewColor(name)</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AzureColor(name: String): NewColor(name)</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HoneydewColor(name: String): NewColor(name)</a:t>
            </a:r>
            <a:endParaRPr sz="13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t/>
            </a:r>
            <a:endParaRPr sz="12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400">
                <a:latin typeface="Open Sans"/>
                <a:ea typeface="Open Sans"/>
                <a:cs typeface="Open Sans"/>
                <a:sym typeface="Open Sans"/>
              </a:rPr>
              <a:t>Actually, we have </a:t>
            </a:r>
            <a:r>
              <a:rPr b="1" lang="en" sz="1400">
                <a:latin typeface="Open Sans"/>
                <a:ea typeface="Open Sans"/>
                <a:cs typeface="Open Sans"/>
                <a:sym typeface="Open Sans"/>
              </a:rPr>
              <a:t>equivalent</a:t>
            </a:r>
            <a:r>
              <a:rPr lang="en" sz="1400">
                <a:latin typeface="Open Sans"/>
                <a:ea typeface="Open Sans"/>
                <a:cs typeface="Open Sans"/>
                <a:sym typeface="Open Sans"/>
              </a:rPr>
              <a:t> classes, i.e. </a:t>
            </a:r>
            <a:r>
              <a:rPr i="1" lang="en" sz="1400">
                <a:latin typeface="Open Sans"/>
                <a:ea typeface="Open Sans"/>
                <a:cs typeface="Open Sans"/>
                <a:sym typeface="Open Sans"/>
              </a:rPr>
              <a:t>each</a:t>
            </a:r>
            <a:r>
              <a:rPr lang="en" sz="1400">
                <a:latin typeface="Open Sans"/>
                <a:ea typeface="Open Sans"/>
                <a:cs typeface="Open Sans"/>
                <a:sym typeface="Open Sans"/>
              </a:rPr>
              <a:t> function for the first version can be rewritten as the </a:t>
            </a:r>
            <a:r>
              <a:rPr i="1" lang="en" sz="1400">
                <a:latin typeface="Open Sans"/>
                <a:ea typeface="Open Sans"/>
                <a:cs typeface="Open Sans"/>
                <a:sym typeface="Open Sans"/>
              </a:rPr>
              <a:t>second</a:t>
            </a:r>
            <a:r>
              <a:rPr lang="en" sz="1400">
                <a:latin typeface="Open Sans"/>
                <a:ea typeface="Open Sans"/>
                <a:cs typeface="Open Sans"/>
                <a:sym typeface="Open Sans"/>
              </a:rPr>
              <a:t> one.</a:t>
            </a:r>
            <a:endParaRPr sz="1400">
              <a:latin typeface="Open Sans"/>
              <a:ea typeface="Open Sans"/>
              <a:cs typeface="Open Sans"/>
              <a:sym typeface="Open Sans"/>
            </a:endParaRPr>
          </a:p>
          <a:p>
            <a:pPr indent="0" lvl="0" marL="0" rtl="0" algn="l">
              <a:lnSpc>
                <a:spcPct val="115000"/>
              </a:lnSpc>
              <a:spcBef>
                <a:spcPts val="400"/>
              </a:spcBef>
              <a:spcAft>
                <a:spcPts val="400"/>
              </a:spcAft>
              <a:buNone/>
            </a:pPr>
            <a:r>
              <a:t/>
            </a:r>
            <a:endParaRPr/>
          </a:p>
        </p:txBody>
      </p:sp>
      <p:sp>
        <p:nvSpPr>
          <p:cNvPr id="273" name="Google Shape;273;p4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One</a:t>
            </a:r>
            <a:r>
              <a:rPr lang="en"/>
              <a:t> last thing…</a:t>
            </a:r>
            <a:endParaRPr/>
          </a:p>
        </p:txBody>
      </p:sp>
      <p:cxnSp>
        <p:nvCxnSpPr>
          <p:cNvPr id="274" name="Google Shape;274;p44"/>
          <p:cNvCxnSpPr/>
          <p:nvPr/>
        </p:nvCxnSpPr>
        <p:spPr>
          <a:xfrm rot="10800000">
            <a:off x="1697400" y="2432232"/>
            <a:ext cx="0" cy="354300"/>
          </a:xfrm>
          <a:prstGeom prst="straightConnector1">
            <a:avLst/>
          </a:prstGeom>
          <a:noFill/>
          <a:ln cap="flat" cmpd="sng" w="19050">
            <a:solidFill>
              <a:srgbClr val="685CE5"/>
            </a:solidFill>
            <a:prstDash val="solid"/>
            <a:round/>
            <a:headEnd len="med" w="med" type="triangle"/>
            <a:tailEnd len="sm" w="sm" type="none"/>
          </a:ln>
        </p:spPr>
      </p:cxn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5"/>
          <p:cNvSpPr txBox="1"/>
          <p:nvPr/>
        </p:nvSpPr>
        <p:spPr>
          <a:xfrm>
            <a:off x="4770100" y="1750550"/>
            <a:ext cx="4435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45"/>
          <p:cNvSpPr txBox="1"/>
          <p:nvPr>
            <p:ph idx="1" type="body"/>
          </p:nvPr>
        </p:nvSpPr>
        <p:spPr>
          <a:xfrm>
            <a:off x="292600" y="1335025"/>
            <a:ext cx="4188000" cy="26172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sealed</a:t>
            </a:r>
            <a:r>
              <a:rPr lang="en" sz="1100">
                <a:solidFill>
                  <a:srgbClr val="37474F"/>
                </a:solidFill>
              </a:rPr>
              <a:t> </a:t>
            </a:r>
            <a:r>
              <a:rPr lang="en" sz="1100">
                <a:solidFill>
                  <a:srgbClr val="000080"/>
                </a:solidFill>
              </a:rPr>
              <a:t>class</a:t>
            </a:r>
            <a:r>
              <a:rPr lang="en" sz="1100">
                <a:solidFill>
                  <a:srgbClr val="37474F"/>
                </a:solidFill>
              </a:rPr>
              <a:t>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WhiteColor(</a:t>
            </a:r>
            <a:r>
              <a:rPr lang="en" sz="1100">
                <a:solidFill>
                  <a:srgbClr val="000080"/>
                </a:solidFill>
              </a:rPr>
              <a:t>val</a:t>
            </a:r>
            <a:r>
              <a:rPr lang="en" sz="1100">
                <a:solidFill>
                  <a:srgbClr val="37474F"/>
                </a:solidFill>
              </a:rPr>
              <a:t> </a:t>
            </a:r>
            <a:r>
              <a:rPr lang="en" sz="1100">
                <a:solidFill>
                  <a:srgbClr val="660E7A"/>
                </a:solidFill>
              </a:rPr>
              <a:t>name</a:t>
            </a:r>
            <a:r>
              <a:rPr lang="en" sz="1100">
                <a:solidFill>
                  <a:srgbClr val="37474F"/>
                </a:solidFill>
              </a:rPr>
              <a:t>: String):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AzureColor(</a:t>
            </a:r>
            <a:r>
              <a:rPr lang="en" sz="1100">
                <a:solidFill>
                  <a:srgbClr val="000080"/>
                </a:solidFill>
              </a:rPr>
              <a:t>val </a:t>
            </a:r>
            <a:r>
              <a:rPr lang="en" sz="1100">
                <a:solidFill>
                  <a:srgbClr val="660E7A"/>
                </a:solidFill>
              </a:rPr>
              <a:t>name</a:t>
            </a:r>
            <a:r>
              <a:rPr lang="en" sz="1100">
                <a:solidFill>
                  <a:srgbClr val="37474F"/>
                </a:solidFill>
              </a:rPr>
              <a:t>: String):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HoneydewColor(</a:t>
            </a:r>
            <a:r>
              <a:rPr lang="en" sz="1100">
                <a:solidFill>
                  <a:srgbClr val="000080"/>
                </a:solidFill>
              </a:rPr>
              <a:t>val </a:t>
            </a:r>
            <a:r>
              <a:rPr lang="en" sz="1100">
                <a:solidFill>
                  <a:srgbClr val="660E7A"/>
                </a:solidFill>
              </a:rPr>
              <a:t>name</a:t>
            </a:r>
            <a:r>
              <a:rPr lang="en" sz="1100">
                <a:solidFill>
                  <a:srgbClr val="37474F"/>
                </a:solidFill>
              </a:rPr>
              <a:t>: String): Color()</a:t>
            </a:r>
            <a:endParaRPr sz="1100">
              <a:solidFill>
                <a:srgbClr val="37474F"/>
              </a:solidFill>
            </a:endParaRPr>
          </a:p>
          <a:p>
            <a:pPr indent="0" lvl="0" marL="0" rtl="0" algn="l">
              <a:lnSpc>
                <a:spcPct val="115000"/>
              </a:lnSpc>
              <a:spcBef>
                <a:spcPts val="400"/>
              </a:spcBef>
              <a:spcAft>
                <a:spcPts val="0"/>
              </a:spcAft>
              <a:buNone/>
            </a:pPr>
            <a:r>
              <a:t/>
            </a:r>
            <a:endParaRPr sz="1100">
              <a:solidFill>
                <a:srgbClr val="37474F"/>
              </a:solidFill>
            </a:endParaRPr>
          </a:p>
          <a:p>
            <a:pPr indent="0" lvl="0" marL="0" rtl="0" algn="l">
              <a:lnSpc>
                <a:spcPct val="115000"/>
              </a:lnSpc>
              <a:spcBef>
                <a:spcPts val="400"/>
              </a:spcBef>
              <a:spcAft>
                <a:spcPts val="0"/>
              </a:spcAft>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sealed</a:t>
            </a:r>
            <a:r>
              <a:rPr lang="en" sz="1100">
                <a:solidFill>
                  <a:srgbClr val="37474F"/>
                </a:solidFill>
              </a:rPr>
              <a:t> </a:t>
            </a:r>
            <a:r>
              <a:rPr lang="en" sz="1100">
                <a:solidFill>
                  <a:srgbClr val="000080"/>
                </a:solidFill>
              </a:rPr>
              <a:t>class</a:t>
            </a:r>
            <a:r>
              <a:rPr lang="en" sz="1100">
                <a:solidFill>
                  <a:srgbClr val="37474F"/>
                </a:solidFill>
              </a:rPr>
              <a:t> NewColor(</a:t>
            </a:r>
            <a:r>
              <a:rPr lang="en" sz="1100">
                <a:solidFill>
                  <a:srgbClr val="000080"/>
                </a:solidFill>
              </a:rPr>
              <a:t>val</a:t>
            </a:r>
            <a:r>
              <a:rPr lang="en" sz="1100">
                <a:solidFill>
                  <a:srgbClr val="37474F"/>
                </a:solidFill>
              </a:rPr>
              <a:t> </a:t>
            </a:r>
            <a:r>
              <a:rPr lang="en" sz="1100">
                <a:solidFill>
                  <a:srgbClr val="660E7A"/>
                </a:solidFill>
              </a:rPr>
              <a:t>name</a:t>
            </a:r>
            <a:r>
              <a:rPr lang="en" sz="1100">
                <a:solidFill>
                  <a:srgbClr val="37474F"/>
                </a:solidFill>
              </a:rPr>
              <a:t>: String)</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WhiteColor(name: String): NewColor(name)</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AzureColor(name: String): NewColor(name)</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HoneydewColor(name: String): NewColor(name)</a:t>
            </a:r>
            <a:endParaRPr sz="1100">
              <a:latin typeface="Open Sans"/>
              <a:ea typeface="Open Sans"/>
              <a:cs typeface="Open Sans"/>
              <a:sym typeface="Open Sans"/>
            </a:endParaRPr>
          </a:p>
          <a:p>
            <a:pPr indent="0" lvl="0" marL="0" rtl="0" algn="l">
              <a:lnSpc>
                <a:spcPct val="115000"/>
              </a:lnSpc>
              <a:spcBef>
                <a:spcPts val="400"/>
              </a:spcBef>
              <a:spcAft>
                <a:spcPts val="400"/>
              </a:spcAft>
              <a:buNone/>
            </a:pPr>
            <a:r>
              <a:t/>
            </a:r>
            <a:endParaRPr/>
          </a:p>
        </p:txBody>
      </p:sp>
      <p:sp>
        <p:nvSpPr>
          <p:cNvPr id="281" name="Google Shape;281;p4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One</a:t>
            </a:r>
            <a:r>
              <a:rPr lang="en"/>
              <a:t> last thing…</a:t>
            </a:r>
            <a:endParaRPr/>
          </a:p>
        </p:txBody>
      </p:sp>
      <p:sp>
        <p:nvSpPr>
          <p:cNvPr id="282" name="Google Shape;282;p45"/>
          <p:cNvSpPr txBox="1"/>
          <p:nvPr>
            <p:ph idx="1" type="body"/>
          </p:nvPr>
        </p:nvSpPr>
        <p:spPr>
          <a:xfrm>
            <a:off x="292600" y="4297680"/>
            <a:ext cx="8439900" cy="574800"/>
          </a:xfrm>
          <a:prstGeom prst="rect">
            <a:avLst/>
          </a:prstGeom>
        </p:spPr>
        <p:txBody>
          <a:bodyPr anchorCtr="0" anchor="t" bIns="0" lIns="0" spcFirstLastPara="1" rIns="0" wrap="square" tIns="73150">
            <a:noAutofit/>
          </a:bodyPr>
          <a:lstStyle/>
          <a:p>
            <a:pPr indent="0" lvl="0" marL="0" rtl="0" algn="l">
              <a:spcBef>
                <a:spcPts val="0"/>
              </a:spcBef>
              <a:spcAft>
                <a:spcPts val="400"/>
              </a:spcAft>
              <a:buClr>
                <a:schemeClr val="dk1"/>
              </a:buClr>
              <a:buSzPts val="1100"/>
              <a:buFont typeface="Arial"/>
              <a:buNone/>
            </a:pPr>
            <a:r>
              <a:rPr lang="en" sz="1400">
                <a:latin typeface="Open Sans"/>
                <a:ea typeface="Open Sans"/>
                <a:cs typeface="Open Sans"/>
                <a:sym typeface="Open Sans"/>
              </a:rPr>
              <a:t>In the first function, we have smart casts, but in the second one we don't have them.</a:t>
            </a:r>
            <a:endParaRPr sz="1400">
              <a:latin typeface="Open Sans"/>
              <a:ea typeface="Open Sans"/>
              <a:cs typeface="Open Sans"/>
              <a:sym typeface="Open Sans"/>
            </a:endParaRPr>
          </a:p>
        </p:txBody>
      </p:sp>
      <p:sp>
        <p:nvSpPr>
          <p:cNvPr id="283" name="Google Shape;283;p45"/>
          <p:cNvSpPr txBox="1"/>
          <p:nvPr>
            <p:ph idx="1" type="body"/>
          </p:nvPr>
        </p:nvSpPr>
        <p:spPr>
          <a:xfrm>
            <a:off x="4801975" y="1335025"/>
            <a:ext cx="4262700" cy="26172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000080"/>
                </a:solidFill>
              </a:rPr>
              <a:t>fun</a:t>
            </a:r>
            <a:r>
              <a:rPr lang="en" sz="1100">
                <a:solidFill>
                  <a:srgbClr val="37474F"/>
                </a:solidFill>
              </a:rPr>
              <a:t> Color.getUserRGB() = </a:t>
            </a:r>
            <a:r>
              <a:rPr lang="en" sz="1100">
                <a:solidFill>
                  <a:srgbClr val="000080"/>
                </a:solidFill>
              </a:rPr>
              <a:t>when</a:t>
            </a:r>
            <a:r>
              <a:rPr lang="en" sz="1100">
                <a:solidFill>
                  <a:srgbClr val="37474F"/>
                </a:solidFill>
              </a:rPr>
              <a:t> (</a:t>
            </a:r>
            <a:r>
              <a:rPr lang="en" sz="1100">
                <a:solidFill>
                  <a:srgbClr val="000080"/>
                </a:solidFill>
              </a:rPr>
              <a:t>this</a:t>
            </a:r>
            <a:r>
              <a:rPr lang="en" sz="1100">
                <a:solidFill>
                  <a:srgbClr val="37474F"/>
                </a:solidFill>
              </a:rPr>
              <a:t>) {</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a:t>
            </a:r>
            <a:r>
              <a:rPr lang="en" sz="1100">
                <a:solidFill>
                  <a:srgbClr val="000080"/>
                </a:solidFill>
              </a:rPr>
              <a:t>is</a:t>
            </a:r>
            <a:r>
              <a:rPr lang="en" sz="1100">
                <a:solidFill>
                  <a:srgbClr val="37474F"/>
                </a:solidFill>
              </a:rPr>
              <a:t> WhiteColor -&gt; </a:t>
            </a:r>
            <a:r>
              <a:rPr lang="en" sz="1100">
                <a:solidFill>
                  <a:srgbClr val="008000"/>
                </a:solidFill>
              </a:rPr>
              <a:t>"</a:t>
            </a:r>
            <a:r>
              <a:rPr lang="en" sz="1100">
                <a:solidFill>
                  <a:srgbClr val="37474F"/>
                </a:solidFill>
              </a:rPr>
              <a:t>${</a:t>
            </a:r>
            <a:r>
              <a:rPr lang="en" sz="1100">
                <a:solidFill>
                  <a:srgbClr val="37474F"/>
                </a:solidFill>
                <a:highlight>
                  <a:srgbClr val="B6D7A8"/>
                </a:highlight>
              </a:rPr>
              <a:t>this</a:t>
            </a:r>
            <a:r>
              <a:rPr lang="en" sz="1100">
                <a:solidFill>
                  <a:srgbClr val="37474F"/>
                </a:solidFill>
              </a:rPr>
              <a:t>.name}</a:t>
            </a:r>
            <a:r>
              <a:rPr lang="en" sz="1100">
                <a:solidFill>
                  <a:srgbClr val="008000"/>
                </a:solidFill>
              </a:rPr>
              <a:t>: #FFFFFF"</a:t>
            </a:r>
            <a:endParaRPr sz="1100">
              <a:solidFill>
                <a:srgbClr val="008000"/>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a:t>
            </a:r>
            <a:r>
              <a:rPr lang="en" sz="1100">
                <a:solidFill>
                  <a:srgbClr val="000080"/>
                </a:solidFill>
              </a:rPr>
              <a:t>is</a:t>
            </a:r>
            <a:r>
              <a:rPr lang="en" sz="1100">
                <a:solidFill>
                  <a:srgbClr val="37474F"/>
                </a:solidFill>
              </a:rPr>
              <a:t> AzureColor -&gt; </a:t>
            </a:r>
            <a:r>
              <a:rPr lang="en" sz="1100">
                <a:solidFill>
                  <a:srgbClr val="008000"/>
                </a:solidFill>
              </a:rPr>
              <a:t>"</a:t>
            </a:r>
            <a:r>
              <a:rPr lang="en" sz="1100">
                <a:solidFill>
                  <a:srgbClr val="37474F"/>
                </a:solidFill>
              </a:rPr>
              <a:t>${</a:t>
            </a:r>
            <a:r>
              <a:rPr lang="en" sz="1100">
                <a:solidFill>
                  <a:srgbClr val="37474F"/>
                </a:solidFill>
                <a:highlight>
                  <a:srgbClr val="B6D7A8"/>
                </a:highlight>
              </a:rPr>
              <a:t>this</a:t>
            </a:r>
            <a:r>
              <a:rPr lang="en" sz="1100">
                <a:solidFill>
                  <a:srgbClr val="37474F"/>
                </a:solidFill>
              </a:rPr>
              <a:t>.name}: </a:t>
            </a:r>
            <a:r>
              <a:rPr lang="en" sz="1100">
                <a:solidFill>
                  <a:srgbClr val="008000"/>
                </a:solidFill>
              </a:rPr>
              <a:t>#F0FFFF"</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a:t>
            </a:r>
            <a:r>
              <a:rPr lang="en" sz="1100">
                <a:solidFill>
                  <a:srgbClr val="000080"/>
                </a:solidFill>
              </a:rPr>
              <a:t>is</a:t>
            </a:r>
            <a:r>
              <a:rPr lang="en" sz="1100">
                <a:solidFill>
                  <a:srgbClr val="37474F"/>
                </a:solidFill>
              </a:rPr>
              <a:t> HoneydewColor -&gt; </a:t>
            </a:r>
            <a:r>
              <a:rPr lang="en" sz="1100">
                <a:solidFill>
                  <a:srgbClr val="008000"/>
                </a:solidFill>
              </a:rPr>
              <a:t>"</a:t>
            </a:r>
            <a:r>
              <a:rPr lang="en" sz="1100">
                <a:solidFill>
                  <a:srgbClr val="37474F"/>
                </a:solidFill>
              </a:rPr>
              <a:t>${</a:t>
            </a:r>
            <a:r>
              <a:rPr lang="en" sz="1100">
                <a:solidFill>
                  <a:srgbClr val="37474F"/>
                </a:solidFill>
                <a:highlight>
                  <a:srgbClr val="B6D7A8"/>
                </a:highlight>
              </a:rPr>
              <a:t>this</a:t>
            </a:r>
            <a:r>
              <a:rPr lang="en" sz="1100">
                <a:solidFill>
                  <a:srgbClr val="37474F"/>
                </a:solidFill>
              </a:rPr>
              <a:t>.name}: </a:t>
            </a:r>
            <a:r>
              <a:rPr lang="en" sz="1100">
                <a:solidFill>
                  <a:srgbClr val="008000"/>
                </a:solidFill>
              </a:rPr>
              <a:t>F0FFF0"</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000080"/>
                </a:solidFill>
              </a:rPr>
              <a:t>fun</a:t>
            </a:r>
            <a:r>
              <a:rPr lang="en" sz="1100">
                <a:solidFill>
                  <a:srgbClr val="37474F"/>
                </a:solidFill>
              </a:rPr>
              <a:t> NewColor.getUserRGB() = </a:t>
            </a:r>
            <a:r>
              <a:rPr lang="en" sz="1100">
                <a:solidFill>
                  <a:srgbClr val="000080"/>
                </a:solidFill>
              </a:rPr>
              <a:t>when</a:t>
            </a:r>
            <a:r>
              <a:rPr lang="en" sz="1100">
                <a:solidFill>
                  <a:srgbClr val="37474F"/>
                </a:solidFill>
              </a:rPr>
              <a:t> (</a:t>
            </a:r>
            <a:r>
              <a:rPr lang="en" sz="1100">
                <a:solidFill>
                  <a:srgbClr val="000080"/>
                </a:solidFill>
              </a:rPr>
              <a:t>this</a:t>
            </a:r>
            <a:r>
              <a:rPr lang="en" sz="1100">
                <a:solidFill>
                  <a:srgbClr val="37474F"/>
                </a:solidFill>
              </a:rPr>
              <a:t>) {</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a:t>
            </a:r>
            <a:r>
              <a:rPr lang="en" sz="1100">
                <a:solidFill>
                  <a:srgbClr val="000080"/>
                </a:solidFill>
              </a:rPr>
              <a:t>is</a:t>
            </a:r>
            <a:r>
              <a:rPr lang="en" sz="1100">
                <a:solidFill>
                  <a:srgbClr val="37474F"/>
                </a:solidFill>
              </a:rPr>
              <a:t> WhiteColor -&gt; </a:t>
            </a:r>
            <a:r>
              <a:rPr lang="en" sz="1100">
                <a:solidFill>
                  <a:srgbClr val="008000"/>
                </a:solidFill>
              </a:rPr>
              <a:t>"</a:t>
            </a:r>
            <a:r>
              <a:rPr lang="en" sz="1100">
                <a:solidFill>
                  <a:srgbClr val="37474F"/>
                </a:solidFill>
              </a:rPr>
              <a:t>${this.name}</a:t>
            </a:r>
            <a:r>
              <a:rPr lang="en" sz="1100">
                <a:solidFill>
                  <a:srgbClr val="008000"/>
                </a:solidFill>
              </a:rPr>
              <a:t>: #FFFFFF"</a:t>
            </a:r>
            <a:endParaRPr sz="1100">
              <a:solidFill>
                <a:srgbClr val="008000"/>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a:t>
            </a:r>
            <a:r>
              <a:rPr lang="en" sz="1100">
                <a:solidFill>
                  <a:srgbClr val="000080"/>
                </a:solidFill>
              </a:rPr>
              <a:t>is</a:t>
            </a:r>
            <a:r>
              <a:rPr lang="en" sz="1100">
                <a:solidFill>
                  <a:srgbClr val="37474F"/>
                </a:solidFill>
              </a:rPr>
              <a:t> AzureColor -&gt; </a:t>
            </a:r>
            <a:r>
              <a:rPr lang="en" sz="1100">
                <a:solidFill>
                  <a:srgbClr val="008000"/>
                </a:solidFill>
              </a:rPr>
              <a:t>"</a:t>
            </a:r>
            <a:r>
              <a:rPr lang="en" sz="1100">
                <a:solidFill>
                  <a:srgbClr val="37474F"/>
                </a:solidFill>
              </a:rPr>
              <a:t>${this.name}: </a:t>
            </a:r>
            <a:r>
              <a:rPr lang="en" sz="1100">
                <a:solidFill>
                  <a:srgbClr val="008000"/>
                </a:solidFill>
              </a:rPr>
              <a:t>#F0FFFF"</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a:t>
            </a:r>
            <a:r>
              <a:rPr lang="en" sz="1100">
                <a:solidFill>
                  <a:srgbClr val="000080"/>
                </a:solidFill>
              </a:rPr>
              <a:t>is</a:t>
            </a:r>
            <a:r>
              <a:rPr lang="en" sz="1100">
                <a:solidFill>
                  <a:srgbClr val="37474F"/>
                </a:solidFill>
              </a:rPr>
              <a:t> HoneydewColor -&gt; </a:t>
            </a:r>
            <a:r>
              <a:rPr lang="en" sz="1100">
                <a:solidFill>
                  <a:srgbClr val="008000"/>
                </a:solidFill>
              </a:rPr>
              <a:t>"</a:t>
            </a:r>
            <a:r>
              <a:rPr lang="en" sz="1100">
                <a:solidFill>
                  <a:srgbClr val="37474F"/>
                </a:solidFill>
              </a:rPr>
              <a:t>${this.name}: </a:t>
            </a:r>
            <a:r>
              <a:rPr lang="en" sz="1100">
                <a:solidFill>
                  <a:srgbClr val="008000"/>
                </a:solidFill>
              </a:rPr>
              <a:t>F0FFF0"</a:t>
            </a:r>
            <a:endParaRPr sz="1100">
              <a:solidFill>
                <a:srgbClr val="37474F"/>
              </a:solidFill>
            </a:endParaRPr>
          </a:p>
          <a:p>
            <a:pPr indent="0" lvl="0" marL="0" rtl="0" algn="l">
              <a:lnSpc>
                <a:spcPct val="115000"/>
              </a:lnSpc>
              <a:spcBef>
                <a:spcPts val="400"/>
              </a:spcBef>
              <a:spcAft>
                <a:spcPts val="400"/>
              </a:spcAft>
              <a:buNone/>
            </a:pPr>
            <a:r>
              <a:rPr lang="en" sz="1100">
                <a:solidFill>
                  <a:srgbClr val="37474F"/>
                </a:solidFill>
              </a:rPr>
              <a:t>}</a:t>
            </a:r>
            <a:endParaRPr sz="1100">
              <a:solidFill>
                <a:srgbClr val="000080"/>
              </a:solidFill>
            </a:endParaRPr>
          </a:p>
        </p:txBody>
      </p:sp>
      <p:cxnSp>
        <p:nvCxnSpPr>
          <p:cNvPr id="284" name="Google Shape;284;p45"/>
          <p:cNvCxnSpPr/>
          <p:nvPr/>
        </p:nvCxnSpPr>
        <p:spPr>
          <a:xfrm rot="10800000">
            <a:off x="1697400" y="2432232"/>
            <a:ext cx="0" cy="354300"/>
          </a:xfrm>
          <a:prstGeom prst="straightConnector1">
            <a:avLst/>
          </a:prstGeom>
          <a:noFill/>
          <a:ln cap="flat" cmpd="sng" w="19050">
            <a:solidFill>
              <a:srgbClr val="685CE5"/>
            </a:solidFill>
            <a:prstDash val="solid"/>
            <a:round/>
            <a:headEnd len="med" w="med" type="triangle"/>
            <a:tailEnd len="sm" w="sm" type="none"/>
          </a:ln>
        </p:spPr>
      </p:cxn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6"/>
          <p:cNvSpPr txBox="1"/>
          <p:nvPr>
            <p:ph idx="4294967295" type="body"/>
          </p:nvPr>
        </p:nvSpPr>
        <p:spPr>
          <a:xfrm>
            <a:off x="292608" y="4297680"/>
            <a:ext cx="8520600" cy="563700"/>
          </a:xfrm>
          <a:prstGeom prst="rect">
            <a:avLst/>
          </a:prstGeom>
          <a:noFill/>
          <a:ln>
            <a:noFill/>
          </a:ln>
        </p:spPr>
        <p:txBody>
          <a:bodyPr anchorCtr="0" anchor="t" bIns="91425" lIns="0" spcFirstLastPara="1" rIns="0" wrap="square" tIns="73150">
            <a:noAutofit/>
          </a:bodyPr>
          <a:lstStyle/>
          <a:p>
            <a:pPr indent="0" lvl="0" marL="0" rtl="0" algn="l">
              <a:lnSpc>
                <a:spcPct val="150000"/>
              </a:lnSpc>
              <a:spcBef>
                <a:spcPts val="0"/>
              </a:spcBef>
              <a:spcAft>
                <a:spcPts val="0"/>
              </a:spcAft>
              <a:buSzPts val="1800"/>
              <a:buNone/>
            </a:pPr>
            <a:r>
              <a:rPr b="1" lang="en" sz="1400"/>
              <a:t>Math time! </a:t>
            </a:r>
            <a:r>
              <a:rPr lang="en"/>
              <a:t>We can actually rewrite this in math terms:</a:t>
            </a:r>
            <a:endParaRPr sz="1400"/>
          </a:p>
          <a:p>
            <a:pPr indent="0" lvl="0" marL="0" rtl="0" algn="l">
              <a:lnSpc>
                <a:spcPct val="150000"/>
              </a:lnSpc>
              <a:spcBef>
                <a:spcPts val="0"/>
              </a:spcBef>
              <a:spcAft>
                <a:spcPts val="0"/>
              </a:spcAft>
              <a:buSzPts val="1800"/>
              <a:buNone/>
            </a:pPr>
            <a:r>
              <a:rPr lang="en" sz="1400"/>
              <a:t> </a:t>
            </a:r>
            <a:r>
              <a:rPr lang="en" sz="1100">
                <a:solidFill>
                  <a:srgbClr val="37474F"/>
                </a:solidFill>
                <a:latin typeface="JetBrains Mono"/>
                <a:ea typeface="JetBrains Mono"/>
                <a:cs typeface="JetBrains Mono"/>
                <a:sym typeface="JetBrains Mono"/>
              </a:rPr>
              <a:t>WhiteColor</a:t>
            </a:r>
            <a:r>
              <a:rPr lang="en" sz="1400"/>
              <a:t> * </a:t>
            </a:r>
            <a:r>
              <a:rPr lang="en" sz="1100">
                <a:solidFill>
                  <a:srgbClr val="37474F"/>
                </a:solidFill>
                <a:latin typeface="JetBrains Mono"/>
                <a:ea typeface="JetBrains Mono"/>
                <a:cs typeface="JetBrains Mono"/>
                <a:sym typeface="JetBrains Mono"/>
              </a:rPr>
              <a:t>String</a:t>
            </a:r>
            <a:r>
              <a:rPr lang="en" sz="1400"/>
              <a:t> + … + </a:t>
            </a:r>
            <a:r>
              <a:rPr lang="en" sz="1100">
                <a:solidFill>
                  <a:srgbClr val="37474F"/>
                </a:solidFill>
                <a:latin typeface="JetBrains Mono"/>
                <a:ea typeface="JetBrains Mono"/>
                <a:cs typeface="JetBrains Mono"/>
                <a:sym typeface="JetBrains Mono"/>
              </a:rPr>
              <a:t>HoneydewColor</a:t>
            </a:r>
            <a:r>
              <a:rPr lang="en" sz="1400"/>
              <a:t> * </a:t>
            </a:r>
            <a:r>
              <a:rPr lang="en" sz="1100">
                <a:solidFill>
                  <a:srgbClr val="37474F"/>
                </a:solidFill>
                <a:latin typeface="JetBrains Mono"/>
                <a:ea typeface="JetBrains Mono"/>
                <a:cs typeface="JetBrains Mono"/>
                <a:sym typeface="JetBrains Mono"/>
              </a:rPr>
              <a:t>String ≃ String </a:t>
            </a:r>
            <a:r>
              <a:rPr lang="en" sz="1400"/>
              <a:t>* (</a:t>
            </a:r>
            <a:r>
              <a:rPr lang="en" sz="1100">
                <a:solidFill>
                  <a:srgbClr val="37474F"/>
                </a:solidFill>
                <a:latin typeface="JetBrains Mono"/>
                <a:ea typeface="JetBrains Mono"/>
                <a:cs typeface="JetBrains Mono"/>
                <a:sym typeface="JetBrains Mono"/>
              </a:rPr>
              <a:t>WhiteColor</a:t>
            </a:r>
            <a:r>
              <a:rPr lang="en" sz="1400"/>
              <a:t> + … + </a:t>
            </a:r>
            <a:r>
              <a:rPr lang="en" sz="1100">
                <a:solidFill>
                  <a:srgbClr val="37474F"/>
                </a:solidFill>
                <a:latin typeface="JetBrains Mono"/>
                <a:ea typeface="JetBrains Mono"/>
                <a:cs typeface="JetBrains Mono"/>
                <a:sym typeface="JetBrains Mono"/>
              </a:rPr>
              <a:t>HoneydewColor</a:t>
            </a:r>
            <a:r>
              <a:rPr lang="en" sz="1400"/>
              <a:t>)</a:t>
            </a:r>
            <a:endParaRPr sz="1200">
              <a:solidFill>
                <a:srgbClr val="37474F"/>
              </a:solidFill>
              <a:latin typeface="JetBrains Mono"/>
              <a:ea typeface="JetBrains Mono"/>
              <a:cs typeface="JetBrains Mono"/>
              <a:sym typeface="JetBrains Mono"/>
            </a:endParaRPr>
          </a:p>
        </p:txBody>
      </p:sp>
      <p:sp>
        <p:nvSpPr>
          <p:cNvPr id="290" name="Google Shape;290;p46"/>
          <p:cNvSpPr txBox="1"/>
          <p:nvPr/>
        </p:nvSpPr>
        <p:spPr>
          <a:xfrm>
            <a:off x="4770100" y="1750550"/>
            <a:ext cx="4435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46"/>
          <p:cNvSpPr txBox="1"/>
          <p:nvPr>
            <p:ph idx="1" type="body"/>
          </p:nvPr>
        </p:nvSpPr>
        <p:spPr>
          <a:xfrm>
            <a:off x="292600" y="1335025"/>
            <a:ext cx="41430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sealed</a:t>
            </a:r>
            <a:r>
              <a:rPr lang="en" sz="1100">
                <a:solidFill>
                  <a:srgbClr val="37474F"/>
                </a:solidFill>
              </a:rPr>
              <a:t> </a:t>
            </a:r>
            <a:r>
              <a:rPr lang="en" sz="1100">
                <a:solidFill>
                  <a:srgbClr val="000080"/>
                </a:solidFill>
              </a:rPr>
              <a:t>class</a:t>
            </a:r>
            <a:r>
              <a:rPr lang="en" sz="1100">
                <a:solidFill>
                  <a:srgbClr val="37474F"/>
                </a:solidFill>
              </a:rPr>
              <a:t>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WhiteColor(</a:t>
            </a:r>
            <a:r>
              <a:rPr lang="en" sz="1100">
                <a:solidFill>
                  <a:srgbClr val="000080"/>
                </a:solidFill>
              </a:rPr>
              <a:t>val</a:t>
            </a:r>
            <a:r>
              <a:rPr lang="en" sz="1100">
                <a:solidFill>
                  <a:srgbClr val="37474F"/>
                </a:solidFill>
              </a:rPr>
              <a:t> </a:t>
            </a:r>
            <a:r>
              <a:rPr lang="en" sz="1100">
                <a:solidFill>
                  <a:srgbClr val="660E7A"/>
                </a:solidFill>
              </a:rPr>
              <a:t>name</a:t>
            </a:r>
            <a:r>
              <a:rPr lang="en" sz="1100">
                <a:solidFill>
                  <a:srgbClr val="37474F"/>
                </a:solidFill>
              </a:rPr>
              <a:t>: String):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AzureColor(</a:t>
            </a:r>
            <a:r>
              <a:rPr lang="en" sz="1100">
                <a:solidFill>
                  <a:srgbClr val="000080"/>
                </a:solidFill>
              </a:rPr>
              <a:t>val </a:t>
            </a:r>
            <a:r>
              <a:rPr lang="en" sz="1100">
                <a:solidFill>
                  <a:srgbClr val="660E7A"/>
                </a:solidFill>
              </a:rPr>
              <a:t>name</a:t>
            </a:r>
            <a:r>
              <a:rPr lang="en" sz="1100">
                <a:solidFill>
                  <a:srgbClr val="37474F"/>
                </a:solidFill>
              </a:rPr>
              <a:t>: String):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HoneydewColor(</a:t>
            </a:r>
            <a:r>
              <a:rPr lang="en" sz="1100">
                <a:solidFill>
                  <a:srgbClr val="000080"/>
                </a:solidFill>
              </a:rPr>
              <a:t>val </a:t>
            </a:r>
            <a:r>
              <a:rPr lang="en" sz="1100">
                <a:solidFill>
                  <a:srgbClr val="660E7A"/>
                </a:solidFill>
              </a:rPr>
              <a:t>name</a:t>
            </a:r>
            <a:r>
              <a:rPr lang="en" sz="1100">
                <a:solidFill>
                  <a:srgbClr val="37474F"/>
                </a:solidFill>
              </a:rPr>
              <a:t>: String): Color()</a:t>
            </a:r>
            <a:endParaRPr sz="1100">
              <a:solidFill>
                <a:srgbClr val="37474F"/>
              </a:solidFill>
            </a:endParaRPr>
          </a:p>
          <a:p>
            <a:pPr indent="0" lvl="0" marL="0" rtl="0" algn="l">
              <a:lnSpc>
                <a:spcPct val="115000"/>
              </a:lnSpc>
              <a:spcBef>
                <a:spcPts val="400"/>
              </a:spcBef>
              <a:spcAft>
                <a:spcPts val="0"/>
              </a:spcAft>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sealed</a:t>
            </a:r>
            <a:r>
              <a:rPr lang="en" sz="1100">
                <a:solidFill>
                  <a:srgbClr val="37474F"/>
                </a:solidFill>
              </a:rPr>
              <a:t> </a:t>
            </a:r>
            <a:r>
              <a:rPr lang="en" sz="1100">
                <a:solidFill>
                  <a:srgbClr val="000080"/>
                </a:solidFill>
              </a:rPr>
              <a:t>class</a:t>
            </a:r>
            <a:r>
              <a:rPr lang="en" sz="1100">
                <a:solidFill>
                  <a:srgbClr val="37474F"/>
                </a:solidFill>
              </a:rPr>
              <a:t> NewColor(</a:t>
            </a:r>
            <a:r>
              <a:rPr lang="en" sz="1100">
                <a:solidFill>
                  <a:srgbClr val="000080"/>
                </a:solidFill>
              </a:rPr>
              <a:t>val</a:t>
            </a:r>
            <a:r>
              <a:rPr lang="en" sz="1100">
                <a:solidFill>
                  <a:srgbClr val="37474F"/>
                </a:solidFill>
              </a:rPr>
              <a:t> </a:t>
            </a:r>
            <a:r>
              <a:rPr lang="en" sz="1100">
                <a:solidFill>
                  <a:srgbClr val="660E7A"/>
                </a:solidFill>
              </a:rPr>
              <a:t>name</a:t>
            </a:r>
            <a:r>
              <a:rPr lang="en" sz="1100">
                <a:solidFill>
                  <a:srgbClr val="37474F"/>
                </a:solidFill>
              </a:rPr>
              <a:t>: String)</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WhiteColor(name: String): NewColor(name)</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AzureColor(name: String): NewColor(name)</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HoneydewColor(name: String): NewColor(name)</a:t>
            </a:r>
            <a:endParaRPr sz="1100">
              <a:latin typeface="Open Sans"/>
              <a:ea typeface="Open Sans"/>
              <a:cs typeface="Open Sans"/>
              <a:sym typeface="Open Sans"/>
            </a:endParaRPr>
          </a:p>
          <a:p>
            <a:pPr indent="0" lvl="0" marL="0" rtl="0" algn="l">
              <a:lnSpc>
                <a:spcPct val="115000"/>
              </a:lnSpc>
              <a:spcBef>
                <a:spcPts val="400"/>
              </a:spcBef>
              <a:spcAft>
                <a:spcPts val="400"/>
              </a:spcAft>
              <a:buNone/>
            </a:pPr>
            <a:r>
              <a:t/>
            </a:r>
            <a:endParaRPr/>
          </a:p>
        </p:txBody>
      </p:sp>
      <p:sp>
        <p:nvSpPr>
          <p:cNvPr id="292" name="Google Shape;292;p4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One</a:t>
            </a:r>
            <a:r>
              <a:rPr lang="en"/>
              <a:t> last thing…</a:t>
            </a:r>
            <a:endParaRPr/>
          </a:p>
        </p:txBody>
      </p:sp>
      <p:sp>
        <p:nvSpPr>
          <p:cNvPr id="293" name="Google Shape;293;p46"/>
          <p:cNvSpPr txBox="1"/>
          <p:nvPr>
            <p:ph idx="1" type="body"/>
          </p:nvPr>
        </p:nvSpPr>
        <p:spPr>
          <a:xfrm>
            <a:off x="4800600" y="1335025"/>
            <a:ext cx="41430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000080"/>
                </a:solidFill>
              </a:rPr>
              <a:t>fun</a:t>
            </a:r>
            <a:r>
              <a:rPr lang="en" sz="1100">
                <a:solidFill>
                  <a:srgbClr val="37474F"/>
                </a:solidFill>
              </a:rPr>
              <a:t> Color.getUserRGB() = </a:t>
            </a:r>
            <a:r>
              <a:rPr lang="en" sz="1100">
                <a:solidFill>
                  <a:srgbClr val="000080"/>
                </a:solidFill>
              </a:rPr>
              <a:t>when</a:t>
            </a:r>
            <a:r>
              <a:rPr lang="en" sz="1100">
                <a:solidFill>
                  <a:srgbClr val="37474F"/>
                </a:solidFill>
              </a:rPr>
              <a:t> (</a:t>
            </a:r>
            <a:r>
              <a:rPr lang="en" sz="1100">
                <a:solidFill>
                  <a:srgbClr val="000080"/>
                </a:solidFill>
              </a:rPr>
              <a:t>this</a:t>
            </a:r>
            <a:r>
              <a:rPr lang="en" sz="1100">
                <a:solidFill>
                  <a:srgbClr val="37474F"/>
                </a:solidFill>
              </a:rPr>
              <a:t>) {</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a:t>
            </a:r>
            <a:r>
              <a:rPr lang="en" sz="1100">
                <a:solidFill>
                  <a:srgbClr val="000080"/>
                </a:solidFill>
              </a:rPr>
              <a:t>is</a:t>
            </a:r>
            <a:r>
              <a:rPr lang="en" sz="1100">
                <a:solidFill>
                  <a:srgbClr val="37474F"/>
                </a:solidFill>
              </a:rPr>
              <a:t> WhiteColor -&gt; </a:t>
            </a:r>
            <a:r>
              <a:rPr lang="en" sz="1100">
                <a:solidFill>
                  <a:srgbClr val="008000"/>
                </a:solidFill>
              </a:rPr>
              <a:t>"</a:t>
            </a:r>
            <a:r>
              <a:rPr lang="en" sz="1100">
                <a:solidFill>
                  <a:srgbClr val="37474F"/>
                </a:solidFill>
              </a:rPr>
              <a:t>${</a:t>
            </a:r>
            <a:r>
              <a:rPr lang="en" sz="1100">
                <a:solidFill>
                  <a:srgbClr val="37474F"/>
                </a:solidFill>
                <a:highlight>
                  <a:srgbClr val="B6D7A8"/>
                </a:highlight>
              </a:rPr>
              <a:t>this</a:t>
            </a:r>
            <a:r>
              <a:rPr lang="en" sz="1100">
                <a:solidFill>
                  <a:srgbClr val="37474F"/>
                </a:solidFill>
              </a:rPr>
              <a:t>.name}</a:t>
            </a:r>
            <a:r>
              <a:rPr lang="en" sz="1100">
                <a:solidFill>
                  <a:srgbClr val="008000"/>
                </a:solidFill>
              </a:rPr>
              <a:t>: #FFFFFF"</a:t>
            </a:r>
            <a:endParaRPr sz="1100">
              <a:solidFill>
                <a:srgbClr val="008000"/>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a:t>
            </a:r>
            <a:r>
              <a:rPr lang="en" sz="1100">
                <a:solidFill>
                  <a:srgbClr val="000080"/>
                </a:solidFill>
              </a:rPr>
              <a:t>is</a:t>
            </a:r>
            <a:r>
              <a:rPr lang="en" sz="1100">
                <a:solidFill>
                  <a:srgbClr val="37474F"/>
                </a:solidFill>
              </a:rPr>
              <a:t> AzureColor -&gt; </a:t>
            </a:r>
            <a:r>
              <a:rPr lang="en" sz="1100">
                <a:solidFill>
                  <a:srgbClr val="008000"/>
                </a:solidFill>
              </a:rPr>
              <a:t>"</a:t>
            </a:r>
            <a:r>
              <a:rPr lang="en" sz="1100">
                <a:solidFill>
                  <a:srgbClr val="37474F"/>
                </a:solidFill>
              </a:rPr>
              <a:t>${</a:t>
            </a:r>
            <a:r>
              <a:rPr lang="en" sz="1100">
                <a:solidFill>
                  <a:srgbClr val="37474F"/>
                </a:solidFill>
                <a:highlight>
                  <a:srgbClr val="B6D7A8"/>
                </a:highlight>
              </a:rPr>
              <a:t>this</a:t>
            </a:r>
            <a:r>
              <a:rPr lang="en" sz="1100">
                <a:solidFill>
                  <a:srgbClr val="37474F"/>
                </a:solidFill>
              </a:rPr>
              <a:t>.name}: </a:t>
            </a:r>
            <a:r>
              <a:rPr lang="en" sz="1100">
                <a:solidFill>
                  <a:srgbClr val="008000"/>
                </a:solidFill>
              </a:rPr>
              <a:t>#F0FFFF"</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a:t>
            </a:r>
            <a:r>
              <a:rPr lang="en" sz="1100">
                <a:solidFill>
                  <a:srgbClr val="000080"/>
                </a:solidFill>
              </a:rPr>
              <a:t>is</a:t>
            </a:r>
            <a:r>
              <a:rPr lang="en" sz="1100">
                <a:solidFill>
                  <a:srgbClr val="37474F"/>
                </a:solidFill>
              </a:rPr>
              <a:t> HoneydewColor -&gt; </a:t>
            </a:r>
            <a:r>
              <a:rPr lang="en" sz="1100">
                <a:solidFill>
                  <a:srgbClr val="008000"/>
                </a:solidFill>
              </a:rPr>
              <a:t>"</a:t>
            </a:r>
            <a:r>
              <a:rPr lang="en" sz="1100">
                <a:solidFill>
                  <a:srgbClr val="37474F"/>
                </a:solidFill>
              </a:rPr>
              <a:t>${</a:t>
            </a:r>
            <a:r>
              <a:rPr lang="en" sz="1100">
                <a:solidFill>
                  <a:srgbClr val="37474F"/>
                </a:solidFill>
                <a:highlight>
                  <a:srgbClr val="B6D7A8"/>
                </a:highlight>
              </a:rPr>
              <a:t>this</a:t>
            </a:r>
            <a:r>
              <a:rPr lang="en" sz="1100">
                <a:solidFill>
                  <a:srgbClr val="37474F"/>
                </a:solidFill>
              </a:rPr>
              <a:t>.name}: </a:t>
            </a:r>
            <a:r>
              <a:rPr lang="en" sz="1100">
                <a:solidFill>
                  <a:srgbClr val="008000"/>
                </a:solidFill>
              </a:rPr>
              <a:t>F0FFF0"</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000080"/>
                </a:solidFill>
              </a:rPr>
              <a:t>fun</a:t>
            </a:r>
            <a:r>
              <a:rPr lang="en" sz="1100">
                <a:solidFill>
                  <a:srgbClr val="37474F"/>
                </a:solidFill>
              </a:rPr>
              <a:t> NewColor.getUserRGB() = </a:t>
            </a:r>
            <a:r>
              <a:rPr lang="en" sz="1100">
                <a:solidFill>
                  <a:srgbClr val="000080"/>
                </a:solidFill>
              </a:rPr>
              <a:t>when</a:t>
            </a:r>
            <a:r>
              <a:rPr lang="en" sz="1100">
                <a:solidFill>
                  <a:srgbClr val="37474F"/>
                </a:solidFill>
              </a:rPr>
              <a:t> (</a:t>
            </a:r>
            <a:r>
              <a:rPr lang="en" sz="1100">
                <a:solidFill>
                  <a:srgbClr val="000080"/>
                </a:solidFill>
              </a:rPr>
              <a:t>this</a:t>
            </a:r>
            <a:r>
              <a:rPr lang="en" sz="1100">
                <a:solidFill>
                  <a:srgbClr val="37474F"/>
                </a:solidFill>
              </a:rPr>
              <a:t>) {</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a:t>
            </a:r>
            <a:r>
              <a:rPr lang="en" sz="1100">
                <a:solidFill>
                  <a:srgbClr val="000080"/>
                </a:solidFill>
              </a:rPr>
              <a:t>is</a:t>
            </a:r>
            <a:r>
              <a:rPr lang="en" sz="1100">
                <a:solidFill>
                  <a:srgbClr val="37474F"/>
                </a:solidFill>
              </a:rPr>
              <a:t> WhiteColor -&gt; </a:t>
            </a:r>
            <a:r>
              <a:rPr lang="en" sz="1100">
                <a:solidFill>
                  <a:srgbClr val="008000"/>
                </a:solidFill>
              </a:rPr>
              <a:t>"</a:t>
            </a:r>
            <a:r>
              <a:rPr lang="en" sz="1100">
                <a:solidFill>
                  <a:srgbClr val="37474F"/>
                </a:solidFill>
              </a:rPr>
              <a:t>${this.name}</a:t>
            </a:r>
            <a:r>
              <a:rPr lang="en" sz="1100">
                <a:solidFill>
                  <a:srgbClr val="008000"/>
                </a:solidFill>
              </a:rPr>
              <a:t>: #FFFFFF"</a:t>
            </a:r>
            <a:endParaRPr sz="1100">
              <a:solidFill>
                <a:srgbClr val="008000"/>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a:t>
            </a:r>
            <a:r>
              <a:rPr lang="en" sz="1100">
                <a:solidFill>
                  <a:srgbClr val="000080"/>
                </a:solidFill>
              </a:rPr>
              <a:t>is</a:t>
            </a:r>
            <a:r>
              <a:rPr lang="en" sz="1100">
                <a:solidFill>
                  <a:srgbClr val="37474F"/>
                </a:solidFill>
              </a:rPr>
              <a:t> AzureColor -&gt; </a:t>
            </a:r>
            <a:r>
              <a:rPr lang="en" sz="1100">
                <a:solidFill>
                  <a:srgbClr val="008000"/>
                </a:solidFill>
              </a:rPr>
              <a:t>"</a:t>
            </a:r>
            <a:r>
              <a:rPr lang="en" sz="1100">
                <a:solidFill>
                  <a:srgbClr val="37474F"/>
                </a:solidFill>
              </a:rPr>
              <a:t>${this.name}: </a:t>
            </a:r>
            <a:r>
              <a:rPr lang="en" sz="1100">
                <a:solidFill>
                  <a:srgbClr val="008000"/>
                </a:solidFill>
              </a:rPr>
              <a:t>#F0FFFF"</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a:t>
            </a:r>
            <a:r>
              <a:rPr lang="en" sz="1100">
                <a:solidFill>
                  <a:srgbClr val="000080"/>
                </a:solidFill>
              </a:rPr>
              <a:t>is</a:t>
            </a:r>
            <a:r>
              <a:rPr lang="en" sz="1100">
                <a:solidFill>
                  <a:srgbClr val="37474F"/>
                </a:solidFill>
              </a:rPr>
              <a:t> HoneydewColor -&gt; </a:t>
            </a:r>
            <a:r>
              <a:rPr lang="en" sz="1100">
                <a:solidFill>
                  <a:srgbClr val="008000"/>
                </a:solidFill>
              </a:rPr>
              <a:t>"</a:t>
            </a:r>
            <a:r>
              <a:rPr lang="en" sz="1100">
                <a:solidFill>
                  <a:srgbClr val="37474F"/>
                </a:solidFill>
              </a:rPr>
              <a:t>${this.name}: </a:t>
            </a:r>
            <a:r>
              <a:rPr lang="en" sz="1100">
                <a:solidFill>
                  <a:srgbClr val="008000"/>
                </a:solidFill>
              </a:rPr>
              <a:t>F0FFF0"</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400"/>
              </a:spcBef>
              <a:spcAft>
                <a:spcPts val="400"/>
              </a:spcAft>
              <a:buNone/>
            </a:pPr>
            <a:r>
              <a:t/>
            </a:r>
            <a:endParaRPr sz="1100">
              <a:solidFill>
                <a:srgbClr val="000080"/>
              </a:solidFill>
            </a:endParaRPr>
          </a:p>
        </p:txBody>
      </p:sp>
      <p:cxnSp>
        <p:nvCxnSpPr>
          <p:cNvPr id="294" name="Google Shape;294;p46"/>
          <p:cNvCxnSpPr/>
          <p:nvPr/>
        </p:nvCxnSpPr>
        <p:spPr>
          <a:xfrm rot="10800000">
            <a:off x="1697400" y="2432232"/>
            <a:ext cx="0" cy="354300"/>
          </a:xfrm>
          <a:prstGeom prst="straightConnector1">
            <a:avLst/>
          </a:prstGeom>
          <a:noFill/>
          <a:ln cap="flat" cmpd="sng" w="19050">
            <a:solidFill>
              <a:srgbClr val="685CE5"/>
            </a:solidFill>
            <a:prstDash val="solid"/>
            <a:round/>
            <a:headEnd len="med" w="med" type="triangle"/>
            <a:tailEnd len="sm" w="sm" type="none"/>
          </a:ln>
        </p:spPr>
      </p:cxn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7"/>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b="1" lang="en" sz="1400">
                <a:latin typeface="Open Sans"/>
                <a:ea typeface="Open Sans"/>
                <a:cs typeface="Open Sans"/>
                <a:sym typeface="Open Sans"/>
              </a:rPr>
              <a:t>Math time! </a:t>
            </a:r>
            <a:r>
              <a:rPr lang="en" sz="1400">
                <a:latin typeface="Open Sans"/>
                <a:ea typeface="Open Sans"/>
                <a:cs typeface="Open Sans"/>
                <a:sym typeface="Open Sans"/>
              </a:rPr>
              <a:t>We can actually rewrite this in math terms:</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rPr lang="en" sz="1100">
                <a:latin typeface="Open Sans"/>
                <a:ea typeface="Open Sans"/>
                <a:cs typeface="Open Sans"/>
                <a:sym typeface="Open Sans"/>
              </a:rPr>
              <a:t> </a:t>
            </a:r>
            <a:r>
              <a:rPr lang="en" sz="1100">
                <a:solidFill>
                  <a:srgbClr val="37474F"/>
                </a:solidFill>
              </a:rPr>
              <a:t>WhiteColor</a:t>
            </a:r>
            <a:r>
              <a:rPr lang="en" sz="1100">
                <a:latin typeface="Open Sans"/>
                <a:ea typeface="Open Sans"/>
                <a:cs typeface="Open Sans"/>
                <a:sym typeface="Open Sans"/>
              </a:rPr>
              <a:t> * </a:t>
            </a:r>
            <a:r>
              <a:rPr lang="en" sz="1100">
                <a:solidFill>
                  <a:srgbClr val="37474F"/>
                </a:solidFill>
              </a:rPr>
              <a:t>String</a:t>
            </a:r>
            <a:r>
              <a:rPr lang="en" sz="1100">
                <a:latin typeface="Open Sans"/>
                <a:ea typeface="Open Sans"/>
                <a:cs typeface="Open Sans"/>
                <a:sym typeface="Open Sans"/>
              </a:rPr>
              <a:t> + … + </a:t>
            </a:r>
            <a:r>
              <a:rPr lang="en" sz="1100">
                <a:solidFill>
                  <a:srgbClr val="37474F"/>
                </a:solidFill>
              </a:rPr>
              <a:t>HoneydewColor</a:t>
            </a:r>
            <a:r>
              <a:rPr lang="en" sz="1100">
                <a:latin typeface="Open Sans"/>
                <a:ea typeface="Open Sans"/>
                <a:cs typeface="Open Sans"/>
                <a:sym typeface="Open Sans"/>
              </a:rPr>
              <a:t> * </a:t>
            </a:r>
            <a:r>
              <a:rPr lang="en" sz="1100">
                <a:solidFill>
                  <a:srgbClr val="37474F"/>
                </a:solidFill>
              </a:rPr>
              <a:t>String ≃ String </a:t>
            </a:r>
            <a:r>
              <a:rPr lang="en" sz="1100">
                <a:latin typeface="Open Sans"/>
                <a:ea typeface="Open Sans"/>
                <a:cs typeface="Open Sans"/>
                <a:sym typeface="Open Sans"/>
              </a:rPr>
              <a:t>* (</a:t>
            </a:r>
            <a:r>
              <a:rPr lang="en" sz="1100">
                <a:solidFill>
                  <a:srgbClr val="37474F"/>
                </a:solidFill>
              </a:rPr>
              <a:t>WhiteColor</a:t>
            </a:r>
            <a:r>
              <a:rPr lang="en" sz="1100">
                <a:latin typeface="Open Sans"/>
                <a:ea typeface="Open Sans"/>
                <a:cs typeface="Open Sans"/>
                <a:sym typeface="Open Sans"/>
              </a:rPr>
              <a:t> + … + </a:t>
            </a:r>
            <a:r>
              <a:rPr lang="en" sz="1100">
                <a:solidFill>
                  <a:srgbClr val="37474F"/>
                </a:solidFill>
              </a:rPr>
              <a:t>HoneydewColor</a:t>
            </a:r>
            <a:r>
              <a:rPr lang="en" sz="1100">
                <a:latin typeface="Open Sans"/>
                <a:ea typeface="Open Sans"/>
                <a:cs typeface="Open Sans"/>
                <a:sym typeface="Open Sans"/>
              </a:rPr>
              <a:t>)</a:t>
            </a:r>
            <a:endParaRPr sz="11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100"/>
              <a:buFont typeface="Arial"/>
              <a:buNone/>
            </a:pPr>
            <a:r>
              <a:rPr lang="en" sz="1400">
                <a:latin typeface="Open Sans"/>
                <a:ea typeface="Open Sans"/>
                <a:cs typeface="Open Sans"/>
                <a:sym typeface="Open Sans"/>
              </a:rPr>
              <a:t>This is possible because we are actually operating with </a:t>
            </a:r>
            <a:r>
              <a:rPr b="1" lang="en" sz="1400">
                <a:latin typeface="Open Sans"/>
                <a:ea typeface="Open Sans"/>
                <a:cs typeface="Open Sans"/>
                <a:sym typeface="Open Sans"/>
              </a:rPr>
              <a:t>algebraic data types*</a:t>
            </a:r>
            <a:r>
              <a:rPr lang="en" sz="1400">
                <a:latin typeface="Open Sans"/>
                <a:ea typeface="Open Sans"/>
                <a:cs typeface="Open Sans"/>
                <a:sym typeface="Open Sans"/>
              </a:rPr>
              <a:t> and can use their properties.</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t/>
            </a:r>
            <a:endParaRPr sz="1400">
              <a:solidFill>
                <a:srgbClr val="000080"/>
              </a:solidFill>
            </a:endParaRPr>
          </a:p>
          <a:p>
            <a:pPr indent="0" lvl="0" marL="0" rtl="0" algn="l">
              <a:lnSpc>
                <a:spcPct val="115000"/>
              </a:lnSpc>
              <a:spcBef>
                <a:spcPts val="400"/>
              </a:spcBef>
              <a:spcAft>
                <a:spcPts val="0"/>
              </a:spcAft>
              <a:buClr>
                <a:schemeClr val="dk1"/>
              </a:buClr>
              <a:buSzPts val="1800"/>
              <a:buFont typeface="Arial"/>
              <a:buNone/>
            </a:pPr>
            <a:r>
              <a:t/>
            </a:r>
            <a:endParaRPr sz="1400">
              <a:solidFill>
                <a:srgbClr val="37474F"/>
              </a:solidFill>
            </a:endParaRPr>
          </a:p>
          <a:p>
            <a:pPr indent="0" lvl="0" marL="0" rtl="0" algn="l">
              <a:lnSpc>
                <a:spcPct val="115000"/>
              </a:lnSpc>
              <a:spcBef>
                <a:spcPts val="400"/>
              </a:spcBef>
              <a:spcAft>
                <a:spcPts val="0"/>
              </a:spcAft>
              <a:buNone/>
            </a:pPr>
            <a:r>
              <a:t/>
            </a:r>
            <a:endParaRPr sz="1400">
              <a:solidFill>
                <a:srgbClr val="37474F"/>
              </a:solidFill>
            </a:endParaRPr>
          </a:p>
          <a:p>
            <a:pPr indent="0" lvl="0" marL="0" rtl="0" algn="l">
              <a:lnSpc>
                <a:spcPct val="115000"/>
              </a:lnSpc>
              <a:spcBef>
                <a:spcPts val="400"/>
              </a:spcBef>
              <a:spcAft>
                <a:spcPts val="0"/>
              </a:spcAft>
              <a:buNone/>
            </a:pPr>
            <a:r>
              <a:t/>
            </a:r>
            <a:endParaRPr sz="14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4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400">
              <a:solidFill>
                <a:srgbClr val="37474F"/>
              </a:solidFill>
            </a:endParaRPr>
          </a:p>
          <a:p>
            <a:pPr indent="0" lvl="0" marL="0" rtl="0" algn="l">
              <a:lnSpc>
                <a:spcPct val="115000"/>
              </a:lnSpc>
              <a:spcBef>
                <a:spcPts val="400"/>
              </a:spcBef>
              <a:spcAft>
                <a:spcPts val="400"/>
              </a:spcAft>
              <a:buNone/>
            </a:pPr>
            <a:r>
              <a:rPr i="1" lang="en" sz="1400">
                <a:latin typeface="Open Sans"/>
                <a:ea typeface="Open Sans"/>
                <a:cs typeface="Open Sans"/>
                <a:sym typeface="Open Sans"/>
              </a:rPr>
              <a:t>*This is not entirely true, but for most cases with sealed classes it works.</a:t>
            </a:r>
            <a:endParaRPr i="1" sz="1400">
              <a:latin typeface="Open Sans"/>
              <a:ea typeface="Open Sans"/>
              <a:cs typeface="Open Sans"/>
              <a:sym typeface="Open Sans"/>
            </a:endParaRPr>
          </a:p>
        </p:txBody>
      </p:sp>
      <p:sp>
        <p:nvSpPr>
          <p:cNvPr id="300" name="Google Shape;300;p47"/>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One</a:t>
            </a:r>
            <a:r>
              <a:rPr lang="en"/>
              <a:t> last thing…</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8"/>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Final thought</a:t>
            </a:r>
            <a:endParaRPr/>
          </a:p>
        </p:txBody>
      </p:sp>
      <p:sp>
        <p:nvSpPr>
          <p:cNvPr id="306" name="Google Shape;306;p48"/>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1400">
                <a:latin typeface="Open Sans"/>
                <a:ea typeface="Open Sans"/>
                <a:cs typeface="Open Sans"/>
                <a:sym typeface="Open Sans"/>
              </a:rPr>
              <a:t>FP in Kotlin does not kill OOP. Each of the concepts brings its own advantages and disadvantages, and it is important to combine them in order to get concise, readable and understandable code!</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100"/>
              <a:buFont typeface="Arial"/>
              <a:buNone/>
            </a:pPr>
            <a:r>
              <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100"/>
              <a:buFont typeface="Arial"/>
              <a:buNone/>
            </a:pPr>
            <a:r>
              <a:rPr lang="en" sz="1400">
                <a:latin typeface="Open Sans"/>
                <a:ea typeface="Open Sans"/>
                <a:cs typeface="Open Sans"/>
                <a:sym typeface="Open Sans"/>
              </a:rPr>
              <a:t>If you are interested in the topic of FP in Kotlin for a more detailed study, come here: </a:t>
            </a:r>
            <a:r>
              <a:rPr lang="en" sz="1400" u="sng">
                <a:solidFill>
                  <a:schemeClr val="hlink"/>
                </a:solidFill>
                <a:latin typeface="Open Sans"/>
                <a:ea typeface="Open Sans"/>
                <a:cs typeface="Open Sans"/>
                <a:sym typeface="Open Sans"/>
                <a:hlinkClick r:id="rId3"/>
              </a:rPr>
              <a:t>https://arrow-kt.io/</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100"/>
              <a:buFont typeface="Arial"/>
              <a:buNone/>
            </a:pPr>
            <a:r>
              <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t/>
            </a:r>
            <a:endParaRPr sz="1400">
              <a:latin typeface="Open Sans"/>
              <a:ea typeface="Open Sans"/>
              <a:cs typeface="Open Sans"/>
              <a:sym typeface="Open Sans"/>
            </a:endParaRPr>
          </a:p>
          <a:p>
            <a:pPr indent="0" lvl="0" marL="0" rtl="0" algn="l">
              <a:lnSpc>
                <a:spcPct val="115000"/>
              </a:lnSpc>
              <a:spcBef>
                <a:spcPts val="400"/>
              </a:spcBef>
              <a:spcAft>
                <a:spcPts val="400"/>
              </a:spcAft>
              <a:buNone/>
            </a:pPr>
            <a:r>
              <a:t/>
            </a:r>
            <a:endParaRPr sz="1400">
              <a:latin typeface="Open Sans"/>
              <a:ea typeface="Open Sans"/>
              <a:cs typeface="Open Sans"/>
              <a:sym typeface="Open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311" name="Shape 311"/>
        <p:cNvGrpSpPr/>
        <p:nvPr/>
      </p:nvGrpSpPr>
      <p:grpSpPr>
        <a:xfrm>
          <a:off x="0" y="0"/>
          <a:ext cx="0" cy="0"/>
          <a:chOff x="0" y="0"/>
          <a:chExt cx="0" cy="0"/>
        </a:xfrm>
      </p:grpSpPr>
      <p:pic>
        <p:nvPicPr>
          <p:cNvPr descr="preencoded.png" id="312" name="Google Shape;312;p49"/>
          <p:cNvPicPr preferRelativeResize="0"/>
          <p:nvPr/>
        </p:nvPicPr>
        <p:blipFill rotWithShape="1">
          <a:blip r:embed="rId3">
            <a:alphaModFix/>
          </a:blip>
          <a:srcRect b="0" l="0" r="0" t="0"/>
          <a:stretch/>
        </p:blipFill>
        <p:spPr>
          <a:xfrm>
            <a:off x="404873" y="347966"/>
            <a:ext cx="3505320" cy="344126"/>
          </a:xfrm>
          <a:prstGeom prst="rect">
            <a:avLst/>
          </a:prstGeom>
          <a:noFill/>
          <a:ln>
            <a:noFill/>
          </a:ln>
        </p:spPr>
      </p:pic>
      <p:pic>
        <p:nvPicPr>
          <p:cNvPr descr="preencoded.png" id="313" name="Google Shape;313;p49"/>
          <p:cNvPicPr preferRelativeResize="0"/>
          <p:nvPr/>
        </p:nvPicPr>
        <p:blipFill rotWithShape="1">
          <a:blip r:embed="rId4">
            <a:alphaModFix/>
          </a:blip>
          <a:srcRect b="0" l="0" r="0" t="0"/>
          <a:stretch/>
        </p:blipFill>
        <p:spPr>
          <a:xfrm>
            <a:off x="1204571" y="0"/>
            <a:ext cx="7940326" cy="5145096"/>
          </a:xfrm>
          <a:prstGeom prst="rect">
            <a:avLst/>
          </a:prstGeom>
          <a:noFill/>
          <a:ln>
            <a:noFill/>
          </a:ln>
        </p:spPr>
      </p:pic>
      <p:sp>
        <p:nvSpPr>
          <p:cNvPr id="314" name="Google Shape;314;p49"/>
          <p:cNvSpPr/>
          <p:nvPr/>
        </p:nvSpPr>
        <p:spPr>
          <a:xfrm>
            <a:off x="405147" y="1924426"/>
            <a:ext cx="6620100" cy="1001400"/>
          </a:xfrm>
          <a:prstGeom prst="rect">
            <a:avLst/>
          </a:prstGeom>
          <a:noFill/>
          <a:ln>
            <a:noFill/>
          </a:ln>
        </p:spPr>
        <p:txBody>
          <a:bodyPr anchorCtr="0" anchor="b" bIns="0" lIns="0" spcFirstLastPara="1" rIns="0" wrap="square" tIns="0">
            <a:noAutofit/>
          </a:bodyPr>
          <a:lstStyle/>
          <a:p>
            <a:pPr indent="0" lvl="0" marL="0" marR="0" rtl="0" algn="l">
              <a:lnSpc>
                <a:spcPct val="85003"/>
              </a:lnSpc>
              <a:spcBef>
                <a:spcPts val="0"/>
              </a:spcBef>
              <a:spcAft>
                <a:spcPts val="0"/>
              </a:spcAft>
              <a:buClr>
                <a:srgbClr val="FAFAFA"/>
              </a:buClr>
              <a:buSzPts val="3900"/>
              <a:buFont typeface="Inter"/>
              <a:buNone/>
            </a:pPr>
            <a:r>
              <a:rPr b="1" i="0" lang="en" sz="3900" u="none" cap="none" strike="noStrike">
                <a:solidFill>
                  <a:srgbClr val="FAFAFA"/>
                </a:solidFill>
                <a:latin typeface="Inter"/>
                <a:ea typeface="Inter"/>
                <a:cs typeface="Inter"/>
                <a:sym typeface="Inter"/>
              </a:rPr>
              <a:t>Thank you</a:t>
            </a:r>
            <a:endParaRPr b="0" i="0" sz="3900" u="none" cap="none" strike="noStrike">
              <a:solidFill>
                <a:schemeClr val="dk1"/>
              </a:solidFill>
              <a:latin typeface="Calibri"/>
              <a:ea typeface="Calibri"/>
              <a:cs typeface="Calibri"/>
              <a:sym typeface="Calibri"/>
            </a:endParaRPr>
          </a:p>
        </p:txBody>
      </p:sp>
      <p:sp>
        <p:nvSpPr>
          <p:cNvPr id="315" name="Google Shape;315;p49"/>
          <p:cNvSpPr/>
          <p:nvPr/>
        </p:nvSpPr>
        <p:spPr>
          <a:xfrm>
            <a:off x="2077715" y="426513"/>
            <a:ext cx="90600" cy="2286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FFFFF"/>
              </a:buClr>
              <a:buSzPts val="1800"/>
              <a:buFont typeface="Arial"/>
              <a:buNone/>
            </a:pPr>
            <a:r>
              <a:rPr b="0" i="0" lang="en" sz="1800" u="none" cap="none" strike="noStrike">
                <a:solidFill>
                  <a:srgbClr val="FFFFFF"/>
                </a:solidFill>
                <a:latin typeface="Arial"/>
                <a:ea typeface="Arial"/>
                <a:cs typeface="Arial"/>
                <a:sym typeface="Arial"/>
              </a:rPr>
              <a:t>|</a:t>
            </a:r>
            <a:endParaRPr b="0" i="0" sz="1800" u="none" cap="none" strike="noStrike">
              <a:solidFill>
                <a:schemeClr val="dk1"/>
              </a:solidFill>
              <a:latin typeface="Calibri"/>
              <a:ea typeface="Calibri"/>
              <a:cs typeface="Calibri"/>
              <a:sym typeface="Calibri"/>
            </a:endParaRPr>
          </a:p>
        </p:txBody>
      </p:sp>
      <p:sp>
        <p:nvSpPr>
          <p:cNvPr id="316" name="Google Shape;316;p49"/>
          <p:cNvSpPr/>
          <p:nvPr/>
        </p:nvSpPr>
        <p:spPr>
          <a:xfrm>
            <a:off x="2215828" y="426392"/>
            <a:ext cx="666900" cy="2289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FFFFF"/>
              </a:buClr>
              <a:buSzPts val="1800"/>
              <a:buFont typeface="Arial"/>
              <a:buNone/>
            </a:pPr>
            <a:r>
              <a:rPr b="0" i="0" lang="en" sz="1800" u="none" cap="none" strike="noStrike">
                <a:solidFill>
                  <a:srgbClr val="FFFFFF"/>
                </a:solidFill>
                <a:latin typeface="Arial"/>
                <a:ea typeface="Arial"/>
                <a:cs typeface="Arial"/>
                <a:sym typeface="Arial"/>
              </a:rPr>
              <a:t>Kotlin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tandard White Theme">
  <a:themeElements>
    <a:clrScheme name="Simple Light">
      <a:dk1>
        <a:srgbClr val="000000"/>
      </a:dk1>
      <a:lt1>
        <a:srgbClr val="FFFFFF"/>
      </a:lt1>
      <a:dk2>
        <a:srgbClr val="27282C"/>
      </a:dk2>
      <a:lt2>
        <a:srgbClr val="000000"/>
      </a:lt2>
      <a:accent1>
        <a:srgbClr val="28B8A0"/>
      </a:accent1>
      <a:accent2>
        <a:srgbClr val="FC801D"/>
      </a:accent2>
      <a:accent3>
        <a:srgbClr val="FF318C"/>
      </a:accent3>
      <a:accent4>
        <a:srgbClr val="6B57FF"/>
      </a:accent4>
      <a:accent5>
        <a:srgbClr val="087CFA"/>
      </a:accent5>
      <a:accent6>
        <a:srgbClr val="000000"/>
      </a:accent6>
      <a:hlink>
        <a:srgbClr val="FF318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