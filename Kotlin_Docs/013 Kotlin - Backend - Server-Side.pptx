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y="5143500" cx="9144000"/>
  <p:notesSz cx="6858000" cy="9144000"/>
  <p:embeddedFontLst>
    <p:embeddedFont>
      <p:font typeface="Raleway"/>
      <p:regular r:id="rId68"/>
      <p:bold r:id="rId69"/>
      <p:italic r:id="rId70"/>
      <p:boldItalic r:id="rId71"/>
    </p:embeddedFont>
    <p:embeddedFont>
      <p:font typeface="Inter"/>
      <p:regular r:id="rId72"/>
      <p:bold r:id="rId73"/>
      <p:italic r:id="rId74"/>
      <p:boldItalic r:id="rId75"/>
    </p:embeddedFont>
    <p:embeddedFont>
      <p:font typeface="JetBrains Mono"/>
      <p:regular r:id="rId76"/>
      <p:bold r:id="rId77"/>
      <p:italic r:id="rId78"/>
      <p:boldItalic r:id="rId79"/>
    </p:embeddedFont>
    <p:embeddedFont>
      <p:font typeface="Open Sans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3" Type="http://schemas.openxmlformats.org/officeDocument/2006/relationships/font" Target="fonts/OpenSans-boldItalic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OpenSans-regular.fntdata"/><Relationship Id="rId82" Type="http://schemas.openxmlformats.org/officeDocument/2006/relationships/font" Target="fonts/OpenSans-italic.fntdata"/><Relationship Id="rId81" Type="http://schemas.openxmlformats.org/officeDocument/2006/relationships/font" Target="fonts/Open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Inter-bold.fntdata"/><Relationship Id="rId72" Type="http://schemas.openxmlformats.org/officeDocument/2006/relationships/font" Target="fonts/Inter-regular.fntdata"/><Relationship Id="rId31" Type="http://schemas.openxmlformats.org/officeDocument/2006/relationships/slide" Target="slides/slide25.xml"/><Relationship Id="rId75" Type="http://schemas.openxmlformats.org/officeDocument/2006/relationships/font" Target="fonts/Inter-boldItalic.fntdata"/><Relationship Id="rId30" Type="http://schemas.openxmlformats.org/officeDocument/2006/relationships/slide" Target="slides/slide24.xml"/><Relationship Id="rId74" Type="http://schemas.openxmlformats.org/officeDocument/2006/relationships/font" Target="fonts/Inter-italic.fntdata"/><Relationship Id="rId33" Type="http://schemas.openxmlformats.org/officeDocument/2006/relationships/slide" Target="slides/slide27.xml"/><Relationship Id="rId77" Type="http://schemas.openxmlformats.org/officeDocument/2006/relationships/font" Target="fonts/JetBrainsMono-bold.fntdata"/><Relationship Id="rId32" Type="http://schemas.openxmlformats.org/officeDocument/2006/relationships/slide" Target="slides/slide26.xml"/><Relationship Id="rId76" Type="http://schemas.openxmlformats.org/officeDocument/2006/relationships/font" Target="fonts/JetBrainsMono-regular.fntdata"/><Relationship Id="rId35" Type="http://schemas.openxmlformats.org/officeDocument/2006/relationships/slide" Target="slides/slide29.xml"/><Relationship Id="rId79" Type="http://schemas.openxmlformats.org/officeDocument/2006/relationships/font" Target="fonts/JetBrainsMono-boldItalic.fntdata"/><Relationship Id="rId34" Type="http://schemas.openxmlformats.org/officeDocument/2006/relationships/slide" Target="slides/slide28.xml"/><Relationship Id="rId78" Type="http://schemas.openxmlformats.org/officeDocument/2006/relationships/font" Target="fonts/JetBrainsMono-italic.fntdata"/><Relationship Id="rId71" Type="http://schemas.openxmlformats.org/officeDocument/2006/relationships/font" Target="fonts/Raleway-boldItalic.fntdata"/><Relationship Id="rId70" Type="http://schemas.openxmlformats.org/officeDocument/2006/relationships/font" Target="fonts/Raleway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Raleway-regular.fntdata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aleway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5817abdc3_0_20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f5817abdc3_0_20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73" name="Google Shape;73;g3f5817abdc3_0_20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a75e4b27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ea75e4b2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49225" lvl="0" marL="149225" marR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https://hyperskill.org/learn/step/13662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a75e4b27b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ea75e4b27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49225" lvl="0" marL="149225" marR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https://hyperskill.org/learn/step/13662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a75e4b27b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ea75e4b27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a75e4b27b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ea75e4b27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a75e4b27b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ea75e4b27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a75e4b27b_0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ea75e4b27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a75e4b27b_0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ea75e4b27b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a75e4b27b_0_1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ea75e4b27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a75e4b27b_0_1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ea75e4b27b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a75e4b27b_0_1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ea75e4b27b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a75e4b27b_0_2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ea75e4b27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a75e4b27b_0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ea75e4b27b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a75e4b27b_0_2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ea75e4b27b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a75e4b27b_0_2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ea75e4b27b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a75e4b27b_0_2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ea75e4b27b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a75e4b27b_0_2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ea75e4b27b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a75e4b27b_0_2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ea75e4b27b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a75e4b27b_0_2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ea75e4b27b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a75e4b27b_0_2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ea75e4b27b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a75e4b27b_0_3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ea75e4b27b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a75e4b27b_0_3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ea75e4b27b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a75e4b27b_0_3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ea75e4b27b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a75e4b27b_0_3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ea75e4b27b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a75e4b27b_0_3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ea75e4b27b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a75e4b27b_0_3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ea75e4b27b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ea75e4b27b_0_3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ea75e4b27b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a75e4b27b_0_3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ea75e4b27b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a75e4b27b_0_4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ea75e4b27b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a75e4b27b_0_4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ea75e4b27b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a75e4b27b_0_4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ea75e4b27b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a75e4b27b_0_4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ea75e4b27b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a75e4b27b_0_4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ea75e4b27b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a75e4b27b_0_4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3ea75e4b27b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a75e4b27b_0_4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ea75e4b27b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a75e4b27b_0_4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ea75e4b27b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a75e4b27b_0_5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3ea75e4b27b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a75e4b27b_0_5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ea75e4b27b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ea75e4b27b_0_5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ea75e4b27b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ea75e4b27b_0_5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3ea75e4b27b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a75e4b27b_0_5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3ea75e4b27b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ea75e4b27b_0_5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g3ea75e4b27b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ea75e4b27b_0_6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ea75e4b27b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ea75e4b27b_0_6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3ea75e4b27b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ea75e4b27b_0_6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3ea75e4b27b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ea75e4b27b_0_6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ea75e4b27b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ea75e4b27b_0_6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3ea75e4b27b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ea75e4b27b_0_6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3ea75e4b27b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ea75e4b27b_0_6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g3ea75e4b27b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ea75e4b27b_0_7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g3ea75e4b27b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ea75e4b27b_0_7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g3ea75e4b27b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ea75e4b27b_0_7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ea75e4b27b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ea75e4b27b_0_7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g3ea75e4b27b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ea75e4b27b_0_8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g3ea75e4b27b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ea75e4b27b_0_8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g3ea75e4b27b_0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ea75e4b27b_0_8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g3ea75e4b27b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ea75e4b27b_0_8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g3ea75e4b27b_0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ea75e4b27b_0_8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g3ea75e4b27b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ea75e4b27b_0_8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g3ea75e4b27b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ea75e4b27b_0_8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g3ea75e4b27b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f5817abdc3_0_40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7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g3f5817abdc3_0_40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/>
          </a:p>
        </p:txBody>
      </p:sp>
      <p:sp>
        <p:nvSpPr>
          <p:cNvPr id="623" name="Google Shape;623;g3f5817abdc3_0_40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0000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2">
            <a:alphaModFix/>
          </a:blip>
          <a:srcRect b="20590" l="25105" r="1077" t="18582"/>
          <a:stretch/>
        </p:blipFill>
        <p:spPr>
          <a:xfrm rot="-720009">
            <a:off x="4471046" y="-44961"/>
            <a:ext cx="5499357" cy="4533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Main point">
  <p:cSld name="CUSTOM_5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411475" y="1626682"/>
            <a:ext cx="8321100" cy="16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. Text slide">
  <p:cSld name="CUSTOM_7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292600" y="292598"/>
            <a:ext cx="8328900" cy="4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7" name="Google Shape;6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0" i="0" sz="3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0" i="0" sz="3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0" i="0" sz="3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0" i="0" sz="3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0" i="0" sz="3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0" i="0" sz="3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0" i="0" sz="3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0" i="0" sz="3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0" i="0" sz="3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92608" y="1335024"/>
            <a:ext cx="8419800" cy="26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183880" y="41148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32">
          <p15:clr>
            <a:srgbClr val="EA4335"/>
          </p15:clr>
        </p15:guide>
        <p15:guide id="2" pos="259">
          <p15:clr>
            <a:srgbClr val="EA4335"/>
          </p15:clr>
        </p15:guide>
        <p15:guide id="3" pos="1037">
          <p15:clr>
            <a:srgbClr val="EA4335"/>
          </p15:clr>
        </p15:guide>
        <p15:guide id="4" pos="1152">
          <p15:clr>
            <a:srgbClr val="EA4335"/>
          </p15:clr>
        </p15:guide>
        <p15:guide id="5" pos="1930">
          <p15:clr>
            <a:srgbClr val="EA4335"/>
          </p15:clr>
        </p15:guide>
        <p15:guide id="6" pos="2045">
          <p15:clr>
            <a:srgbClr val="EA4335"/>
          </p15:clr>
        </p15:guide>
        <p15:guide id="7" pos="2822">
          <p15:clr>
            <a:srgbClr val="EA4335"/>
          </p15:clr>
        </p15:guide>
        <p15:guide id="8" pos="2938">
          <p15:clr>
            <a:srgbClr val="EA4335"/>
          </p15:clr>
        </p15:guide>
        <p15:guide id="9" pos="3715">
          <p15:clr>
            <a:srgbClr val="EA4335"/>
          </p15:clr>
        </p15:guide>
        <p15:guide id="10" pos="3830">
          <p15:clr>
            <a:srgbClr val="EA4335"/>
          </p15:clr>
        </p15:guide>
        <p15:guide id="11" pos="4608">
          <p15:clr>
            <a:srgbClr val="EA4335"/>
          </p15:clr>
        </p15:guide>
        <p15:guide id="12" pos="4723">
          <p15:clr>
            <a:srgbClr val="EA4335"/>
          </p15:clr>
        </p15:guide>
        <p15:guide id="13" pos="5501">
          <p15:clr>
            <a:srgbClr val="EA4335"/>
          </p15:clr>
        </p15:guide>
        <p15:guide id="14" orient="horz" pos="582">
          <p15:clr>
            <a:srgbClr val="EA4335"/>
          </p15:clr>
        </p15:guide>
        <p15:guide id="15" orient="horz" pos="732">
          <p15:clr>
            <a:srgbClr val="EA4335"/>
          </p15:clr>
        </p15:guide>
        <p15:guide id="16" orient="horz" pos="881">
          <p15:clr>
            <a:srgbClr val="EA4335"/>
          </p15:clr>
        </p15:guide>
        <p15:guide id="17" orient="horz" pos="1031">
          <p15:clr>
            <a:srgbClr val="EA4335"/>
          </p15:clr>
        </p15:guide>
        <p15:guide id="18" orient="horz" pos="1181">
          <p15:clr>
            <a:srgbClr val="EA4335"/>
          </p15:clr>
        </p15:guide>
        <p15:guide id="19" orient="horz" pos="1331">
          <p15:clr>
            <a:srgbClr val="EA4335"/>
          </p15:clr>
        </p15:guide>
        <p15:guide id="20" orient="horz" pos="1480">
          <p15:clr>
            <a:srgbClr val="EA4335"/>
          </p15:clr>
        </p15:guide>
        <p15:guide id="21" orient="horz" pos="1630">
          <p15:clr>
            <a:srgbClr val="EA4335"/>
          </p15:clr>
        </p15:guide>
        <p15:guide id="22" orient="horz" pos="1780">
          <p15:clr>
            <a:srgbClr val="EA4335"/>
          </p15:clr>
        </p15:guide>
        <p15:guide id="23" orient="horz" pos="1930">
          <p15:clr>
            <a:srgbClr val="EA4335"/>
          </p15:clr>
        </p15:guide>
        <p15:guide id="24" orient="horz" pos="2079">
          <p15:clr>
            <a:srgbClr val="EA4335"/>
          </p15:clr>
        </p15:guide>
        <p15:guide id="25" orient="horz" pos="2229">
          <p15:clr>
            <a:srgbClr val="EA4335"/>
          </p15:clr>
        </p15:guide>
        <p15:guide id="26" orient="horz" pos="2379">
          <p15:clr>
            <a:srgbClr val="EA4335"/>
          </p15:clr>
        </p15:guide>
        <p15:guide id="27" orient="horz" pos="2529">
          <p15:clr>
            <a:srgbClr val="EA4335"/>
          </p15:clr>
        </p15:guide>
        <p15:guide id="28" orient="horz" pos="267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gif"/><Relationship Id="rId4" Type="http://schemas.openxmlformats.org/officeDocument/2006/relationships/image" Target="../media/image6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spring.io/guides/tutorials/spring-boot-kotlin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start.spring.io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5" name="Google Shape;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663" y="0"/>
            <a:ext cx="7807237" cy="5145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" name="Google Shape;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873" y="347966"/>
            <a:ext cx="3505320" cy="34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0"/>
          <p:cNvSpPr/>
          <p:nvPr/>
        </p:nvSpPr>
        <p:spPr>
          <a:xfrm>
            <a:off x="404885" y="2168826"/>
            <a:ext cx="6620100" cy="122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800"/>
              <a:buFont typeface="Inter"/>
              <a:buNone/>
            </a:pPr>
            <a:r>
              <a:rPr b="1" i="0" lang="en" sz="48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r>
              <a:rPr b="1" lang="en" sz="48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" sz="48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Development </a:t>
            </a:r>
            <a:endParaRPr b="1" i="0" sz="4800" u="none" cap="none" strike="noStrike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800"/>
              <a:buFont typeface="Inter"/>
              <a:buNone/>
            </a:pPr>
            <a:r>
              <a:rPr b="1" i="0" lang="en" sz="48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with Kotlin</a:t>
            </a:r>
            <a:endParaRPr b="1" sz="48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20"/>
          <p:cNvSpPr/>
          <p:nvPr/>
        </p:nvSpPr>
        <p:spPr>
          <a:xfrm>
            <a:off x="405550" y="4239875"/>
            <a:ext cx="3324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900"/>
              <a:buFont typeface="Inter"/>
              <a:buNone/>
            </a:pPr>
            <a:r>
              <a:rPr lang="en" sz="19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kotlinglang.org/education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0"/>
          <p:cNvSpPr/>
          <p:nvPr/>
        </p:nvSpPr>
        <p:spPr>
          <a:xfrm>
            <a:off x="2077715" y="426513"/>
            <a:ext cx="9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0"/>
          <p:cNvSpPr/>
          <p:nvPr/>
        </p:nvSpPr>
        <p:spPr>
          <a:xfrm>
            <a:off x="2215828" y="426392"/>
            <a:ext cx="6669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Kotlin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>
            <a:off x="292600" y="292590"/>
            <a:ext cx="8503800" cy="10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From HTTP to Spring and Ktor: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Using Duck Shop as an Example</a:t>
            </a:r>
            <a:endParaRPr/>
          </a:p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>
            <a:off x="292600" y="1522800"/>
            <a:ext cx="29709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None/>
            </a:pPr>
            <a:r>
              <a:rPr b="1" lang="en" sz="2200"/>
              <a:t>Frontend (fixed) -&gt; </a:t>
            </a:r>
            <a:r>
              <a:rPr b="1" lang="en" sz="2200">
                <a:highlight>
                  <a:srgbClr val="B4A7D6"/>
                </a:highlight>
              </a:rPr>
              <a:t>Server in Kotlin (focus of the class)</a:t>
            </a:r>
            <a:endParaRPr sz="2200">
              <a:highlight>
                <a:srgbClr val="B4A7D6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1000"/>
              </a:spcAft>
              <a:buSzPts val="1400"/>
              <a:buNone/>
            </a:pPr>
            <a:r>
              <a:t/>
            </a:r>
            <a:endParaRPr sz="2200"/>
          </a:p>
        </p:txBody>
      </p:sp>
      <p:pic>
        <p:nvPicPr>
          <p:cNvPr id="87" name="Google Shape;8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2800" y="1522800"/>
            <a:ext cx="5814647" cy="3315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292600" y="292590"/>
            <a:ext cx="8503800" cy="10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From HTTP to Spring and Ktor: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Using Duck Shop as an Example</a:t>
            </a:r>
            <a:endParaRPr/>
          </a:p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292600" y="1522800"/>
            <a:ext cx="29709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400"/>
              <a:buNone/>
            </a:pPr>
            <a:r>
              <a:rPr b="1" lang="en" sz="2200"/>
              <a:t>Frontend (fixed) -&gt; </a:t>
            </a:r>
            <a:r>
              <a:rPr b="1" lang="en" sz="2200">
                <a:highlight>
                  <a:srgbClr val="B4A7D6"/>
                </a:highlight>
              </a:rPr>
              <a:t>Server in Kotlin (focus of the class)</a:t>
            </a:r>
            <a:endParaRPr sz="2200">
              <a:highlight>
                <a:srgbClr val="B4A7D6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1000"/>
              </a:spcAft>
              <a:buSzPts val="1400"/>
              <a:buNone/>
            </a:pPr>
            <a:r>
              <a:t/>
            </a:r>
            <a:endParaRPr sz="2200"/>
          </a:p>
        </p:txBody>
      </p:sp>
      <p:pic>
        <p:nvPicPr>
          <p:cNvPr id="94" name="Google Shape;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2800" y="1522800"/>
            <a:ext cx="5814647" cy="331570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2"/>
          <p:cNvSpPr txBox="1"/>
          <p:nvPr>
            <p:ph idx="1" type="body"/>
          </p:nvPr>
        </p:nvSpPr>
        <p:spPr>
          <a:xfrm>
            <a:off x="292600" y="3650350"/>
            <a:ext cx="29709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200"/>
              <a:t>One project:</a:t>
            </a:r>
            <a:endParaRPr b="1"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200"/>
              <a:t>Spring vs Ktor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200"/>
              <a:t>All main components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b="1" lang="en"/>
              <a:t>What is a backend?</a:t>
            </a:r>
            <a:endParaRPr/>
          </a:p>
        </p:txBody>
      </p:sp>
      <p:sp>
        <p:nvSpPr>
          <p:cNvPr id="101" name="Google Shape;101;p23"/>
          <p:cNvSpPr txBox="1"/>
          <p:nvPr>
            <p:ph idx="1" type="body"/>
          </p:nvPr>
        </p:nvSpPr>
        <p:spPr>
          <a:xfrm>
            <a:off x="292600" y="1335050"/>
            <a:ext cx="7376100" cy="26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The server side of an app</a:t>
            </a:r>
            <a:r>
              <a:rPr lang="en"/>
              <a:t> — users don't interact with it directly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lang="en"/>
              <a:t>Owns </a:t>
            </a:r>
            <a:r>
              <a:rPr b="1" lang="en"/>
              <a:t>business logic, data storage, and security</a:t>
            </a:r>
            <a:endParaRPr b="1"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Serves data to frontends</a:t>
            </a:r>
            <a:r>
              <a:rPr lang="en"/>
              <a:t> (web, mobile) and talks to databases &amp; other services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lang="en"/>
              <a:t>Runs on a server, usually exposed as a set of </a:t>
            </a:r>
            <a:r>
              <a:rPr b="1" lang="en"/>
              <a:t>APIs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Backend</a:t>
            </a:r>
            <a:r>
              <a:rPr lang="en"/>
              <a:t> vs Frontend</a:t>
            </a:r>
            <a:endParaRPr/>
          </a:p>
        </p:txBody>
      </p:sp>
      <p:pic>
        <p:nvPicPr>
          <p:cNvPr id="107" name="Google Shape;10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800" y="1238075"/>
            <a:ext cx="3898145" cy="2222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060" y="1238925"/>
            <a:ext cx="3848049" cy="222199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4"/>
          <p:cNvSpPr txBox="1"/>
          <p:nvPr/>
        </p:nvSpPr>
        <p:spPr>
          <a:xfrm>
            <a:off x="763975" y="3949200"/>
            <a:ext cx="74319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frontend displays the shop, while the backend stores all the data and handles all the operations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From sockets to HTTP</a:t>
            </a:r>
            <a:endParaRPr/>
          </a:p>
        </p:txBody>
      </p:sp>
      <p:sp>
        <p:nvSpPr>
          <p:cNvPr id="115" name="Google Shape;115;p25"/>
          <p:cNvSpPr txBox="1"/>
          <p:nvPr>
            <p:ph idx="1" type="body"/>
          </p:nvPr>
        </p:nvSpPr>
        <p:spPr>
          <a:xfrm>
            <a:off x="233025" y="1035638"/>
            <a:ext cx="3907500" cy="3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IP address</a:t>
            </a:r>
            <a:r>
              <a:rPr lang="en"/>
              <a:t> — who (a machine's address on the network, e.g.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127.0.0.1</a:t>
            </a:r>
            <a:r>
              <a:rPr lang="en"/>
              <a:t>)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Port</a:t>
            </a:r>
            <a:r>
              <a:rPr lang="en"/>
              <a:t> — which channel (a channel on the machine, 0–65535. </a:t>
            </a:r>
            <a:r>
              <a:rPr i="1" lang="en"/>
              <a:t>Our server listens on </a:t>
            </a:r>
            <a:r>
              <a:rPr i="1" lang="en">
                <a:latin typeface="JetBrains Mono"/>
                <a:ea typeface="JetBrains Mono"/>
                <a:cs typeface="JetBrains Mono"/>
                <a:sym typeface="JetBrains Mono"/>
              </a:rPr>
              <a:t>8080</a:t>
            </a:r>
            <a:r>
              <a:rPr i="1" lang="en"/>
              <a:t>)</a:t>
            </a:r>
            <a:endParaRPr i="1"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Connection</a:t>
            </a:r>
            <a:r>
              <a:rPr lang="en"/>
              <a:t> — a pair of endpoints (source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IP:port</a:t>
            </a:r>
            <a:r>
              <a:rPr lang="en"/>
              <a:t>) ↔ (destination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IP:port</a:t>
            </a:r>
            <a:r>
              <a:rPr lang="en"/>
              <a:t>)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Client ↔ server</a:t>
            </a:r>
            <a:r>
              <a:rPr lang="en"/>
              <a:t> (the server listens and waits; the client connects. </a:t>
            </a:r>
            <a:r>
              <a:rPr i="1" lang="en"/>
              <a:t>In our project the browser is the client</a:t>
            </a:r>
            <a:r>
              <a:rPr lang="en"/>
              <a:t>)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localhost</a:t>
            </a:r>
            <a:r>
              <a:rPr lang="en"/>
              <a:t> — your own machine (this is how we test without a network)</a:t>
            </a:r>
            <a:endParaRPr/>
          </a:p>
        </p:txBody>
      </p:sp>
      <p:grpSp>
        <p:nvGrpSpPr>
          <p:cNvPr id="116" name="Google Shape;116;p25"/>
          <p:cNvGrpSpPr/>
          <p:nvPr/>
        </p:nvGrpSpPr>
        <p:grpSpPr>
          <a:xfrm>
            <a:off x="4370100" y="1398588"/>
            <a:ext cx="4677625" cy="2996775"/>
            <a:chOff x="4370100" y="1593600"/>
            <a:chExt cx="4677625" cy="2996775"/>
          </a:xfrm>
        </p:grpSpPr>
        <p:sp>
          <p:nvSpPr>
            <p:cNvPr id="117" name="Google Shape;117;p25"/>
            <p:cNvSpPr/>
            <p:nvPr/>
          </p:nvSpPr>
          <p:spPr>
            <a:xfrm>
              <a:off x="4479925" y="4236375"/>
              <a:ext cx="4567800" cy="354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IP</a:t>
              </a:r>
              <a:r>
                <a:rPr lang="en" sz="13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— machine addressing</a:t>
              </a:r>
              <a:endPara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8" name="Google Shape;118;p25"/>
            <p:cNvSpPr txBox="1"/>
            <p:nvPr/>
          </p:nvSpPr>
          <p:spPr>
            <a:xfrm>
              <a:off x="6025725" y="4236375"/>
              <a:ext cx="30000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999999"/>
                  </a:solidFill>
                  <a:latin typeface="Open Sans"/>
                  <a:ea typeface="Open Sans"/>
                  <a:cs typeface="Open Sans"/>
                  <a:sym typeface="Open Sans"/>
                </a:rPr>
                <a:t>a socket is the OS primitive</a:t>
              </a:r>
              <a:endParaRPr i="1" sz="1100">
                <a:solidFill>
                  <a:srgbClr val="999999"/>
                </a:solidFill>
              </a:endParaRPr>
            </a:p>
          </p:txBody>
        </p:sp>
        <p:sp>
          <p:nvSpPr>
            <p:cNvPr id="119" name="Google Shape;119;p25"/>
            <p:cNvSpPr/>
            <p:nvPr/>
          </p:nvSpPr>
          <p:spPr>
            <a:xfrm>
              <a:off x="4479925" y="3679900"/>
              <a:ext cx="4567800" cy="354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TCP</a:t>
              </a:r>
              <a:r>
                <a:rPr lang="en" sz="13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— reliable byte delivery</a:t>
              </a:r>
              <a:endPara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0" name="Google Shape;120;p25"/>
            <p:cNvSpPr txBox="1"/>
            <p:nvPr/>
          </p:nvSpPr>
          <p:spPr>
            <a:xfrm>
              <a:off x="6025725" y="3679900"/>
              <a:ext cx="30000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999999"/>
                  </a:solidFill>
                  <a:latin typeface="Open Sans"/>
                  <a:ea typeface="Open Sans"/>
                  <a:cs typeface="Open Sans"/>
                  <a:sym typeface="Open Sans"/>
                </a:rPr>
                <a:t>connection, ordering</a:t>
              </a:r>
              <a:endParaRPr i="1" sz="1100">
                <a:solidFill>
                  <a:srgbClr val="999999"/>
                </a:solidFill>
              </a:endParaRPr>
            </a:p>
          </p:txBody>
        </p:sp>
        <p:sp>
          <p:nvSpPr>
            <p:cNvPr id="121" name="Google Shape;121;p25"/>
            <p:cNvSpPr/>
            <p:nvPr/>
          </p:nvSpPr>
          <p:spPr>
            <a:xfrm>
              <a:off x="4479925" y="3123425"/>
              <a:ext cx="4567800" cy="354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HTTP</a:t>
              </a:r>
              <a:r>
                <a:rPr lang="en" sz="13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— how to shape the bytes</a:t>
              </a:r>
              <a:endPara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2" name="Google Shape;122;p25"/>
            <p:cNvSpPr txBox="1"/>
            <p:nvPr/>
          </p:nvSpPr>
          <p:spPr>
            <a:xfrm>
              <a:off x="6025729" y="3123413"/>
              <a:ext cx="30000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999999"/>
                  </a:solidFill>
                  <a:latin typeface="Open Sans"/>
                  <a:ea typeface="Open Sans"/>
                  <a:cs typeface="Open Sans"/>
                  <a:sym typeface="Open Sans"/>
                </a:rPr>
                <a:t>methods, statuses, headers</a:t>
              </a:r>
              <a:endParaRPr i="1" sz="1100">
                <a:solidFill>
                  <a:srgbClr val="999999"/>
                </a:solidFill>
              </a:endParaRPr>
            </a:p>
          </p:txBody>
        </p:sp>
        <p:sp>
          <p:nvSpPr>
            <p:cNvPr id="123" name="Google Shape;123;p25"/>
            <p:cNvSpPr/>
            <p:nvPr/>
          </p:nvSpPr>
          <p:spPr>
            <a:xfrm>
              <a:off x="4370100" y="1636725"/>
              <a:ext cx="1910100" cy="951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Client</a:t>
              </a:r>
              <a:endPara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4" name="Google Shape;124;p25"/>
            <p:cNvSpPr/>
            <p:nvPr/>
          </p:nvSpPr>
          <p:spPr>
            <a:xfrm>
              <a:off x="7115625" y="1636725"/>
              <a:ext cx="1910100" cy="951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Server</a:t>
              </a:r>
              <a:endPara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5" name="Google Shape;125;p25"/>
            <p:cNvSpPr txBox="1"/>
            <p:nvPr/>
          </p:nvSpPr>
          <p:spPr>
            <a:xfrm>
              <a:off x="4859253" y="2001175"/>
              <a:ext cx="931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99999"/>
                  </a:solidFill>
                  <a:latin typeface="Open Sans"/>
                  <a:ea typeface="Open Sans"/>
                  <a:cs typeface="Open Sans"/>
                  <a:sym typeface="Open Sans"/>
                </a:rPr>
                <a:t>Browser connects</a:t>
              </a:r>
              <a:endParaRPr sz="1100">
                <a:solidFill>
                  <a:srgbClr val="999999"/>
                </a:solidFill>
              </a:endParaRPr>
            </a:p>
          </p:txBody>
        </p:sp>
        <p:sp>
          <p:nvSpPr>
            <p:cNvPr id="126" name="Google Shape;126;p25"/>
            <p:cNvSpPr txBox="1"/>
            <p:nvPr/>
          </p:nvSpPr>
          <p:spPr>
            <a:xfrm>
              <a:off x="7604778" y="2001175"/>
              <a:ext cx="931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99999"/>
                  </a:solidFill>
                  <a:latin typeface="Open Sans"/>
                  <a:ea typeface="Open Sans"/>
                  <a:cs typeface="Open Sans"/>
                  <a:sym typeface="Open Sans"/>
                </a:rPr>
                <a:t>listens on :8080</a:t>
              </a:r>
              <a:endParaRPr sz="11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27" name="Google Shape;127;p25"/>
            <p:cNvCxnSpPr/>
            <p:nvPr/>
          </p:nvCxnSpPr>
          <p:spPr>
            <a:xfrm>
              <a:off x="6280200" y="1882200"/>
              <a:ext cx="829500" cy="0"/>
            </a:xfrm>
            <a:prstGeom prst="straightConnector1">
              <a:avLst/>
            </a:prstGeom>
            <a:noFill/>
            <a:ln cap="flat" cmpd="sng" w="9525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8" name="Google Shape;128;p25"/>
            <p:cNvCxnSpPr/>
            <p:nvPr/>
          </p:nvCxnSpPr>
          <p:spPr>
            <a:xfrm>
              <a:off x="6283163" y="2211625"/>
              <a:ext cx="8295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129" name="Google Shape;129;p25"/>
            <p:cNvCxnSpPr/>
            <p:nvPr/>
          </p:nvCxnSpPr>
          <p:spPr>
            <a:xfrm>
              <a:off x="6697925" y="3477425"/>
              <a:ext cx="0" cy="214200"/>
            </a:xfrm>
            <a:prstGeom prst="straightConnector1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0" name="Google Shape;130;p25"/>
            <p:cNvCxnSpPr/>
            <p:nvPr/>
          </p:nvCxnSpPr>
          <p:spPr>
            <a:xfrm>
              <a:off x="6694950" y="4037085"/>
              <a:ext cx="0" cy="214200"/>
            </a:xfrm>
            <a:prstGeom prst="straightConnector1">
              <a:avLst/>
            </a:prstGeom>
            <a:noFill/>
            <a:ln cap="flat" cmpd="sng" w="28575">
              <a:solidFill>
                <a:srgbClr val="99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1" name="Google Shape;131;p25"/>
            <p:cNvSpPr txBox="1"/>
            <p:nvPr/>
          </p:nvSpPr>
          <p:spPr>
            <a:xfrm>
              <a:off x="5618224" y="3409424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999999"/>
                  </a:solidFill>
                  <a:latin typeface="Open Sans"/>
                  <a:ea typeface="Open Sans"/>
                  <a:cs typeface="Open Sans"/>
                  <a:sym typeface="Open Sans"/>
                </a:rPr>
                <a:t>On top of</a:t>
              </a:r>
              <a:endParaRPr sz="1000"/>
            </a:p>
          </p:txBody>
        </p:sp>
        <p:sp>
          <p:nvSpPr>
            <p:cNvPr id="132" name="Google Shape;132;p25"/>
            <p:cNvSpPr txBox="1"/>
            <p:nvPr/>
          </p:nvSpPr>
          <p:spPr>
            <a:xfrm>
              <a:off x="5618220" y="3974821"/>
              <a:ext cx="300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999999"/>
                  </a:solidFill>
                  <a:latin typeface="Open Sans"/>
                  <a:ea typeface="Open Sans"/>
                  <a:cs typeface="Open Sans"/>
                  <a:sym typeface="Open Sans"/>
                </a:rPr>
                <a:t>On top of</a:t>
              </a:r>
              <a:endParaRPr sz="1000"/>
            </a:p>
          </p:txBody>
        </p:sp>
        <p:sp>
          <p:nvSpPr>
            <p:cNvPr id="133" name="Google Shape;133;p25"/>
            <p:cNvSpPr txBox="1"/>
            <p:nvPr/>
          </p:nvSpPr>
          <p:spPr>
            <a:xfrm>
              <a:off x="6229050" y="1593600"/>
              <a:ext cx="931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99999"/>
                  </a:solidFill>
                  <a:latin typeface="Open Sans"/>
                  <a:ea typeface="Open Sans"/>
                  <a:cs typeface="Open Sans"/>
                  <a:sym typeface="Open Sans"/>
                </a:rPr>
                <a:t>request</a:t>
              </a:r>
              <a:endParaRPr b="1" sz="1100">
                <a:solidFill>
                  <a:srgbClr val="999999"/>
                </a:solidFill>
              </a:endParaRPr>
            </a:p>
          </p:txBody>
        </p:sp>
        <p:sp>
          <p:nvSpPr>
            <p:cNvPr id="134" name="Google Shape;134;p25"/>
            <p:cNvSpPr txBox="1"/>
            <p:nvPr/>
          </p:nvSpPr>
          <p:spPr>
            <a:xfrm>
              <a:off x="6259966" y="2163182"/>
              <a:ext cx="931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99999"/>
                  </a:solidFill>
                  <a:latin typeface="Open Sans"/>
                  <a:ea typeface="Open Sans"/>
                  <a:cs typeface="Open Sans"/>
                  <a:sym typeface="Open Sans"/>
                </a:rPr>
                <a:t>response</a:t>
              </a:r>
              <a:endParaRPr b="1" sz="1100">
                <a:solidFill>
                  <a:srgbClr val="999999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TCP in action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47475" y="933450"/>
            <a:ext cx="86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rawest level: open a socket by hand and send bytes over a connection</a:t>
            </a:r>
            <a:endParaRPr b="1"/>
          </a:p>
        </p:txBody>
      </p:sp>
      <p:sp>
        <p:nvSpPr>
          <p:cNvPr id="141" name="Google Shape;141;p26"/>
          <p:cNvSpPr txBox="1"/>
          <p:nvPr/>
        </p:nvSpPr>
        <p:spPr>
          <a:xfrm>
            <a:off x="10586" y="1370759"/>
            <a:ext cx="88671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server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ServerSocket(</a:t>
            </a:r>
            <a:r>
              <a:rPr lang="en" sz="130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9999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   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listen on a port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println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"Listening on 9999..."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client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server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.accept()      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block until a client connects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writer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PrintWriter(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client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.getOutputStream(),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writer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"Hello from a raw Kotlin socket!"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client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.close();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server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.close()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47475" y="4130275"/>
            <a:ext cx="86340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Tip</a:t>
            </a:r>
            <a:r>
              <a:rPr lang="en"/>
              <a:t>: run the snippet and connect as a client: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nc localhost 9999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‼️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/>
              <a:t>One client, one message, everything by hand — no routes, no data format, no concurrent requests.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Same transport but structured: HTTP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47475" y="933450"/>
            <a:ext cx="86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same</a:t>
            </a:r>
            <a:r>
              <a:rPr lang="en"/>
              <a:t> TCP connection — but with an agreed format on top. Try it out with Duck Shop:</a:t>
            </a:r>
            <a:endParaRPr b="1"/>
          </a:p>
        </p:txBody>
      </p:sp>
      <p:sp>
        <p:nvSpPr>
          <p:cNvPr id="149" name="Google Shape;149;p27"/>
          <p:cNvSpPr txBox="1"/>
          <p:nvPr/>
        </p:nvSpPr>
        <p:spPr>
          <a:xfrm>
            <a:off x="314425" y="1520492"/>
            <a:ext cx="83310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 sz="1300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-v http://localhost:8080/api</a:t>
            </a:r>
            <a:r>
              <a:rPr lang="en"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/ducks</a:t>
            </a:r>
            <a:endParaRPr sz="13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E6E6E6"/>
              </a:solidFill>
              <a:highlight>
                <a:srgbClr val="19191C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2B06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</a:t>
            </a:r>
            <a:r>
              <a:rPr lang="en" sz="1300">
                <a:solidFill>
                  <a:srgbClr val="D2B06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 /api/ducks HTTP/1.1</a:t>
            </a:r>
            <a:r>
              <a:rPr lang="en" sz="1300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</a:t>
            </a:r>
            <a:r>
              <a:rPr lang="en" sz="1300">
                <a:solidFill>
                  <a:srgbClr val="C711E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request line: method · path · version</a:t>
            </a:r>
            <a:endParaRPr sz="1300">
              <a:solidFill>
                <a:srgbClr val="E6E6E6"/>
              </a:solidFill>
              <a:highlight>
                <a:srgbClr val="19191C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2B06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Host: localhost:8080</a:t>
            </a:r>
            <a:r>
              <a:rPr lang="en" sz="1300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</a:t>
            </a:r>
            <a:r>
              <a:rPr lang="en" sz="1300">
                <a:solidFill>
                  <a:srgbClr val="C711E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request headers</a:t>
            </a:r>
            <a:endParaRPr sz="1300">
              <a:solidFill>
                <a:srgbClr val="E6E6E6"/>
              </a:solidFill>
              <a:highlight>
                <a:srgbClr val="19191C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2B06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Accept: */*</a:t>
            </a:r>
            <a:endParaRPr sz="1300">
              <a:solidFill>
                <a:srgbClr val="E6E6E6"/>
              </a:solidFill>
              <a:highlight>
                <a:srgbClr val="19191C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2B06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1300">
              <a:solidFill>
                <a:srgbClr val="E6E6E6"/>
              </a:solidFill>
              <a:highlight>
                <a:srgbClr val="19191C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AA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 HTTP/1.1 200 OK</a:t>
            </a:r>
            <a:r>
              <a:rPr lang="en" sz="1300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</a:t>
            </a:r>
            <a:r>
              <a:rPr lang="en" sz="1300">
                <a:solidFill>
                  <a:srgbClr val="C711E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status line</a:t>
            </a:r>
            <a:endParaRPr sz="1300">
              <a:solidFill>
                <a:srgbClr val="E6E6E6"/>
              </a:solidFill>
              <a:highlight>
                <a:srgbClr val="19191C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AA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 Content-Type: application/json</a:t>
            </a:r>
            <a:r>
              <a:rPr lang="en" sz="1300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C711E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response headers</a:t>
            </a:r>
            <a:endParaRPr sz="1300">
              <a:solidFill>
                <a:srgbClr val="E6E6E6"/>
              </a:solidFill>
              <a:highlight>
                <a:srgbClr val="19191C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AAB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endParaRPr sz="1300">
              <a:solidFill>
                <a:srgbClr val="E6E6E6"/>
              </a:solidFill>
              <a:highlight>
                <a:srgbClr val="19191C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[{"name":"Piter","hasKotlinAttribute":false}, ...]</a:t>
            </a:r>
            <a:r>
              <a:rPr lang="en" sz="1300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lang="en" sz="1300">
                <a:solidFill>
                  <a:srgbClr val="C711E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body (JSON)</a:t>
            </a:r>
            <a:endParaRPr sz="1300"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347475" y="4130275"/>
            <a:ext cx="86340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‼️ </a:t>
            </a:r>
            <a:r>
              <a:rPr lang="en"/>
              <a:t>The transport is still TCP — but now there's a </a:t>
            </a:r>
            <a:r>
              <a:rPr b="1" lang="en"/>
              <a:t>method</a:t>
            </a:r>
            <a:r>
              <a:rPr lang="en"/>
              <a:t>, a </a:t>
            </a:r>
            <a:r>
              <a:rPr b="1" lang="en"/>
              <a:t>path</a:t>
            </a:r>
            <a:r>
              <a:rPr lang="en"/>
              <a:t>, </a:t>
            </a:r>
            <a:r>
              <a:rPr b="1" lang="en"/>
              <a:t>headers</a:t>
            </a:r>
            <a:r>
              <a:rPr lang="en"/>
              <a:t>, a </a:t>
            </a:r>
            <a:r>
              <a:rPr b="1" lang="en"/>
              <a:t>status code</a:t>
            </a:r>
            <a:r>
              <a:rPr lang="en"/>
              <a:t>, and a </a:t>
            </a:r>
            <a:r>
              <a:rPr b="1" lang="en"/>
              <a:t>typed body</a:t>
            </a:r>
            <a:r>
              <a:rPr lang="en"/>
              <a:t>. HTTP handles routing, formats, and concurrency for us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Anatomy of an HTTP</a:t>
            </a:r>
            <a:r>
              <a:rPr baseline="30000" lang="en"/>
              <a:t>*</a:t>
            </a:r>
            <a:r>
              <a:rPr lang="en"/>
              <a:t> message</a:t>
            </a:r>
            <a:endParaRPr/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347075" y="4771138"/>
            <a:ext cx="86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*HTTP/1.x is a text-based protocol; it carries both text and binary payloads</a:t>
            </a:r>
            <a:endParaRPr b="1">
              <a:solidFill>
                <a:srgbClr val="666666"/>
              </a:solidFill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377275" y="1374156"/>
            <a:ext cx="70587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GET /api/ducks HTTP/1.1</a:t>
            </a:r>
            <a:r>
              <a:rPr lang="en">
                <a:solidFill>
                  <a:srgbClr val="19191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	</a:t>
            </a:r>
            <a:r>
              <a:rPr lang="en">
                <a:solidFill>
                  <a:srgbClr val="C711E0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method · path · version</a:t>
            </a:r>
            <a:endParaRPr>
              <a:solidFill>
                <a:srgbClr val="19191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B6B70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Host: localhost:8080</a:t>
            </a:r>
            <a:r>
              <a:rPr lang="en">
                <a:solidFill>
                  <a:srgbClr val="19191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</a:t>
            </a:r>
            <a:r>
              <a:rPr lang="en">
                <a:solidFill>
                  <a:srgbClr val="C711E0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headers</a:t>
            </a:r>
            <a:endParaRPr>
              <a:solidFill>
                <a:srgbClr val="19191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B6B70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Accept: */*</a:t>
            </a:r>
            <a:endParaRPr>
              <a:solidFill>
                <a:srgbClr val="19191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9191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711E0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(optional body — e.g. on POST)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347475" y="3365543"/>
            <a:ext cx="63351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7D32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HTTP/1.1 200 OK</a:t>
            </a:r>
            <a:r>
              <a:rPr lang="en">
                <a:solidFill>
                  <a:srgbClr val="19191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     </a:t>
            </a:r>
            <a:r>
              <a:rPr lang="en">
                <a:solidFill>
                  <a:srgbClr val="C711E0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status line</a:t>
            </a:r>
            <a:endParaRPr>
              <a:solidFill>
                <a:srgbClr val="19191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B6B70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Content-Type: application/json</a:t>
            </a:r>
            <a:r>
              <a:rPr lang="en">
                <a:solidFill>
                  <a:srgbClr val="19191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lang="en">
                <a:solidFill>
                  <a:srgbClr val="C711E0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headers</a:t>
            </a:r>
            <a:endParaRPr>
              <a:solidFill>
                <a:srgbClr val="19191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9191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191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[{"name":"Piter", ...}]          </a:t>
            </a:r>
            <a:r>
              <a:rPr lang="en">
                <a:solidFill>
                  <a:srgbClr val="C711E0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body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505952" y="938896"/>
            <a:ext cx="11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</a:rPr>
              <a:t>Request</a:t>
            </a:r>
            <a:endParaRPr b="1">
              <a:solidFill>
                <a:srgbClr val="666666"/>
              </a:solidFill>
            </a:endParaRPr>
          </a:p>
        </p:txBody>
      </p:sp>
      <p:sp>
        <p:nvSpPr>
          <p:cNvPr id="160" name="Google Shape;160;p28"/>
          <p:cNvSpPr/>
          <p:nvPr/>
        </p:nvSpPr>
        <p:spPr>
          <a:xfrm>
            <a:off x="347475" y="3309068"/>
            <a:ext cx="6027300" cy="1280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505952" y="2958412"/>
            <a:ext cx="11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</a:rPr>
              <a:t>Response</a:t>
            </a:r>
            <a:endParaRPr b="1">
              <a:solidFill>
                <a:srgbClr val="666666"/>
              </a:solidFill>
            </a:endParaRPr>
          </a:p>
        </p:txBody>
      </p:sp>
      <p:sp>
        <p:nvSpPr>
          <p:cNvPr id="162" name="Google Shape;162;p28"/>
          <p:cNvSpPr/>
          <p:nvPr/>
        </p:nvSpPr>
        <p:spPr>
          <a:xfrm>
            <a:off x="347475" y="1289555"/>
            <a:ext cx="6027300" cy="156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Web APIs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47075" y="4771138"/>
            <a:ext cx="86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*</a:t>
            </a:r>
            <a:r>
              <a:rPr lang="en">
                <a:solidFill>
                  <a:srgbClr val="666666"/>
                </a:solidFill>
              </a:rPr>
              <a:t>SOAP (XML, heavyweight) — still around in legacy systems, rarely chosen for new APIs</a:t>
            </a:r>
            <a:endParaRPr b="1">
              <a:solidFill>
                <a:srgbClr val="666666"/>
              </a:solidFill>
            </a:endParaRPr>
          </a:p>
        </p:txBody>
      </p:sp>
      <p:sp>
        <p:nvSpPr>
          <p:cNvPr id="169" name="Google Shape;169;p29"/>
          <p:cNvSpPr/>
          <p:nvPr/>
        </p:nvSpPr>
        <p:spPr>
          <a:xfrm>
            <a:off x="124900" y="1330337"/>
            <a:ext cx="4352400" cy="114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204075" y="1330325"/>
            <a:ext cx="4352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REST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Resources + HTTP methods. Simple, widely used, cacheable.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good for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most web / mobile backends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204075" y="2867225"/>
            <a:ext cx="43524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gRPC + Protobuf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Binary, contract-first, low overhead and latency.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good for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service-to-service / microservices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4730500" y="1288325"/>
            <a:ext cx="43521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GraphQL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One endpoint; the client queries exactly the fields it needs.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good for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rich, varied clients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p29"/>
          <p:cNvSpPr txBox="1"/>
          <p:nvPr/>
        </p:nvSpPr>
        <p:spPr>
          <a:xfrm>
            <a:off x="4648850" y="2867225"/>
            <a:ext cx="43524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WebSockets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Persistent, bidirectional connection for live data.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good for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real-time (chat, live updates)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29"/>
          <p:cNvSpPr/>
          <p:nvPr/>
        </p:nvSpPr>
        <p:spPr>
          <a:xfrm>
            <a:off x="4648850" y="1330350"/>
            <a:ext cx="4352400" cy="114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29"/>
          <p:cNvSpPr/>
          <p:nvPr/>
        </p:nvSpPr>
        <p:spPr>
          <a:xfrm>
            <a:off x="124900" y="2743337"/>
            <a:ext cx="4352400" cy="114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29"/>
          <p:cNvSpPr/>
          <p:nvPr/>
        </p:nvSpPr>
        <p:spPr>
          <a:xfrm>
            <a:off x="4648850" y="2743337"/>
            <a:ext cx="4352400" cy="114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REST</a:t>
            </a:r>
            <a:endParaRPr/>
          </a:p>
        </p:txBody>
      </p:sp>
      <p:sp>
        <p:nvSpPr>
          <p:cNvPr id="182" name="Google Shape;182;p30"/>
          <p:cNvSpPr txBox="1"/>
          <p:nvPr>
            <p:ph idx="1" type="body"/>
          </p:nvPr>
        </p:nvSpPr>
        <p:spPr>
          <a:xfrm>
            <a:off x="347475" y="933450"/>
            <a:ext cx="86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set of conventions — follow them and clients become easy to reason about, cache, and scale</a:t>
            </a:r>
            <a:endParaRPr b="1"/>
          </a:p>
        </p:txBody>
      </p:sp>
      <p:sp>
        <p:nvSpPr>
          <p:cNvPr id="183" name="Google Shape;183;p30"/>
          <p:cNvSpPr txBox="1"/>
          <p:nvPr>
            <p:ph idx="1" type="body"/>
          </p:nvPr>
        </p:nvSpPr>
        <p:spPr>
          <a:xfrm>
            <a:off x="233025" y="1574300"/>
            <a:ext cx="8109600" cy="30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Resource-based </a:t>
            </a:r>
            <a:r>
              <a:rPr lang="en"/>
              <a:t>— URLs identify resources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HTTP methods </a:t>
            </a:r>
            <a:r>
              <a:rPr lang="en"/>
              <a:t>— GET / POST / PUT / PATCH / DELETE</a:t>
            </a:r>
            <a:endParaRPr i="1"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Stateless </a:t>
            </a:r>
            <a:r>
              <a:rPr lang="en"/>
              <a:t>— the server keeps no per-client session between requests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Uniform interface </a:t>
            </a:r>
            <a:r>
              <a:rPr lang="en"/>
              <a:t>— consistent, predictable interaction patterns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Client–server separation </a:t>
            </a:r>
            <a:r>
              <a:rPr lang="en"/>
              <a:t>— both sides evolve independently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HTTP methods in REST</a:t>
            </a:r>
            <a:endParaRPr/>
          </a:p>
        </p:txBody>
      </p:sp>
      <p:sp>
        <p:nvSpPr>
          <p:cNvPr id="189" name="Google Shape;189;p31"/>
          <p:cNvSpPr txBox="1"/>
          <p:nvPr>
            <p:ph idx="1" type="body"/>
          </p:nvPr>
        </p:nvSpPr>
        <p:spPr>
          <a:xfrm>
            <a:off x="292600" y="933450"/>
            <a:ext cx="86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method tells the server (and caches and proxies) your intent — before it reads the body</a:t>
            </a:r>
            <a:endParaRPr b="1"/>
          </a:p>
        </p:txBody>
      </p:sp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347475" y="1802150"/>
            <a:ext cx="81096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GET 		</a:t>
            </a:r>
            <a:r>
              <a:rPr lang="en"/>
              <a:t>Read, </a:t>
            </a:r>
            <a:r>
              <a:rPr b="1" lang="en"/>
              <a:t>safe</a:t>
            </a:r>
            <a:r>
              <a:rPr lang="en"/>
              <a:t>* (no side effects)   			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GET /api/ducks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POST 	</a:t>
            </a:r>
            <a:r>
              <a:rPr lang="en"/>
              <a:t>Create / trigger an action   				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POST /api/ducks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PUT 		</a:t>
            </a:r>
            <a:r>
              <a:rPr lang="en"/>
              <a:t>Full replace of a resource (idempotent*)	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PUT /api/ducks?mode=List</a:t>
            </a:r>
            <a:endParaRPr baseline="30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PATCH 	</a:t>
            </a:r>
            <a:r>
              <a:rPr lang="en"/>
              <a:t>Partial update of a resource			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PATCH /api/ducks {order}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DELETE 	</a:t>
            </a:r>
            <a:r>
              <a:rPr lang="en"/>
              <a:t>Remove a resource (idempotent*)		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DELETE /api/ducks/{index}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347075" y="4760594"/>
            <a:ext cx="86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*</a:t>
            </a:r>
            <a:r>
              <a:rPr lang="en">
                <a:solidFill>
                  <a:srgbClr val="666666"/>
                </a:solidFill>
              </a:rPr>
              <a:t>Safe == doesn't change state; idempotent == repeating it has the same effect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Resources &amp; URLs</a:t>
            </a:r>
            <a:endParaRPr/>
          </a:p>
        </p:txBody>
      </p:sp>
      <p:sp>
        <p:nvSpPr>
          <p:cNvPr id="197" name="Google Shape;197;p32"/>
          <p:cNvSpPr txBox="1"/>
          <p:nvPr>
            <p:ph idx="1" type="body"/>
          </p:nvPr>
        </p:nvSpPr>
        <p:spPr>
          <a:xfrm>
            <a:off x="292600" y="933450"/>
            <a:ext cx="86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Endpoints name resources (nouns); query params refine them</a:t>
            </a:r>
            <a:endParaRPr b="1"/>
          </a:p>
        </p:txBody>
      </p: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222450" y="1700225"/>
            <a:ext cx="8109600" cy="30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Collection  				</a:t>
            </a:r>
            <a:r>
              <a:rPr lang="en"/>
              <a:t>GET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/api/ducks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Individual  				</a:t>
            </a:r>
            <a:r>
              <a:rPr lang="en"/>
              <a:t>GET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/api/ducks/{index}</a:t>
            </a:r>
            <a:endParaRPr i="1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Filtering a collection  		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DELETE /api/ducks?hasKotlin=false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State as a property  			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PATCH /api/ducks {order:"price"}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336500" y="3776675"/>
            <a:ext cx="80562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‼️ </a:t>
            </a:r>
            <a:r>
              <a:rPr lang="en"/>
              <a:t>Without a database, the collection of ducks is stored on the server. This is fine for a toy project, but it won't work for a real one.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HTTP status codes</a:t>
            </a:r>
            <a:endParaRPr/>
          </a:p>
        </p:txBody>
      </p:sp>
      <p:sp>
        <p:nvSpPr>
          <p:cNvPr id="205" name="Google Shape;205;p33"/>
          <p:cNvSpPr txBox="1"/>
          <p:nvPr>
            <p:ph idx="1" type="body"/>
          </p:nvPr>
        </p:nvSpPr>
        <p:spPr>
          <a:xfrm>
            <a:off x="292600" y="933450"/>
            <a:ext cx="86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first thing a client checks — the </a:t>
            </a:r>
            <a:r>
              <a:rPr lang="en"/>
              <a:t>status code</a:t>
            </a:r>
            <a:r>
              <a:rPr lang="en"/>
              <a:t>, before parsing any body</a:t>
            </a:r>
            <a:endParaRPr b="1"/>
          </a:p>
        </p:txBody>
      </p:sp>
      <p:sp>
        <p:nvSpPr>
          <p:cNvPr id="206" name="Google Shape;206;p33"/>
          <p:cNvSpPr txBox="1"/>
          <p:nvPr>
            <p:ph idx="1" type="body"/>
          </p:nvPr>
        </p:nvSpPr>
        <p:spPr>
          <a:xfrm>
            <a:off x="308275" y="1500225"/>
            <a:ext cx="8343300" cy="3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67D17"/>
                </a:solidFill>
              </a:rPr>
              <a:t>2xx</a:t>
            </a:r>
            <a:r>
              <a:rPr b="1" lang="en"/>
              <a:t>		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Success</a:t>
            </a:r>
            <a:endParaRPr/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 OK; 201 Created; 204 No Content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F9000"/>
                </a:solidFill>
              </a:rPr>
              <a:t>3xx</a:t>
            </a:r>
            <a:r>
              <a:rPr lang="en"/>
              <a:t>		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Redirection</a:t>
            </a:r>
            <a:endParaRPr/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301 Moved Permanently; 304 Not Modified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90000"/>
                </a:solidFill>
              </a:rPr>
              <a:t>4xx</a:t>
            </a:r>
            <a:r>
              <a:rPr lang="en"/>
              <a:t>		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Client error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400 Bad Request; 401 Unauthorized; 403 Forbidden; 404 Not Found</a:t>
            </a:r>
            <a:endParaRPr/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90000"/>
                </a:solidFill>
              </a:rPr>
              <a:t>5xx</a:t>
            </a:r>
            <a:r>
              <a:rPr lang="en"/>
              <a:t>		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Server error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500 Internal Server Error; 503 Service Unavailable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3"/>
          <p:cNvSpPr txBox="1"/>
          <p:nvPr/>
        </p:nvSpPr>
        <p:spPr>
          <a:xfrm>
            <a:off x="292600" y="4249908"/>
            <a:ext cx="679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-v http://localhost:8080/api/duck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	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200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-v http://localhost:8080/unknown	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404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Why a framework — and what it gives you</a:t>
            </a:r>
            <a:endParaRPr/>
          </a:p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292600" y="933450"/>
            <a:ext cx="86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raw socket lacks routes, formats, and concurrency — framework provides scaffolding:</a:t>
            </a:r>
            <a:endParaRPr b="1"/>
          </a:p>
        </p:txBody>
      </p:sp>
      <p:sp>
        <p:nvSpPr>
          <p:cNvPr id="214" name="Google Shape;214;p34"/>
          <p:cNvSpPr txBox="1"/>
          <p:nvPr>
            <p:ph idx="1" type="body"/>
          </p:nvPr>
        </p:nvSpPr>
        <p:spPr>
          <a:xfrm>
            <a:off x="233025" y="1490350"/>
            <a:ext cx="8109600" cy="30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HTTP server &amp; routing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Request/response &amp; serialization</a:t>
            </a:r>
            <a:endParaRPr i="1"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Validation &amp; error handling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Database integration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Authentication &amp; authorization</a:t>
            </a:r>
            <a:endParaRPr b="1"/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Testing support</a:t>
            </a:r>
            <a:endParaRPr/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Logging &amp; metrics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Spring &amp; Spring Boot</a:t>
            </a:r>
            <a:r>
              <a:rPr baseline="30000" lang="en"/>
              <a:t>*</a:t>
            </a:r>
            <a:endParaRPr baseline="30000"/>
          </a:p>
        </p:txBody>
      </p:sp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build on Spring — and let Spring Boot remove the configuration boilerplate</a:t>
            </a:r>
            <a:endParaRPr b="1"/>
          </a:p>
        </p:txBody>
      </p:sp>
      <p:sp>
        <p:nvSpPr>
          <p:cNvPr id="221" name="Google Shape;221;p35"/>
          <p:cNvSpPr txBox="1"/>
          <p:nvPr/>
        </p:nvSpPr>
        <p:spPr>
          <a:xfrm>
            <a:off x="303462" y="1945750"/>
            <a:ext cx="43521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Spring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application framework</a:t>
            </a:r>
            <a:endParaRPr i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IoC / Dependency Injection container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Web (Spring MVC)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access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Security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Testing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oogle Shape;222;p35"/>
          <p:cNvSpPr/>
          <p:nvPr/>
        </p:nvSpPr>
        <p:spPr>
          <a:xfrm>
            <a:off x="4563638" y="1945750"/>
            <a:ext cx="4252800" cy="1887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35"/>
          <p:cNvSpPr txBox="1"/>
          <p:nvPr/>
        </p:nvSpPr>
        <p:spPr>
          <a:xfrm>
            <a:off x="4655562" y="1945750"/>
            <a:ext cx="43521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Spring Boot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“Just run” on top of Spring</a:t>
            </a:r>
            <a:endParaRPr i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Auto-configuration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Starters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— curated dependency bundles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Embedded server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(Tomcat) — no app server to install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Stand-alone, runnable jar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35"/>
          <p:cNvSpPr/>
          <p:nvPr/>
        </p:nvSpPr>
        <p:spPr>
          <a:xfrm>
            <a:off x="211538" y="1945750"/>
            <a:ext cx="4126800" cy="1887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" name="Google Shape;225;p35"/>
          <p:cNvSpPr txBox="1"/>
          <p:nvPr>
            <p:ph idx="1" type="body"/>
          </p:nvPr>
        </p:nvSpPr>
        <p:spPr>
          <a:xfrm>
            <a:off x="347075" y="4760594"/>
            <a:ext cx="86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*</a:t>
            </a:r>
            <a:r>
              <a:rPr lang="en">
                <a:solidFill>
                  <a:srgbClr val="666666"/>
                </a:solidFill>
              </a:rPr>
              <a:t>Building web applications with Spring Boot and Kotlin: 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Setting up &amp; building duck-shop</a:t>
            </a:r>
            <a:endParaRPr baseline="30000"/>
          </a:p>
        </p:txBody>
      </p:sp>
      <p:sp>
        <p:nvSpPr>
          <p:cNvPr id="231" name="Google Shape;231;p36"/>
          <p:cNvSpPr txBox="1"/>
          <p:nvPr>
            <p:ph idx="1" type="body"/>
          </p:nvPr>
        </p:nvSpPr>
        <p:spPr>
          <a:xfrm>
            <a:off x="292600" y="933450"/>
            <a:ext cx="824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Generate at </a:t>
            </a:r>
            <a:r>
              <a:rPr lang="en" u="sng">
                <a:solidFill>
                  <a:schemeClr val="hlink"/>
                </a:solidFill>
                <a:hlinkClick r:id="rId3"/>
              </a:rPr>
              <a:t>start.spring.io</a:t>
            </a:r>
            <a:r>
              <a:rPr lang="en"/>
              <a:t> (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Gradle Kotlin DSL</a:t>
            </a:r>
            <a:r>
              <a:rPr lang="en"/>
              <a:t>;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Kotlin</a:t>
            </a:r>
            <a:r>
              <a:rPr lang="en"/>
              <a:t>;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 JVM 21</a:t>
            </a:r>
            <a:r>
              <a:rPr lang="en"/>
              <a:t>):</a:t>
            </a:r>
            <a:endParaRPr b="1"/>
          </a:p>
        </p:txBody>
      </p:sp>
      <p:sp>
        <p:nvSpPr>
          <p:cNvPr id="232" name="Google Shape;232;p36"/>
          <p:cNvSpPr txBox="1"/>
          <p:nvPr/>
        </p:nvSpPr>
        <p:spPr>
          <a:xfrm>
            <a:off x="252367" y="1365408"/>
            <a:ext cx="8844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00000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plugins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2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kotlin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"jvm"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i="1" lang="en" sz="12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version 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2.2.20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2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kotlin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"plugin.spring"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i="1" lang="en" sz="12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version 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2.2.20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200">
                <a:solidFill>
                  <a:srgbClr val="800000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id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"org.springframework.boot"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i="1" lang="en" sz="12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version 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4.0.0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200">
                <a:solidFill>
                  <a:srgbClr val="800000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id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"io.spring.dependency-management"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i="1" lang="en" sz="12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version 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1.1.7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endParaRPr sz="1200">
              <a:solidFill>
                <a:srgbClr val="067D17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dependencies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2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implementation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"org.springframework.boot:spring-boot-starter-web"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2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implementation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"org.springframework.boot:spring-boot-starter-security"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2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implementation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2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"org.springframework.boot:spring-boot-starter-data-jpa"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2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2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</a:t>
            </a:r>
            <a:r>
              <a:rPr i="1" lang="en" sz="12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 + actuator, validation, jackson-module-kotlin …</a:t>
            </a:r>
            <a:endParaRPr i="1" sz="12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java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 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toolchain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 </a:t>
            </a:r>
            <a:r>
              <a:rPr i="1" lang="en" sz="12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languageVersion 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JavaLanguageVersion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.of(</a:t>
            </a:r>
            <a:r>
              <a:rPr lang="en" sz="120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21</a:t>
            </a:r>
            <a:r>
              <a:rPr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292600" y="4506917"/>
            <a:ext cx="83223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‼️ </a:t>
            </a:r>
            <a:r>
              <a:rPr lang="en"/>
              <a:t>Our build also auto-builds the React frontend into the jar — </a:t>
            </a:r>
            <a:r>
              <a:rPr b="1" lang="en"/>
              <a:t>one full-stack artifact</a:t>
            </a:r>
            <a:r>
              <a:rPr lang="en"/>
              <a:t> serving both API and UI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The artifact &amp; the runtime</a:t>
            </a:r>
            <a:endParaRPr baseline="30000"/>
          </a:p>
        </p:txBody>
      </p:sp>
      <p:sp>
        <p:nvSpPr>
          <p:cNvPr id="239" name="Google Shape;239;p37"/>
          <p:cNvSpPr txBox="1"/>
          <p:nvPr>
            <p:ph idx="1" type="body"/>
          </p:nvPr>
        </p:nvSpPr>
        <p:spPr>
          <a:xfrm>
            <a:off x="292600" y="933450"/>
            <a:ext cx="824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One self-contained process — no external application server</a:t>
            </a:r>
            <a:endParaRPr b="1"/>
          </a:p>
        </p:txBody>
      </p:sp>
      <p:sp>
        <p:nvSpPr>
          <p:cNvPr id="240" name="Google Shape;240;p37"/>
          <p:cNvSpPr txBox="1"/>
          <p:nvPr/>
        </p:nvSpPr>
        <p:spPr>
          <a:xfrm>
            <a:off x="292600" y="1682150"/>
            <a:ext cx="74979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rgbClr val="4343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./gradlew bootJar</a:t>
            </a:r>
            <a:endParaRPr>
              <a:solidFill>
                <a:srgbClr val="43434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4343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java -jar build/libs/duck-shop-server-0.0.1-SNAPSHOT.jar</a:t>
            </a:r>
            <a:endParaRPr>
              <a:solidFill>
                <a:srgbClr val="43434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… Tomcat started on port 8080 (http)</a:t>
            </a:r>
            <a:endParaRPr>
              <a:solidFill>
                <a:srgbClr val="38761D"/>
              </a:solidFill>
              <a:highlight>
                <a:srgbClr val="19191C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… Started DuckShopApplicationKt in 0.8 seconds</a:t>
            </a:r>
            <a:endParaRPr>
              <a:solidFill>
                <a:srgbClr val="38761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The artifact &amp; the runtime</a:t>
            </a:r>
            <a:endParaRPr baseline="30000"/>
          </a:p>
        </p:txBody>
      </p:sp>
      <p:sp>
        <p:nvSpPr>
          <p:cNvPr id="246" name="Google Shape;246;p38"/>
          <p:cNvSpPr txBox="1"/>
          <p:nvPr>
            <p:ph idx="1" type="body"/>
          </p:nvPr>
        </p:nvSpPr>
        <p:spPr>
          <a:xfrm>
            <a:off x="292600" y="1216238"/>
            <a:ext cx="81096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Fat  jar</a:t>
            </a:r>
            <a:r>
              <a:rPr lang="en"/>
              <a:t> — your code + all dependencies + embedded Tomcat + the React build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Embedded server </a:t>
            </a:r>
            <a:r>
              <a:rPr lang="en"/>
              <a:t>— the app is the server, listens on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:8080</a:t>
            </a:r>
            <a:r>
              <a:rPr lang="en"/>
              <a:t>, nothing to deploy into</a:t>
            </a:r>
            <a:endParaRPr i="1"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./gradlew bootRun</a:t>
            </a:r>
            <a:r>
              <a:rPr lang="en"/>
              <a:t> for development;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java -jar</a:t>
            </a:r>
            <a:r>
              <a:rPr lang="en"/>
              <a:t> in production; optional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Dockerfile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47" name="Google Shape;247;p38"/>
          <p:cNvSpPr txBox="1"/>
          <p:nvPr/>
        </p:nvSpPr>
        <p:spPr>
          <a:xfrm>
            <a:off x="366700" y="3556425"/>
            <a:ext cx="77085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http://localhost:8080/actuator/health	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{"status":"UP"}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open http://localhost:8080					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the duck shop UI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http://localhost:8080/api/ducks 		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JSON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48" name="Google Shape;248;p38"/>
          <p:cNvSpPr txBox="1"/>
          <p:nvPr/>
        </p:nvSpPr>
        <p:spPr>
          <a:xfrm>
            <a:off x="382733" y="3101113"/>
            <a:ext cx="570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Give it a try yourself (and don’t forget to start the server):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The first endpoint</a:t>
            </a:r>
            <a:endParaRPr baseline="30000"/>
          </a:p>
        </p:txBody>
      </p:sp>
      <p:sp>
        <p:nvSpPr>
          <p:cNvPr id="254" name="Google Shape;254;p39"/>
          <p:cNvSpPr txBox="1"/>
          <p:nvPr>
            <p:ph idx="1" type="body"/>
          </p:nvPr>
        </p:nvSpPr>
        <p:spPr>
          <a:xfrm>
            <a:off x="292600" y="933450"/>
            <a:ext cx="824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Two </a:t>
            </a:r>
            <a:r>
              <a:rPr b="1" lang="en"/>
              <a:t>annotations</a:t>
            </a:r>
            <a:r>
              <a:rPr lang="en"/>
              <a:t> turn a class into a running web app</a:t>
            </a:r>
            <a:endParaRPr b="1"/>
          </a:p>
        </p:txBody>
      </p:sp>
      <p:sp>
        <p:nvSpPr>
          <p:cNvPr id="255" name="Google Shape;255;p39"/>
          <p:cNvSpPr txBox="1"/>
          <p:nvPr/>
        </p:nvSpPr>
        <p:spPr>
          <a:xfrm>
            <a:off x="266675" y="1411467"/>
            <a:ext cx="87948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@SpringBootApplication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DuckShopApplication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Array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&gt;) {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runApplication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DuckShopApplication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&gt;(*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@RestController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HelloController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@GetMapping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"/hello"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hello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=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"Hello from Spring!"</a:t>
            </a:r>
            <a:endParaRPr sz="1300">
              <a:solidFill>
                <a:srgbClr val="067D17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56" name="Google Shape;256;p39"/>
          <p:cNvSpPr txBox="1"/>
          <p:nvPr>
            <p:ph idx="1" type="body"/>
          </p:nvPr>
        </p:nvSpPr>
        <p:spPr>
          <a:xfrm>
            <a:off x="318775" y="4083567"/>
            <a:ext cx="83223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@SpringBootApplication</a:t>
            </a:r>
            <a:r>
              <a:rPr lang="en"/>
              <a:t> bootstraps everything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@RestController</a:t>
            </a:r>
            <a:r>
              <a:rPr lang="en"/>
              <a:t> +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@GetMapping </a:t>
            </a:r>
            <a:r>
              <a:rPr lang="en"/>
              <a:t>map a function to an HTTP route — Spring serves it on the embedded server, no wiring by hand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The IoC container &amp; beans</a:t>
            </a:r>
            <a:endParaRPr baseline="30000"/>
          </a:p>
        </p:txBody>
      </p:sp>
      <p:sp>
        <p:nvSpPr>
          <p:cNvPr id="262" name="Google Shape;262;p40"/>
          <p:cNvSpPr txBox="1"/>
          <p:nvPr>
            <p:ph idx="1" type="body"/>
          </p:nvPr>
        </p:nvSpPr>
        <p:spPr>
          <a:xfrm>
            <a:off x="292600" y="933450"/>
            <a:ext cx="879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Inversion of control: Spring builds and manages your objects (beans) — you declare, it owns the lifecycle</a:t>
            </a:r>
            <a:endParaRPr b="1"/>
          </a:p>
        </p:txBody>
      </p:sp>
      <p:sp>
        <p:nvSpPr>
          <p:cNvPr id="263" name="Google Shape;263;p40"/>
          <p:cNvSpPr txBox="1"/>
          <p:nvPr>
            <p:ph idx="1" type="body"/>
          </p:nvPr>
        </p:nvSpPr>
        <p:spPr>
          <a:xfrm>
            <a:off x="233025" y="1574300"/>
            <a:ext cx="8109600" cy="30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lang="en"/>
              <a:t>The container </a:t>
            </a:r>
            <a:r>
              <a:rPr b="1" lang="en"/>
              <a:t>instantiates</a:t>
            </a:r>
            <a:r>
              <a:rPr lang="en"/>
              <a:t>, </a:t>
            </a:r>
            <a:r>
              <a:rPr b="1" lang="en"/>
              <a:t>configures</a:t>
            </a:r>
            <a:r>
              <a:rPr lang="en"/>
              <a:t> and </a:t>
            </a:r>
            <a:r>
              <a:rPr b="1" lang="en"/>
              <a:t>wires</a:t>
            </a:r>
            <a:r>
              <a:rPr lang="en"/>
              <a:t> beans at startup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@Component </a:t>
            </a:r>
            <a:r>
              <a:rPr lang="en"/>
              <a:t>(and its specializations) mark a class as a bean</a:t>
            </a:r>
            <a:r>
              <a:rPr baseline="30000" lang="en"/>
              <a:t>*</a:t>
            </a:r>
            <a:endParaRPr baseline="30000" i="1"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Component scanning</a:t>
            </a:r>
            <a:r>
              <a:rPr lang="en"/>
              <a:t> discovers them automatically — no manual registration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lang="en"/>
              <a:t>You never create your controller or service — Spring does, once, and injects what they need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0"/>
          <p:cNvSpPr txBox="1"/>
          <p:nvPr>
            <p:ph idx="1" type="body"/>
          </p:nvPr>
        </p:nvSpPr>
        <p:spPr>
          <a:xfrm>
            <a:off x="347075" y="4760594"/>
            <a:ext cx="86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*</a:t>
            </a:r>
            <a:r>
              <a:rPr lang="en">
                <a:solidFill>
                  <a:srgbClr val="666666"/>
                </a:solidFill>
              </a:rPr>
              <a:t>Less glue code, single instances, easy to test (The old XML bean config is gone — annotations only)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1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Dependency injection — constructor style</a:t>
            </a:r>
            <a:endParaRPr baseline="30000"/>
          </a:p>
        </p:txBody>
      </p:sp>
      <p:sp>
        <p:nvSpPr>
          <p:cNvPr id="270" name="Google Shape;270;p41"/>
          <p:cNvSpPr txBox="1"/>
          <p:nvPr>
            <p:ph idx="1" type="body"/>
          </p:nvPr>
        </p:nvSpPr>
        <p:spPr>
          <a:xfrm>
            <a:off x="292600" y="933450"/>
            <a:ext cx="879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idiomatic Kotlin/Spring way: dependencies are constructor parameters</a:t>
            </a:r>
            <a:endParaRPr b="1"/>
          </a:p>
        </p:txBody>
      </p:sp>
      <p:sp>
        <p:nvSpPr>
          <p:cNvPr id="271" name="Google Shape;271;p41"/>
          <p:cNvSpPr txBox="1"/>
          <p:nvPr/>
        </p:nvSpPr>
        <p:spPr>
          <a:xfrm>
            <a:off x="292600" y="1559633"/>
            <a:ext cx="63606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@RestController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@RequestMapping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"/api/ducks"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DuckResource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private 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shop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DuckShopService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...endpoints use `shop`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2" name="Google Shape;272;p41"/>
          <p:cNvSpPr txBox="1"/>
          <p:nvPr>
            <p:ph idx="1" type="body"/>
          </p:nvPr>
        </p:nvSpPr>
        <p:spPr>
          <a:xfrm>
            <a:off x="318775" y="3406232"/>
            <a:ext cx="8322300" cy="13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Spring sees the constructor needs a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DuckShopService</a:t>
            </a:r>
            <a:r>
              <a:rPr lang="en"/>
              <a:t> bean and injects it — a single constructor needs no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@Autowired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Dependencies are explicit, immutable (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"/>
              <a:t>) and easy to fake in tests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service gets its own collaborators the same way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Component specialization</a:t>
            </a:r>
            <a:endParaRPr baseline="30000"/>
          </a:p>
        </p:txBody>
      </p:sp>
      <p:sp>
        <p:nvSpPr>
          <p:cNvPr id="278" name="Google Shape;278;p42"/>
          <p:cNvSpPr txBox="1"/>
          <p:nvPr>
            <p:ph idx="1" type="body"/>
          </p:nvPr>
        </p:nvSpPr>
        <p:spPr>
          <a:xfrm>
            <a:off x="292600" y="933450"/>
            <a:ext cx="879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All are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 @Component</a:t>
            </a:r>
            <a:r>
              <a:rPr lang="en"/>
              <a:t> beans — but the annotation documents the role (and adds layer behavior)</a:t>
            </a:r>
            <a:endParaRPr b="1"/>
          </a:p>
        </p:txBody>
      </p:sp>
      <p:sp>
        <p:nvSpPr>
          <p:cNvPr id="279" name="Google Shape;279;p42"/>
          <p:cNvSpPr txBox="1"/>
          <p:nvPr>
            <p:ph idx="1" type="body"/>
          </p:nvPr>
        </p:nvSpPr>
        <p:spPr>
          <a:xfrm>
            <a:off x="254650" y="1728100"/>
            <a:ext cx="8870700" cy="25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@RestController</a:t>
            </a:r>
            <a:r>
              <a:rPr b="1" lang="en"/>
              <a:t>		</a:t>
            </a:r>
            <a:r>
              <a:rPr lang="en"/>
              <a:t>Web layer — maps HTTP to calls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</a:t>
            </a:r>
            <a:r>
              <a:rPr lang="en">
                <a:solidFill>
                  <a:srgbClr val="4343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DuckResource  (= @Controller + @ResponseBody)</a:t>
            </a:r>
            <a:endParaRPr>
              <a:solidFill>
                <a:srgbClr val="43434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@Service</a:t>
            </a:r>
            <a:r>
              <a:rPr b="1" lang="en"/>
              <a:t>				</a:t>
            </a:r>
            <a:r>
              <a:rPr lang="en"/>
              <a:t>Business logic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</a:t>
            </a:r>
            <a:r>
              <a:rPr lang="en">
                <a:solidFill>
                  <a:srgbClr val="4343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DuckShopService, GameModeService, GameActionFunctionsService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@Repository</a:t>
            </a:r>
            <a:r>
              <a:rPr b="1" lang="en"/>
              <a:t>			</a:t>
            </a:r>
            <a:r>
              <a:rPr lang="en"/>
              <a:t>Data access (adds exception translation)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</a:t>
            </a:r>
            <a:r>
              <a:rPr i="1" lang="en">
                <a:solidFill>
                  <a:srgbClr val="4343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JPA repositories, will be explained later</a:t>
            </a:r>
            <a:endParaRPr i="1">
              <a:solidFill>
                <a:srgbClr val="43434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GET /api/ducks</a:t>
            </a:r>
            <a:endParaRPr baseline="30000"/>
          </a:p>
        </p:txBody>
      </p:sp>
      <p:sp>
        <p:nvSpPr>
          <p:cNvPr id="285" name="Google Shape;285;p43"/>
          <p:cNvSpPr txBox="1"/>
          <p:nvPr>
            <p:ph idx="1" type="body"/>
          </p:nvPr>
        </p:nvSpPr>
        <p:spPr>
          <a:xfrm>
            <a:off x="292600" y="933450"/>
            <a:ext cx="879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real read endpoint — thin controller delegating to the service</a:t>
            </a:r>
            <a:endParaRPr b="1"/>
          </a:p>
        </p:txBody>
      </p:sp>
      <p:sp>
        <p:nvSpPr>
          <p:cNvPr id="286" name="Google Shape;286;p43"/>
          <p:cNvSpPr txBox="1"/>
          <p:nvPr/>
        </p:nvSpPr>
        <p:spPr>
          <a:xfrm>
            <a:off x="205975" y="1466750"/>
            <a:ext cx="72918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@RestController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@RequestMapping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"/api/ducks"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DuckResource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private 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shop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DuckShopService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@GetMapping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getDucks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JsDuck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&gt; =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shop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.all()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7" name="Google Shape;287;p43"/>
          <p:cNvSpPr txBox="1"/>
          <p:nvPr/>
        </p:nvSpPr>
        <p:spPr>
          <a:xfrm>
            <a:off x="292600" y="3677600"/>
            <a:ext cx="933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-v http://localhost:8080/api/ducks	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[{"name":"Piter",…}]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the UI renders them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8" name="Google Shape;288;p43"/>
          <p:cNvSpPr txBox="1"/>
          <p:nvPr>
            <p:ph idx="1" type="body"/>
          </p:nvPr>
        </p:nvSpPr>
        <p:spPr>
          <a:xfrm>
            <a:off x="292600" y="4336075"/>
            <a:ext cx="80154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‼️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@GetMapping</a:t>
            </a:r>
            <a:r>
              <a:rPr lang="en"/>
              <a:t> on the class path →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GET /api/ducks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returns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List&lt;JsDuck&gt;</a:t>
            </a:r>
            <a:r>
              <a:rPr lang="en"/>
              <a:t>, Spring serializes to JSON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4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Path &amp; query parameters</a:t>
            </a:r>
            <a:endParaRPr baseline="30000"/>
          </a:p>
        </p:txBody>
      </p:sp>
      <p:sp>
        <p:nvSpPr>
          <p:cNvPr id="294" name="Google Shape;294;p44"/>
          <p:cNvSpPr txBox="1"/>
          <p:nvPr>
            <p:ph idx="1" type="body"/>
          </p:nvPr>
        </p:nvSpPr>
        <p:spPr>
          <a:xfrm>
            <a:off x="292600" y="933450"/>
            <a:ext cx="879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Read values from the URL; Spring binds and converts the types</a:t>
            </a:r>
            <a:endParaRPr b="1"/>
          </a:p>
        </p:txBody>
      </p:sp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266675" y="3850775"/>
            <a:ext cx="87948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DELETE /api/ducks/3</a:t>
            </a:r>
            <a:r>
              <a:rPr lang="en"/>
              <a:t> — a </a:t>
            </a:r>
            <a:r>
              <a:rPr b="1" lang="en"/>
              <a:t>path variable</a:t>
            </a:r>
            <a:r>
              <a:rPr lang="en"/>
              <a:t> identifies a resource segment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PUT /api/ducks?mode=List</a:t>
            </a:r>
            <a:r>
              <a:rPr lang="en"/>
              <a:t> — a </a:t>
            </a:r>
            <a:r>
              <a:rPr b="1" lang="en"/>
              <a:t>query param</a:t>
            </a:r>
            <a:r>
              <a:rPr lang="en"/>
              <a:t> refines the request. Spring converts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index</a:t>
            </a:r>
            <a:r>
              <a:rPr lang="en"/>
              <a:t> →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endParaRPr/>
          </a:p>
        </p:txBody>
      </p:sp>
      <p:sp>
        <p:nvSpPr>
          <p:cNvPr id="296" name="Google Shape;296;p44"/>
          <p:cNvSpPr txBox="1"/>
          <p:nvPr/>
        </p:nvSpPr>
        <p:spPr>
          <a:xfrm>
            <a:off x="269575" y="1406000"/>
            <a:ext cx="84207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@DeleteMapping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"/{index}"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removeDuck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@PathVariable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index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JsDuck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&gt; =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shop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.removeAt(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index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@PutMapping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replaceCollection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@RequestParam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mode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JsDuck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&gt; =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shop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.replaceWith(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mode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toGameMode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5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Serialization — domain vs DTO</a:t>
            </a:r>
            <a:endParaRPr baseline="30000"/>
          </a:p>
        </p:txBody>
      </p:sp>
      <p:sp>
        <p:nvSpPr>
          <p:cNvPr id="302" name="Google Shape;302;p45"/>
          <p:cNvSpPr txBox="1"/>
          <p:nvPr>
            <p:ph idx="1" type="body"/>
          </p:nvPr>
        </p:nvSpPr>
        <p:spPr>
          <a:xfrm>
            <a:off x="292600" y="933450"/>
            <a:ext cx="879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Don't expose the entity straight to clients — map it to a DTO shaped for the API</a:t>
            </a:r>
            <a:endParaRPr b="1"/>
          </a:p>
        </p:txBody>
      </p:sp>
      <p:sp>
        <p:nvSpPr>
          <p:cNvPr id="303" name="Google Shape;303;p45"/>
          <p:cNvSpPr txBox="1"/>
          <p:nvPr>
            <p:ph idx="1" type="body"/>
          </p:nvPr>
        </p:nvSpPr>
        <p:spPr>
          <a:xfrm>
            <a:off x="266675" y="3776675"/>
            <a:ext cx="87948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jackson-module-kotlin</a:t>
            </a:r>
            <a:r>
              <a:rPr lang="en"/>
              <a:t> serializes Kotlin classes automatically (both ways)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DTO is shaped for the client — e.g.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description</a:t>
            </a:r>
            <a:r>
              <a:rPr lang="en"/>
              <a:t> is only set in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Map</a:t>
            </a:r>
            <a:r>
              <a:rPr lang="en"/>
              <a:t> mode — while the entity stays internal</a:t>
            </a:r>
            <a:endParaRPr/>
          </a:p>
        </p:txBody>
      </p:sp>
      <p:sp>
        <p:nvSpPr>
          <p:cNvPr id="304" name="Google Shape;304;p45"/>
          <p:cNvSpPr txBox="1"/>
          <p:nvPr/>
        </p:nvSpPr>
        <p:spPr>
          <a:xfrm>
            <a:off x="264250" y="1611663"/>
            <a:ext cx="88515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API DTO — what the client sees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data class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JsDuck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name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description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?,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hasKotlinAttribute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Boolean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toJsDuck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mode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GameMode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JsDuck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JsDuck(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displayName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?: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name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hasKotlinAttribute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getJsDescription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mode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@RequestBody</a:t>
            </a:r>
            <a:endParaRPr baseline="30000"/>
          </a:p>
        </p:txBody>
      </p:sp>
      <p:sp>
        <p:nvSpPr>
          <p:cNvPr id="310" name="Google Shape;310;p46"/>
          <p:cNvSpPr txBox="1"/>
          <p:nvPr>
            <p:ph idx="1" type="body"/>
          </p:nvPr>
        </p:nvSpPr>
        <p:spPr>
          <a:xfrm>
            <a:off x="292600" y="933450"/>
            <a:ext cx="879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Bind a JSON request body to a Kotlin object</a:t>
            </a:r>
            <a:endParaRPr b="1"/>
          </a:p>
        </p:txBody>
      </p:sp>
      <p:sp>
        <p:nvSpPr>
          <p:cNvPr id="311" name="Google Shape;311;p46"/>
          <p:cNvSpPr txBox="1"/>
          <p:nvPr/>
        </p:nvSpPr>
        <p:spPr>
          <a:xfrm>
            <a:off x="266675" y="1527900"/>
            <a:ext cx="80433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data class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ReorderRequest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order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@PatchMapping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reorderDucks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@RequestBody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request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ReorderRequest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JsDuck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&gt; =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shop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.reorder(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request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order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toOrder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12" name="Google Shape;312;p46"/>
          <p:cNvSpPr txBox="1"/>
          <p:nvPr/>
        </p:nvSpPr>
        <p:spPr>
          <a:xfrm>
            <a:off x="182017" y="3399437"/>
            <a:ext cx="9338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-u admin:admin -X PATCH -H "Content-Type: application/json" \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-d '{"order":"price"}' http://localhost:8080/api/ducks 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5029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or click “sort” in the UI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13" name="Google Shape;313;p46"/>
          <p:cNvSpPr txBox="1"/>
          <p:nvPr>
            <p:ph idx="1" type="body"/>
          </p:nvPr>
        </p:nvSpPr>
        <p:spPr>
          <a:xfrm>
            <a:off x="228025" y="4336100"/>
            <a:ext cx="85038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‼️ PATCH /api/ducks with {"order":"price"}</a:t>
            </a:r>
            <a:r>
              <a:rPr lang="en"/>
              <a:t> → sort (also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"random" </a:t>
            </a:r>
            <a:r>
              <a:rPr lang="en"/>
              <a:t>/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"kotlin-first"</a:t>
            </a:r>
            <a:r>
              <a:rPr lang="en"/>
              <a:t>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endpoint, three orderings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Error handling</a:t>
            </a:r>
            <a:endParaRPr baseline="30000"/>
          </a:p>
        </p:txBody>
      </p:sp>
      <p:sp>
        <p:nvSpPr>
          <p:cNvPr id="319" name="Google Shape;319;p47"/>
          <p:cNvSpPr txBox="1"/>
          <p:nvPr>
            <p:ph idx="1" type="body"/>
          </p:nvPr>
        </p:nvSpPr>
        <p:spPr>
          <a:xfrm>
            <a:off x="292600" y="933450"/>
            <a:ext cx="879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One consistent error shape for the whole API.</a:t>
            </a:r>
            <a:endParaRPr b="1"/>
          </a:p>
        </p:txBody>
      </p:sp>
      <p:sp>
        <p:nvSpPr>
          <p:cNvPr id="320" name="Google Shape;320;p47"/>
          <p:cNvSpPr txBox="1"/>
          <p:nvPr/>
        </p:nvSpPr>
        <p:spPr>
          <a:xfrm>
            <a:off x="312425" y="1606825"/>
            <a:ext cx="87033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data class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ApiError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status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error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message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?)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@RestControllerAdvice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ApiExceptionHandler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@ExceptionHandler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ResponseStatusException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::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→ ApiError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@ExceptionHandler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IllegalArgumentException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::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→ 400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21" name="Google Shape;321;p47"/>
          <p:cNvSpPr txBox="1"/>
          <p:nvPr>
            <p:ph idx="1" type="body"/>
          </p:nvPr>
        </p:nvSpPr>
        <p:spPr>
          <a:xfrm>
            <a:off x="266675" y="4014800"/>
            <a:ext cx="87948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@RestControllerAdvice</a:t>
            </a:r>
            <a:r>
              <a:rPr lang="en"/>
              <a:t> centralizes exception→JSON mapping; controllers stay clean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DELETE /api/ducks/999</a:t>
            </a:r>
            <a:r>
              <a:rPr lang="en"/>
              <a:t> → 404 &amp;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PUT ?mode=Nope</a:t>
            </a:r>
            <a:r>
              <a:rPr lang="en"/>
              <a:t> → 400 — both as the same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ApiError</a:t>
            </a:r>
            <a:r>
              <a:rPr lang="en"/>
              <a:t> body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8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Databases &amp; CRUD</a:t>
            </a:r>
            <a:endParaRPr baseline="30000"/>
          </a:p>
        </p:txBody>
      </p:sp>
      <p:sp>
        <p:nvSpPr>
          <p:cNvPr id="327" name="Google Shape;327;p48"/>
          <p:cNvSpPr txBox="1"/>
          <p:nvPr>
            <p:ph idx="1" type="body"/>
          </p:nvPr>
        </p:nvSpPr>
        <p:spPr>
          <a:xfrm>
            <a:off x="292600" y="933450"/>
            <a:ext cx="879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 far the ducks lived in memory and vanished on restart — we need durable storage</a:t>
            </a:r>
            <a:endParaRPr b="1"/>
          </a:p>
        </p:txBody>
      </p:sp>
      <p:sp>
        <p:nvSpPr>
          <p:cNvPr id="328" name="Google Shape;328;p48"/>
          <p:cNvSpPr txBox="1"/>
          <p:nvPr>
            <p:ph idx="1" type="body"/>
          </p:nvPr>
        </p:nvSpPr>
        <p:spPr>
          <a:xfrm>
            <a:off x="233025" y="1574300"/>
            <a:ext cx="8109600" cy="30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Database</a:t>
            </a:r>
            <a:r>
              <a:rPr lang="en"/>
              <a:t> — data organized for fast search &amp; retrieval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DBMS</a:t>
            </a:r>
            <a:r>
              <a:rPr lang="en"/>
              <a:t> — the software that manages a database</a:t>
            </a:r>
            <a:endParaRPr i="1"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CRUD</a:t>
            </a:r>
            <a:r>
              <a:rPr lang="en"/>
              <a:t> — the four basic operations: </a:t>
            </a:r>
            <a:r>
              <a:rPr b="1" lang="en"/>
              <a:t>C</a:t>
            </a:r>
            <a:r>
              <a:rPr lang="en"/>
              <a:t>reate  </a:t>
            </a:r>
            <a:r>
              <a:rPr b="1" lang="en"/>
              <a:t>R</a:t>
            </a:r>
            <a:r>
              <a:rPr lang="en"/>
              <a:t>ead  </a:t>
            </a:r>
            <a:r>
              <a:rPr b="1" lang="en"/>
              <a:t>U</a:t>
            </a:r>
            <a:r>
              <a:rPr lang="en"/>
              <a:t>pdate  </a:t>
            </a:r>
            <a:r>
              <a:rPr b="1" lang="en"/>
              <a:t>D</a:t>
            </a:r>
            <a:r>
              <a:rPr lang="en"/>
              <a:t>elete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8"/>
          <p:cNvSpPr txBox="1"/>
          <p:nvPr>
            <p:ph idx="1" type="body"/>
          </p:nvPr>
        </p:nvSpPr>
        <p:spPr>
          <a:xfrm>
            <a:off x="292600" y="3201475"/>
            <a:ext cx="8794800" cy="15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duck operations map onto CRUD: 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→ Create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→ Read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reorder → Update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remove/filter → Delete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9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SQL vs NoSQL</a:t>
            </a:r>
            <a:endParaRPr baseline="30000"/>
          </a:p>
        </p:txBody>
      </p:sp>
      <p:sp>
        <p:nvSpPr>
          <p:cNvPr id="335" name="Google Shape;335;p49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Two families — pick by the shape of your data</a:t>
            </a:r>
            <a:endParaRPr b="1"/>
          </a:p>
        </p:txBody>
      </p:sp>
      <p:sp>
        <p:nvSpPr>
          <p:cNvPr id="336" name="Google Shape;336;p49"/>
          <p:cNvSpPr/>
          <p:nvPr/>
        </p:nvSpPr>
        <p:spPr>
          <a:xfrm>
            <a:off x="130750" y="2154975"/>
            <a:ext cx="4352400" cy="114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7" name="Google Shape;337;p49"/>
          <p:cNvSpPr txBox="1"/>
          <p:nvPr/>
        </p:nvSpPr>
        <p:spPr>
          <a:xfrm>
            <a:off x="209925" y="2154963"/>
            <a:ext cx="4352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SQL (relational)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Tables, rows, columns. Structured, strong consistency, relationships.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H2; PostgreSQL; MySQL → our choice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8" name="Google Shape;338;p49"/>
          <p:cNvSpPr txBox="1"/>
          <p:nvPr/>
        </p:nvSpPr>
        <p:spPr>
          <a:xfrm>
            <a:off x="4736350" y="2112963"/>
            <a:ext cx="43521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NoSQL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Documents / key-value / wide-column. Flexible schema, easy horizontal scale.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MongoDB; Cassandra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4654700" y="2154987"/>
            <a:ext cx="4352400" cy="114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0" name="Google Shape;340;p49"/>
          <p:cNvSpPr txBox="1"/>
          <p:nvPr>
            <p:ph idx="1" type="body"/>
          </p:nvPr>
        </p:nvSpPr>
        <p:spPr>
          <a:xfrm>
            <a:off x="228025" y="4336100"/>
            <a:ext cx="87792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‼️ </a:t>
            </a:r>
            <a:r>
              <a:rPr lang="en"/>
              <a:t>Duck-shop is structured and relational — ducks have accessories → SQL.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H2</a:t>
            </a:r>
            <a:r>
              <a:rPr lang="en"/>
              <a:t> in dev,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PostgreSQL</a:t>
            </a:r>
            <a:r>
              <a:rPr lang="en"/>
              <a:t> in tests (see next)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0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Spring Data JPA</a:t>
            </a:r>
            <a:endParaRPr baseline="30000"/>
          </a:p>
        </p:txBody>
      </p:sp>
      <p:sp>
        <p:nvSpPr>
          <p:cNvPr id="346" name="Google Shape;346;p50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layer that maps Kotlin objects to database rows — before we write any code</a:t>
            </a:r>
            <a:endParaRPr b="1"/>
          </a:p>
        </p:txBody>
      </p:sp>
      <p:sp>
        <p:nvSpPr>
          <p:cNvPr id="347" name="Google Shape;347;p50"/>
          <p:cNvSpPr txBox="1"/>
          <p:nvPr>
            <p:ph idx="1" type="body"/>
          </p:nvPr>
        </p:nvSpPr>
        <p:spPr>
          <a:xfrm>
            <a:off x="220000" y="1722450"/>
            <a:ext cx="8109600" cy="19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JPA</a:t>
            </a:r>
            <a:r>
              <a:rPr lang="en"/>
              <a:t> — the standard for mapping objects ↔ tables (ORM)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Hibernate</a:t>
            </a:r>
            <a:r>
              <a:rPr lang="en"/>
              <a:t> — the implementation Spring Boot uses by default</a:t>
            </a:r>
            <a:endParaRPr i="1"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Spring Data JPA</a:t>
            </a:r>
            <a:r>
              <a:rPr lang="en"/>
              <a:t> — repository interfaces with almost no boilerplate</a:t>
            </a:r>
            <a:endParaRPr/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lang="en"/>
              <a:t>Dependencies: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spring-boot-starter-data-jpa</a:t>
            </a:r>
            <a:r>
              <a:rPr lang="en"/>
              <a:t> +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kotlin("plugin.jpa")</a:t>
            </a:r>
            <a:endParaRPr i="1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0"/>
          <p:cNvSpPr txBox="1"/>
          <p:nvPr>
            <p:ph idx="1" type="body"/>
          </p:nvPr>
        </p:nvSpPr>
        <p:spPr>
          <a:xfrm>
            <a:off x="272917" y="4505425"/>
            <a:ext cx="87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‼️ </a:t>
            </a:r>
            <a:r>
              <a:rPr lang="en"/>
              <a:t>You write entities and repository interfaces — Spring &amp; Hibernate generate the SQL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1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JPA entities — @Entity, @Id</a:t>
            </a:r>
            <a:endParaRPr baseline="30000"/>
          </a:p>
        </p:txBody>
      </p:sp>
      <p:sp>
        <p:nvSpPr>
          <p:cNvPr id="354" name="Google Shape;354;p51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entity maps to a table;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@Id</a:t>
            </a:r>
            <a:r>
              <a:rPr lang="en"/>
              <a:t> is the primary key</a:t>
            </a:r>
            <a:endParaRPr b="1"/>
          </a:p>
        </p:txBody>
      </p:sp>
      <p:sp>
        <p:nvSpPr>
          <p:cNvPr id="355" name="Google Shape;355;p51"/>
          <p:cNvSpPr txBox="1"/>
          <p:nvPr/>
        </p:nvSpPr>
        <p:spPr>
          <a:xfrm>
            <a:off x="292600" y="1604975"/>
            <a:ext cx="66456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@Entity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Accessory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name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price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30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@Id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@GeneratedValue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(strategy =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GenerationType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IDENTITY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id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Long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? =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null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56" name="Google Shape;356;p51"/>
          <p:cNvSpPr txBox="1"/>
          <p:nvPr>
            <p:ph idx="1" type="body"/>
          </p:nvPr>
        </p:nvSpPr>
        <p:spPr>
          <a:xfrm>
            <a:off x="266675" y="4014800"/>
            <a:ext cx="87948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Kotlin JPA plugin generates the no-arg constructor Hibernate needs, so we keep </a:t>
            </a:r>
            <a:r>
              <a:rPr i="1" lang="en"/>
              <a:t>idiomatic</a:t>
            </a:r>
            <a:r>
              <a:rPr lang="en"/>
              <a:t> Kotlin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@GeneratedValue</a:t>
            </a:r>
            <a:r>
              <a:rPr lang="en"/>
              <a:t> lets the database assign the id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2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Relationships — Duck ↔ Accessory</a:t>
            </a:r>
            <a:endParaRPr baseline="30000"/>
          </a:p>
        </p:txBody>
      </p:sp>
      <p:sp>
        <p:nvSpPr>
          <p:cNvPr id="362" name="Google Shape;362;p52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 accessory like “Hat” is shared by several ducks → </a:t>
            </a:r>
            <a:r>
              <a:rPr b="1" lang="en"/>
              <a:t>many-to-many</a:t>
            </a:r>
            <a:endParaRPr b="1"/>
          </a:p>
        </p:txBody>
      </p:sp>
      <p:sp>
        <p:nvSpPr>
          <p:cNvPr id="363" name="Google Shape;363;p52"/>
          <p:cNvSpPr txBox="1"/>
          <p:nvPr/>
        </p:nvSpPr>
        <p:spPr>
          <a:xfrm>
            <a:off x="245525" y="1278467"/>
            <a:ext cx="9050700" cy="3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@Entity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name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displayName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? =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null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hasKotlinAttribute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Boolean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@ManyToMany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(fetch =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FetchType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EAGER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@JoinTable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name =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"duck_accessories"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joinColumns = [JoinColumn(</a:t>
            </a:r>
            <a:r>
              <a:rPr lang="en" sz="1300">
                <a:solidFill>
                  <a:srgbClr val="4A86E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name =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"duck_id"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)],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inverseJoinColumns = [JoinColumn(</a:t>
            </a:r>
            <a:r>
              <a:rPr lang="en" sz="1300">
                <a:solidFill>
                  <a:srgbClr val="4A86E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name =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"accessory_id"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)],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accessories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Accessory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&gt; =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emptySet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(),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@Id @GeneratedValue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(strategy =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GenerationType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IDENTITY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id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Long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? =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null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64" name="Google Shape;364;p52"/>
          <p:cNvSpPr txBox="1"/>
          <p:nvPr>
            <p:ph idx="1" type="body"/>
          </p:nvPr>
        </p:nvSpPr>
        <p:spPr>
          <a:xfrm>
            <a:off x="265117" y="4654942"/>
            <a:ext cx="87948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‼️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@ManyToMany </a:t>
            </a:r>
            <a:r>
              <a:rPr lang="en"/>
              <a:t>→ JPA creates a </a:t>
            </a:r>
            <a:r>
              <a:rPr b="1" lang="en"/>
              <a:t>join table</a:t>
            </a:r>
            <a:r>
              <a:rPr lang="en"/>
              <a:t>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duck_accessories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3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Repositories — Spring Data</a:t>
            </a:r>
            <a:endParaRPr baseline="30000"/>
          </a:p>
        </p:txBody>
      </p:sp>
      <p:sp>
        <p:nvSpPr>
          <p:cNvPr id="370" name="Google Shape;370;p53"/>
          <p:cNvSpPr txBox="1"/>
          <p:nvPr>
            <p:ph idx="1" type="body"/>
          </p:nvPr>
        </p:nvSpPr>
        <p:spPr>
          <a:xfrm>
            <a:off x="292600" y="933450"/>
            <a:ext cx="879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All are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 @Component</a:t>
            </a:r>
            <a:r>
              <a:rPr lang="en"/>
              <a:t> beans — but the annotation documents the role (and adds layer behavior)</a:t>
            </a:r>
            <a:endParaRPr b="1"/>
          </a:p>
        </p:txBody>
      </p:sp>
      <p:sp>
        <p:nvSpPr>
          <p:cNvPr id="371" name="Google Shape;371;p53"/>
          <p:cNvSpPr txBox="1"/>
          <p:nvPr>
            <p:ph idx="1" type="body"/>
          </p:nvPr>
        </p:nvSpPr>
        <p:spPr>
          <a:xfrm>
            <a:off x="254650" y="1728100"/>
            <a:ext cx="8870700" cy="25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@RestController</a:t>
            </a:r>
            <a:r>
              <a:rPr b="1" lang="en"/>
              <a:t>		</a:t>
            </a:r>
            <a:r>
              <a:rPr lang="en"/>
              <a:t>Web layer — maps HTTP to calls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</a:t>
            </a:r>
            <a:r>
              <a:rPr lang="en">
                <a:solidFill>
                  <a:srgbClr val="4343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DuckResource  (= @Controller + @ResponseBody)</a:t>
            </a:r>
            <a:endParaRPr>
              <a:solidFill>
                <a:srgbClr val="43434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@Service</a:t>
            </a:r>
            <a:r>
              <a:rPr b="1" lang="en"/>
              <a:t>				</a:t>
            </a:r>
            <a:r>
              <a:rPr lang="en"/>
              <a:t>Business logic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</a:t>
            </a:r>
            <a:r>
              <a:rPr lang="en">
                <a:solidFill>
                  <a:srgbClr val="4343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DuckShopService, GameModeService, GameActionFunctionsService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JetBrains Mono"/>
                <a:ea typeface="JetBrains Mono"/>
                <a:cs typeface="JetBrains Mono"/>
                <a:sym typeface="JetBrains Mono"/>
              </a:rPr>
              <a:t>@Repository</a:t>
            </a:r>
            <a:r>
              <a:rPr b="1" lang="en"/>
              <a:t>			</a:t>
            </a:r>
            <a:r>
              <a:rPr lang="en"/>
              <a:t>Data access (adds exception translation)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</a:t>
            </a:r>
            <a:r>
              <a:rPr i="1" lang="en">
                <a:solidFill>
                  <a:srgbClr val="4343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JPA repositories, will be explained later</a:t>
            </a:r>
            <a:endParaRPr i="1">
              <a:solidFill>
                <a:srgbClr val="43434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72" name="Google Shape;372;p53"/>
          <p:cNvSpPr/>
          <p:nvPr/>
        </p:nvSpPr>
        <p:spPr>
          <a:xfrm>
            <a:off x="135475" y="3360275"/>
            <a:ext cx="8688900" cy="832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Repositories — Spring Data</a:t>
            </a:r>
            <a:endParaRPr baseline="30000"/>
          </a:p>
        </p:txBody>
      </p:sp>
      <p:sp>
        <p:nvSpPr>
          <p:cNvPr id="378" name="Google Shape;378;p54"/>
          <p:cNvSpPr txBox="1"/>
          <p:nvPr/>
        </p:nvSpPr>
        <p:spPr>
          <a:xfrm>
            <a:off x="256375" y="1458375"/>
            <a:ext cx="84471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@Repository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interface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DuckRepository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JpaRepository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Long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@Repository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interface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ShopItemRepository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JpaRepository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ShopItem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Long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&gt; 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findAllByOrderByPositionAsc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ShopItem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79" name="Google Shape;379;p54"/>
          <p:cNvSpPr txBox="1"/>
          <p:nvPr>
            <p:ph idx="1" type="body"/>
          </p:nvPr>
        </p:nvSpPr>
        <p:spPr>
          <a:xfrm>
            <a:off x="266675" y="4014800"/>
            <a:ext cx="87948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JpaRepository</a:t>
            </a:r>
            <a:r>
              <a:rPr lang="en"/>
              <a:t> →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findAll</a:t>
            </a:r>
            <a:r>
              <a:rPr lang="en"/>
              <a:t> /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save</a:t>
            </a:r>
            <a:r>
              <a:rPr lang="en"/>
              <a:t> /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delete</a:t>
            </a:r>
            <a:r>
              <a:rPr lang="en"/>
              <a:t> /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count</a:t>
            </a:r>
            <a:r>
              <a:rPr lang="en"/>
              <a:t> for free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Derived queries</a:t>
            </a:r>
            <a:r>
              <a:rPr lang="en"/>
              <a:t> come from the method name (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findAllByOrderByPositionAsc</a:t>
            </a:r>
            <a:r>
              <a:rPr lang="en"/>
              <a:t>) — no SQL written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5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Service + repositories</a:t>
            </a:r>
            <a:endParaRPr baseline="30000"/>
          </a:p>
        </p:txBody>
      </p:sp>
      <p:sp>
        <p:nvSpPr>
          <p:cNvPr id="385" name="Google Shape;385;p55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DB operations in transactions — and the web layer doesn't change at all</a:t>
            </a:r>
            <a:endParaRPr b="1"/>
          </a:p>
        </p:txBody>
      </p:sp>
      <p:sp>
        <p:nvSpPr>
          <p:cNvPr id="386" name="Google Shape;386;p55"/>
          <p:cNvSpPr txBox="1"/>
          <p:nvPr/>
        </p:nvSpPr>
        <p:spPr>
          <a:xfrm>
            <a:off x="292600" y="1304933"/>
            <a:ext cx="89784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@Service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DuckShopService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private 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duckRepository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DuckRepository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private 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shopItemRepository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ShopItemRepository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@Transactional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addRandomDuck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JsDuck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&gt; {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/* pick from catalog, save a ShopItem */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@Transactional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(readOnly =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all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JsDuck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&gt; =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/* read ordered items → DTOs */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87" name="Google Shape;387;p55"/>
          <p:cNvSpPr txBox="1"/>
          <p:nvPr>
            <p:ph idx="1" type="body"/>
          </p:nvPr>
        </p:nvSpPr>
        <p:spPr>
          <a:xfrm>
            <a:off x="266675" y="4178683"/>
            <a:ext cx="87948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@Transactional</a:t>
            </a:r>
            <a:r>
              <a:rPr lang="en"/>
              <a:t> wraps each operation in a DB transaction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DuckResource</a:t>
            </a:r>
            <a:r>
              <a:rPr lang="en"/>
              <a:t> from earlier state is untouched — only storage moved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CatalogSeeder</a:t>
            </a:r>
            <a:r>
              <a:rPr lang="en"/>
              <a:t> inserts the 10 ducks + accessories once, if the DB is empty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6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Config &amp; persistence</a:t>
            </a:r>
            <a:endParaRPr baseline="30000"/>
          </a:p>
        </p:txBody>
      </p:sp>
      <p:sp>
        <p:nvSpPr>
          <p:cNvPr id="393" name="Google Shape;393;p56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Point Spring at a database — and the ducks finally survive a restart (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application.yml</a:t>
            </a:r>
            <a:r>
              <a:rPr lang="en"/>
              <a:t>)</a:t>
            </a:r>
            <a:endParaRPr b="1"/>
          </a:p>
        </p:txBody>
      </p:sp>
      <p:sp>
        <p:nvSpPr>
          <p:cNvPr id="394" name="Google Shape;394;p56"/>
          <p:cNvSpPr txBox="1"/>
          <p:nvPr/>
        </p:nvSpPr>
        <p:spPr>
          <a:xfrm>
            <a:off x="265125" y="1323067"/>
            <a:ext cx="78528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spring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datasource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url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jdbc:h2:file:./data/duckshop;DB_CLOSE_DELAY=-1 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# file-based → survives restart</a:t>
            </a:r>
            <a:endParaRPr sz="1300">
              <a:solidFill>
                <a:srgbClr val="067D17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67D17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jpa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hibernate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ddl-auto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update      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h2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console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enabled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true  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# http://localhost:8080/h2-console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95" name="Google Shape;395;p56"/>
          <p:cNvSpPr txBox="1"/>
          <p:nvPr>
            <p:ph idx="1" type="body"/>
          </p:nvPr>
        </p:nvSpPr>
        <p:spPr>
          <a:xfrm>
            <a:off x="266667" y="4443267"/>
            <a:ext cx="87948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‼️ </a:t>
            </a:r>
            <a:r>
              <a:rPr lang="en"/>
              <a:t>Build a collection → </a:t>
            </a:r>
            <a:r>
              <a:rPr b="1" lang="en"/>
              <a:t>restart the server</a:t>
            </a:r>
            <a:r>
              <a:rPr lang="en"/>
              <a:t> → reload the page: the ducks are still there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ShopState</a:t>
            </a:r>
            <a:r>
              <a:rPr lang="en"/>
              <a:t> remembers the mode;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GET /api/ducks/state</a:t>
            </a:r>
            <a:r>
              <a:rPr lang="en"/>
              <a:t> restores the view on load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7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Authentication — the concept</a:t>
            </a:r>
            <a:endParaRPr baseline="30000"/>
          </a:p>
        </p:txBody>
      </p:sp>
      <p:sp>
        <p:nvSpPr>
          <p:cNvPr id="401" name="Google Shape;401;p57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Until now anyone could change the shop. Step one: verify who is calling</a:t>
            </a:r>
            <a:endParaRPr b="1"/>
          </a:p>
        </p:txBody>
      </p:sp>
      <p:sp>
        <p:nvSpPr>
          <p:cNvPr id="402" name="Google Shape;402;p57"/>
          <p:cNvSpPr txBox="1"/>
          <p:nvPr>
            <p:ph idx="1" type="body"/>
          </p:nvPr>
        </p:nvSpPr>
        <p:spPr>
          <a:xfrm>
            <a:off x="219900" y="2050700"/>
            <a:ext cx="4352100" cy="19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b="1" lang="en"/>
              <a:t>Authentication</a:t>
            </a:r>
            <a:r>
              <a:rPr lang="en"/>
              <a:t> == verifying identity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lang="en"/>
              <a:t>Spring Security plugs in as a filter in front of the controllers</a:t>
            </a:r>
            <a:endParaRPr i="1"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lang="en"/>
              <a:t>We use </a:t>
            </a:r>
            <a:r>
              <a:rPr b="1" lang="en"/>
              <a:t>HTTP Basic</a:t>
            </a:r>
            <a:r>
              <a:rPr lang="en"/>
              <a:t> — simple, built-in</a:t>
            </a:r>
            <a:endParaRPr/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lang="en"/>
              <a:t>Basic is only safe over </a:t>
            </a:r>
            <a:r>
              <a:rPr b="1" lang="en"/>
              <a:t>HTTPS</a:t>
            </a:r>
            <a:r>
              <a:rPr lang="en"/>
              <a:t> (credentials are base64, not encrypted)</a:t>
            </a:r>
            <a:endParaRPr i="1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3" name="Google Shape;403;p57"/>
          <p:cNvGrpSpPr/>
          <p:nvPr/>
        </p:nvGrpSpPr>
        <p:grpSpPr>
          <a:xfrm>
            <a:off x="4947100" y="1649975"/>
            <a:ext cx="3979504" cy="2827800"/>
            <a:chOff x="5301425" y="1769800"/>
            <a:chExt cx="3979504" cy="2827800"/>
          </a:xfrm>
        </p:grpSpPr>
        <p:sp>
          <p:nvSpPr>
            <p:cNvPr id="404" name="Google Shape;404;p57"/>
            <p:cNvSpPr/>
            <p:nvPr/>
          </p:nvSpPr>
          <p:spPr>
            <a:xfrm>
              <a:off x="5301425" y="1769800"/>
              <a:ext cx="1376700" cy="4572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Client</a:t>
              </a:r>
              <a:endPara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5" name="Google Shape;405;p57"/>
            <p:cNvSpPr/>
            <p:nvPr/>
          </p:nvSpPr>
          <p:spPr>
            <a:xfrm>
              <a:off x="7789025" y="1771725"/>
              <a:ext cx="1376700" cy="4572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Server</a:t>
              </a:r>
              <a:endPara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406" name="Google Shape;406;p57"/>
            <p:cNvCxnSpPr/>
            <p:nvPr/>
          </p:nvCxnSpPr>
          <p:spPr>
            <a:xfrm>
              <a:off x="5989775" y="2227000"/>
              <a:ext cx="0" cy="2370600"/>
            </a:xfrm>
            <a:prstGeom prst="straightConnector1">
              <a:avLst/>
            </a:prstGeom>
            <a:noFill/>
            <a:ln cap="flat" cmpd="sng" w="19050">
              <a:solidFill>
                <a:srgbClr val="B4A7D6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57"/>
            <p:cNvCxnSpPr/>
            <p:nvPr/>
          </p:nvCxnSpPr>
          <p:spPr>
            <a:xfrm>
              <a:off x="8477375" y="2227000"/>
              <a:ext cx="0" cy="2370600"/>
            </a:xfrm>
            <a:prstGeom prst="straightConnector1">
              <a:avLst/>
            </a:prstGeom>
            <a:noFill/>
            <a:ln cap="flat" cmpd="sng" w="19050">
              <a:solidFill>
                <a:srgbClr val="D5A6BD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57"/>
            <p:cNvCxnSpPr/>
            <p:nvPr/>
          </p:nvCxnSpPr>
          <p:spPr>
            <a:xfrm>
              <a:off x="6000742" y="2667000"/>
              <a:ext cx="2466000" cy="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9" name="Google Shape;409;p57"/>
            <p:cNvCxnSpPr/>
            <p:nvPr/>
          </p:nvCxnSpPr>
          <p:spPr>
            <a:xfrm>
              <a:off x="5989767" y="3147475"/>
              <a:ext cx="2487600" cy="6300"/>
            </a:xfrm>
            <a:prstGeom prst="straightConnector1">
              <a:avLst/>
            </a:prstGeom>
            <a:noFill/>
            <a:ln cap="flat" cmpd="sng" w="19050">
              <a:solidFill>
                <a:srgbClr val="BF9000"/>
              </a:solidFill>
              <a:prstDash val="dash"/>
              <a:round/>
              <a:headEnd len="med" w="med" type="triangle"/>
              <a:tailEnd len="med" w="med" type="none"/>
            </a:ln>
          </p:spPr>
        </p:cxnSp>
        <p:cxnSp>
          <p:nvCxnSpPr>
            <p:cNvPr id="410" name="Google Shape;410;p57"/>
            <p:cNvCxnSpPr/>
            <p:nvPr/>
          </p:nvCxnSpPr>
          <p:spPr>
            <a:xfrm>
              <a:off x="5991929" y="3686550"/>
              <a:ext cx="2464200" cy="0"/>
            </a:xfrm>
            <a:prstGeom prst="straightConnector1">
              <a:avLst/>
            </a:pr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11" name="Google Shape;411;p57"/>
            <p:cNvCxnSpPr/>
            <p:nvPr/>
          </p:nvCxnSpPr>
          <p:spPr>
            <a:xfrm>
              <a:off x="6000742" y="4315175"/>
              <a:ext cx="2455200" cy="0"/>
            </a:xfrm>
            <a:prstGeom prst="straightConnector1">
              <a:avLst/>
            </a:prstGeom>
            <a:noFill/>
            <a:ln cap="flat" cmpd="sng" w="19050">
              <a:solidFill>
                <a:srgbClr val="38761D"/>
              </a:solidFill>
              <a:prstDash val="dash"/>
              <a:round/>
              <a:headEnd len="med" w="med" type="triangle"/>
              <a:tailEnd len="med" w="med" type="none"/>
            </a:ln>
          </p:spPr>
        </p:cxnSp>
        <p:sp>
          <p:nvSpPr>
            <p:cNvPr id="412" name="Google Shape;412;p57"/>
            <p:cNvSpPr txBox="1"/>
            <p:nvPr/>
          </p:nvSpPr>
          <p:spPr>
            <a:xfrm>
              <a:off x="6441613" y="2353800"/>
              <a:ext cx="1564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99999"/>
                  </a:solidFill>
                  <a:latin typeface="Open Sans"/>
                  <a:ea typeface="Open Sans"/>
                  <a:cs typeface="Open Sans"/>
                  <a:sym typeface="Open Sans"/>
                </a:rPr>
                <a:t>POST /api/ducks</a:t>
              </a:r>
              <a:endParaRPr b="1" sz="1100">
                <a:solidFill>
                  <a:srgbClr val="999999"/>
                </a:solidFill>
              </a:endParaRPr>
            </a:p>
          </p:txBody>
        </p:sp>
        <p:sp>
          <p:nvSpPr>
            <p:cNvPr id="413" name="Google Shape;413;p57"/>
            <p:cNvSpPr txBox="1"/>
            <p:nvPr/>
          </p:nvSpPr>
          <p:spPr>
            <a:xfrm>
              <a:off x="5849425" y="2832679"/>
              <a:ext cx="2749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BF9000"/>
                  </a:solidFill>
                  <a:latin typeface="Open Sans"/>
                  <a:ea typeface="Open Sans"/>
                  <a:cs typeface="Open Sans"/>
                  <a:sym typeface="Open Sans"/>
                </a:rPr>
                <a:t>401 WWW-Authenticate: Basic</a:t>
              </a:r>
              <a:endParaRPr b="1" sz="1100">
                <a:solidFill>
                  <a:srgbClr val="BF9000"/>
                </a:solidFill>
              </a:endParaRPr>
            </a:p>
          </p:txBody>
        </p:sp>
        <p:sp>
          <p:nvSpPr>
            <p:cNvPr id="414" name="Google Shape;414;p57"/>
            <p:cNvSpPr txBox="1"/>
            <p:nvPr/>
          </p:nvSpPr>
          <p:spPr>
            <a:xfrm>
              <a:off x="5731075" y="3229683"/>
              <a:ext cx="2985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99999"/>
                  </a:solidFill>
                  <a:latin typeface="Open Sans"/>
                  <a:ea typeface="Open Sans"/>
                  <a:cs typeface="Open Sans"/>
                  <a:sym typeface="Open Sans"/>
                </a:rPr>
                <a:t>+ Authorization: </a:t>
              </a:r>
              <a:endParaRPr b="1" sz="11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99999"/>
                  </a:solidFill>
                  <a:latin typeface="Open Sans"/>
                  <a:ea typeface="Open Sans"/>
                  <a:cs typeface="Open Sans"/>
                  <a:sym typeface="Open Sans"/>
                </a:rPr>
                <a:t>Basic base64(user:pass)</a:t>
              </a:r>
              <a:endParaRPr b="1" sz="11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5" name="Google Shape;415;p57"/>
            <p:cNvSpPr txBox="1"/>
            <p:nvPr/>
          </p:nvSpPr>
          <p:spPr>
            <a:xfrm>
              <a:off x="6131880" y="3998108"/>
              <a:ext cx="2184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761D"/>
                  </a:solidFill>
                  <a:latin typeface="Open Sans"/>
                  <a:ea typeface="Open Sans"/>
                  <a:cs typeface="Open Sans"/>
                  <a:sym typeface="Open Sans"/>
                </a:rPr>
                <a:t>200 OK   (or 401 if invalid)</a:t>
              </a:r>
              <a:endParaRPr b="1" sz="1100">
                <a:solidFill>
                  <a:srgbClr val="38761D"/>
                </a:solidFill>
              </a:endParaRPr>
            </a:p>
          </p:txBody>
        </p:sp>
        <p:sp>
          <p:nvSpPr>
            <p:cNvPr id="416" name="Google Shape;416;p57"/>
            <p:cNvSpPr txBox="1"/>
            <p:nvPr/>
          </p:nvSpPr>
          <p:spPr>
            <a:xfrm>
              <a:off x="7716129" y="3686550"/>
              <a:ext cx="1564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99999"/>
                  </a:solidFill>
                  <a:latin typeface="Open Sans"/>
                  <a:ea typeface="Open Sans"/>
                  <a:cs typeface="Open Sans"/>
                  <a:sym typeface="Open Sans"/>
                </a:rPr>
                <a:t>check credentials</a:t>
              </a:r>
              <a:endParaRPr b="1" i="1" sz="1100">
                <a:solidFill>
                  <a:srgbClr val="999999"/>
                </a:solidFill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8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Spring Security — users</a:t>
            </a:r>
            <a:endParaRPr baseline="30000"/>
          </a:p>
        </p:txBody>
      </p:sp>
      <p:sp>
        <p:nvSpPr>
          <p:cNvPr id="422" name="Google Shape;422;p58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Define users and </a:t>
            </a:r>
            <a:r>
              <a:rPr b="1" lang="en"/>
              <a:t>never store plaintext passwords</a:t>
            </a:r>
            <a:endParaRPr b="1"/>
          </a:p>
        </p:txBody>
      </p:sp>
      <p:sp>
        <p:nvSpPr>
          <p:cNvPr id="423" name="Google Shape;423;p58"/>
          <p:cNvSpPr txBox="1"/>
          <p:nvPr/>
        </p:nvSpPr>
        <p:spPr>
          <a:xfrm>
            <a:off x="259825" y="1398600"/>
            <a:ext cx="84402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@Bean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userDetailsService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encoder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PasswordEncoder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UserDetailsService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user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User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.withUsername(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"user"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).password(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encoder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.encode(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"user"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.roles(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"USER"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).build()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admin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User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.withUsername(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"admin"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).password(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encoder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.encode(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"admin"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.roles(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"ADMIN"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).build()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InMemoryUserDetailsManager(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user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admin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@Bean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passwordEncoder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PasswordEncoder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BCryptPasswordEncoder()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24" name="Google Shape;424;p58"/>
          <p:cNvSpPr txBox="1"/>
          <p:nvPr>
            <p:ph idx="1" type="body"/>
          </p:nvPr>
        </p:nvSpPr>
        <p:spPr>
          <a:xfrm>
            <a:off x="266667" y="4462983"/>
            <a:ext cx="87948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‼️</a:t>
            </a:r>
            <a:r>
              <a:rPr i="1" lang="en"/>
              <a:t> </a:t>
            </a:r>
            <a:r>
              <a:rPr i="1" lang="en"/>
              <a:t>In-memory for the course</a:t>
            </a:r>
            <a:r>
              <a:rPr lang="en"/>
              <a:t>: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user</a:t>
            </a:r>
            <a:r>
              <a:rPr lang="en"/>
              <a:t> (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USER</a:t>
            </a:r>
            <a:r>
              <a:rPr lang="en"/>
              <a:t>) and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admin</a:t>
            </a:r>
            <a:r>
              <a:rPr lang="en"/>
              <a:t> (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ADMIN</a:t>
            </a:r>
            <a:r>
              <a:rPr lang="en"/>
              <a:t>). Passwords are </a:t>
            </a:r>
            <a:r>
              <a:rPr b="1" lang="en"/>
              <a:t>BCrypt-hashed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In production this comes from a database or an identity provider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9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SecurityFilterChain</a:t>
            </a:r>
            <a:endParaRPr baseline="30000"/>
          </a:p>
        </p:txBody>
      </p:sp>
      <p:sp>
        <p:nvSpPr>
          <p:cNvPr id="430" name="Google Shape;430;p59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One place declares who can hit what</a:t>
            </a:r>
            <a:endParaRPr b="1"/>
          </a:p>
        </p:txBody>
      </p:sp>
      <p:sp>
        <p:nvSpPr>
          <p:cNvPr id="431" name="Google Shape;431;p59"/>
          <p:cNvSpPr txBox="1"/>
          <p:nvPr/>
        </p:nvSpPr>
        <p:spPr>
          <a:xfrm>
            <a:off x="184092" y="1271308"/>
            <a:ext cx="8634000" cy="3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@Bean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securityFilterChain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http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HttpSecurity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SecurityFilterChain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http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.cors(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Customizer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.withDefaults()).csrf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 it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.disable()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 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.headers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 it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.frameOptions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frame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-&gt;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frame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.disable()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 }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.authorizeHttpRequests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it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.requestMatchers(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HttpMethod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"/api/ducks"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).hasRole(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"ADMIN"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  .requestMatchers(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HttpMethod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POST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"/api/ducks"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).authenticated()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 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/* … other paths … */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  .anyRequest().permitAll()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.httpBasic(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Customizer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.withDefaults())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http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.build()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32" name="Google Shape;432;p59"/>
          <p:cNvSpPr txBox="1"/>
          <p:nvPr>
            <p:ph idx="1" type="body"/>
          </p:nvPr>
        </p:nvSpPr>
        <p:spPr>
          <a:xfrm>
            <a:off x="266667" y="4685233"/>
            <a:ext cx="87948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‼️</a:t>
            </a:r>
            <a:r>
              <a:rPr lang="en"/>
              <a:t>The chain intercepts every request; matchers map method+path → rule.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0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Authorization — roles</a:t>
            </a:r>
            <a:endParaRPr baseline="30000"/>
          </a:p>
        </p:txBody>
      </p:sp>
      <p:sp>
        <p:nvSpPr>
          <p:cNvPr id="438" name="Google Shape;438;p60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Authentication asks </a:t>
            </a:r>
            <a:r>
              <a:rPr b="1" i="1" lang="en"/>
              <a:t>who</a:t>
            </a:r>
            <a:r>
              <a:rPr lang="en"/>
              <a:t>; authorization asks </a:t>
            </a:r>
            <a:r>
              <a:rPr b="1" i="1" lang="en"/>
              <a:t>what</a:t>
            </a:r>
            <a:r>
              <a:rPr lang="en"/>
              <a:t> are you allowed to do</a:t>
            </a:r>
            <a:endParaRPr b="1"/>
          </a:p>
        </p:txBody>
      </p:sp>
      <p:sp>
        <p:nvSpPr>
          <p:cNvPr id="439" name="Google Shape;439;p60"/>
          <p:cNvSpPr txBox="1"/>
          <p:nvPr>
            <p:ph idx="1" type="body"/>
          </p:nvPr>
        </p:nvSpPr>
        <p:spPr>
          <a:xfrm>
            <a:off x="347475" y="1517300"/>
            <a:ext cx="8109600" cy="28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GET  permitAll</a:t>
            </a:r>
            <a:r>
              <a:rPr b="1" lang="en"/>
              <a:t> 						</a:t>
            </a:r>
            <a:r>
              <a:rPr lang="en"/>
              <a:t>Read the shop</a:t>
            </a:r>
            <a:endParaRPr/>
          </a:p>
          <a:p>
            <a:pPr indent="45720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anyone — no login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POST/PATCH/DELETE  authenticated		</a:t>
            </a:r>
            <a:r>
              <a:rPr lang="en"/>
              <a:t>Add / remove / reorder ducks</a:t>
            </a:r>
            <a:endParaRPr/>
          </a:p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any logged-in user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PUT  hasRole("ADMIN")				</a:t>
            </a:r>
            <a:r>
              <a:rPr lang="en"/>
              <a:t>Regenerate the whole shop</a:t>
            </a:r>
            <a:endParaRPr/>
          </a:p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admin only</a:t>
            </a:r>
            <a:endParaRPr baseline="30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0000"/>
                </a:solidFill>
              </a:rPr>
              <a:t>401 Unauthorized</a:t>
            </a:r>
            <a:r>
              <a:rPr b="1" lang="en">
                <a:solidFill>
                  <a:srgbClr val="990000"/>
                </a:solidFill>
              </a:rPr>
              <a:t> </a:t>
            </a:r>
            <a:r>
              <a:rPr b="1" lang="en"/>
              <a:t>					</a:t>
            </a:r>
            <a:r>
              <a:rPr lang="en"/>
              <a:t>"who are you?" (missing/bad credentials)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0000"/>
                </a:solidFill>
              </a:rPr>
              <a:t>403 Forbidden</a:t>
            </a:r>
            <a:r>
              <a:rPr b="1" lang="en"/>
              <a:t> 						</a:t>
            </a:r>
            <a:r>
              <a:rPr lang="en"/>
              <a:t>"known, but not allowed"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1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Authorization — roles</a:t>
            </a:r>
            <a:endParaRPr baseline="30000"/>
          </a:p>
        </p:txBody>
      </p:sp>
      <p:sp>
        <p:nvSpPr>
          <p:cNvPr id="445" name="Google Shape;445;p61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Authentication asks </a:t>
            </a:r>
            <a:r>
              <a:rPr b="1" i="1" lang="en"/>
              <a:t>who</a:t>
            </a:r>
            <a:r>
              <a:rPr lang="en"/>
              <a:t>; authorization asks </a:t>
            </a:r>
            <a:r>
              <a:rPr b="1" i="1" lang="en"/>
              <a:t>what</a:t>
            </a:r>
            <a:r>
              <a:rPr lang="en"/>
              <a:t> are you allowed to do</a:t>
            </a:r>
            <a:endParaRPr b="1"/>
          </a:p>
        </p:txBody>
      </p:sp>
      <p:sp>
        <p:nvSpPr>
          <p:cNvPr id="446" name="Google Shape;446;p61"/>
          <p:cNvSpPr txBox="1"/>
          <p:nvPr/>
        </p:nvSpPr>
        <p:spPr>
          <a:xfrm>
            <a:off x="182017" y="2150513"/>
            <a:ext cx="9338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-u user:user  -X POST  http://localhost:8080/api/ducks </a:t>
            </a:r>
            <a:r>
              <a:rPr lang="en">
                <a:solidFill>
                  <a:srgbClr val="38761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</a:t>
            </a:r>
            <a:r>
              <a:rPr lang="en">
                <a:solidFill>
                  <a:srgbClr val="38761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200</a:t>
            </a:r>
            <a:endParaRPr>
              <a:solidFill>
                <a:srgbClr val="38761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-u user:user  -X PUT  “http://localhost:8080/api/ducks?mode=List” 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5943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403  (not ADMIN)</a:t>
            </a:r>
            <a:endParaRPr>
              <a:solidFill>
                <a:srgbClr val="99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-X POST  http://localhost:8080/api/ducks </a:t>
            </a:r>
            <a:r>
              <a:rPr lang="en">
                <a:solidFill>
                  <a:srgbClr val="99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401 (no credentials)</a:t>
            </a:r>
            <a:endParaRPr>
              <a:solidFill>
                <a:srgbClr val="99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47" name="Google Shape;447;p61"/>
          <p:cNvSpPr txBox="1"/>
          <p:nvPr>
            <p:ph idx="1" type="body"/>
          </p:nvPr>
        </p:nvSpPr>
        <p:spPr>
          <a:xfrm>
            <a:off x="266675" y="4538678"/>
            <a:ext cx="879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‼️</a:t>
            </a:r>
            <a:r>
              <a:rPr lang="en"/>
              <a:t>The UI works (frontend sends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admin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2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CORS</a:t>
            </a:r>
            <a:endParaRPr baseline="30000"/>
          </a:p>
        </p:txBody>
      </p:sp>
      <p:sp>
        <p:nvSpPr>
          <p:cNvPr id="453" name="Google Shape;453;p62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browser blocks cross-origin calls — the server has to opt in</a:t>
            </a:r>
            <a:endParaRPr b="1"/>
          </a:p>
        </p:txBody>
      </p:sp>
      <p:sp>
        <p:nvSpPr>
          <p:cNvPr id="454" name="Google Shape;454;p62"/>
          <p:cNvSpPr txBox="1"/>
          <p:nvPr/>
        </p:nvSpPr>
        <p:spPr>
          <a:xfrm>
            <a:off x="292600" y="1482800"/>
            <a:ext cx="88371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@Bean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corsConfigurationSource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CorsConfigurationSource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config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CorsConfiguration().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apply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allowedOrigins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listOf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"http://localhost:3000"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the dev frontend (npm start)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allowedMethods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listOf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"GET"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"POST"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"PUT"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"PATCH"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"DELETE"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"OPTIONS"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allowedHeaders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listOf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"*"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allowCredentials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sz="1300">
              <a:solidFill>
                <a:srgbClr val="0033B3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UrlBasedCorsConfigurationSource()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apply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registerCorsConfiguration(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"/**"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config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55" name="Google Shape;455;p62"/>
          <p:cNvSpPr txBox="1"/>
          <p:nvPr>
            <p:ph idx="1" type="body"/>
          </p:nvPr>
        </p:nvSpPr>
        <p:spPr>
          <a:xfrm>
            <a:off x="266675" y="4423698"/>
            <a:ext cx="87948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‼️</a:t>
            </a:r>
            <a:r>
              <a:rPr lang="en"/>
              <a:t>Only matters in </a:t>
            </a:r>
            <a:r>
              <a:rPr b="1" lang="en"/>
              <a:t>dev</a:t>
            </a:r>
            <a:r>
              <a:rPr lang="en"/>
              <a:t> (frontend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:3000</a:t>
            </a:r>
            <a:r>
              <a:rPr lang="en"/>
              <a:t> → API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:8080</a:t>
            </a:r>
            <a:r>
              <a:rPr lang="en"/>
              <a:t>); in prod the jar serves the UI same-origin, so no CORS.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PUT/PATCH/DELETE</a:t>
            </a:r>
            <a:r>
              <a:rPr lang="en"/>
              <a:t> trigger a preflight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OPTIONS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3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Why tests — the pyramid</a:t>
            </a:r>
            <a:endParaRPr baseline="30000"/>
          </a:p>
        </p:txBody>
      </p:sp>
      <p:sp>
        <p:nvSpPr>
          <p:cNvPr id="461" name="Google Shape;461;p63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have a secured, DB-backed API — how do we keep it working as we change it?</a:t>
            </a:r>
            <a:endParaRPr b="1"/>
          </a:p>
        </p:txBody>
      </p:sp>
      <p:sp>
        <p:nvSpPr>
          <p:cNvPr id="462" name="Google Shape;462;p63"/>
          <p:cNvSpPr txBox="1"/>
          <p:nvPr>
            <p:ph idx="1" type="body"/>
          </p:nvPr>
        </p:nvSpPr>
        <p:spPr>
          <a:xfrm>
            <a:off x="233025" y="1574300"/>
            <a:ext cx="5183700" cy="30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lang="en"/>
              <a:t>Catch regressions before users do</a:t>
            </a:r>
            <a:endParaRPr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lang="en"/>
              <a:t>Document expected behavior</a:t>
            </a:r>
            <a:endParaRPr i="1"/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Char char="●"/>
            </a:pPr>
            <a:r>
              <a:rPr lang="en"/>
              <a:t>Make refactoring safe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3"/>
          <p:cNvSpPr txBox="1"/>
          <p:nvPr>
            <p:ph idx="1" type="body"/>
          </p:nvPr>
        </p:nvSpPr>
        <p:spPr>
          <a:xfrm>
            <a:off x="292600" y="3474800"/>
            <a:ext cx="4581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‼️</a:t>
            </a:r>
            <a:r>
              <a:rPr lang="en"/>
              <a:t>Spring Boot makes all three levels easy: plain JUnit; @SpringBootTest + MockMvc; Testcontainers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464" name="Google Shape;464;p63"/>
          <p:cNvGrpSpPr/>
          <p:nvPr/>
        </p:nvGrpSpPr>
        <p:grpSpPr>
          <a:xfrm>
            <a:off x="5352400" y="1652450"/>
            <a:ext cx="3444000" cy="2978400"/>
            <a:chOff x="5482600" y="1517300"/>
            <a:chExt cx="3444000" cy="2978400"/>
          </a:xfrm>
        </p:grpSpPr>
        <p:sp>
          <p:nvSpPr>
            <p:cNvPr id="465" name="Google Shape;465;p63"/>
            <p:cNvSpPr/>
            <p:nvPr/>
          </p:nvSpPr>
          <p:spPr>
            <a:xfrm>
              <a:off x="5482600" y="1517300"/>
              <a:ext cx="3444000" cy="2978400"/>
            </a:xfrm>
            <a:prstGeom prst="triangle">
              <a:avLst>
                <a:gd fmla="val 50000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6" name="Google Shape;466;p63"/>
            <p:cNvSpPr/>
            <p:nvPr/>
          </p:nvSpPr>
          <p:spPr>
            <a:xfrm>
              <a:off x="5482600" y="3474800"/>
              <a:ext cx="3444000" cy="1020900"/>
            </a:xfrm>
            <a:prstGeom prst="trapezoid">
              <a:avLst>
                <a:gd fmla="val 58216" name="adj"/>
              </a:avLst>
            </a:prstGeom>
            <a:noFill/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7" name="Google Shape;467;p63"/>
            <p:cNvSpPr/>
            <p:nvPr/>
          </p:nvSpPr>
          <p:spPr>
            <a:xfrm>
              <a:off x="6079946" y="2453900"/>
              <a:ext cx="2250000" cy="1020900"/>
            </a:xfrm>
            <a:prstGeom prst="trapezoid">
              <a:avLst>
                <a:gd fmla="val 57665" name="adj"/>
              </a:avLst>
            </a:prstGeom>
            <a:noFill/>
            <a:ln cap="flat" cmpd="sng" w="28575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68" name="Google Shape;468;p63"/>
            <p:cNvSpPr txBox="1"/>
            <p:nvPr/>
          </p:nvSpPr>
          <p:spPr>
            <a:xfrm>
              <a:off x="6029050" y="2053700"/>
              <a:ext cx="2351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accent3"/>
                  </a:solidFill>
                  <a:latin typeface="Open Sans"/>
                  <a:ea typeface="Open Sans"/>
                  <a:cs typeface="Open Sans"/>
                  <a:sym typeface="Open Sans"/>
                </a:rPr>
                <a:t>E2E</a:t>
              </a:r>
              <a:endParaRPr b="1">
                <a:solidFill>
                  <a:schemeClr val="accent3"/>
                </a:solidFill>
              </a:endParaRPr>
            </a:p>
          </p:txBody>
        </p:sp>
        <p:sp>
          <p:nvSpPr>
            <p:cNvPr id="469" name="Google Shape;469;p63"/>
            <p:cNvSpPr txBox="1"/>
            <p:nvPr/>
          </p:nvSpPr>
          <p:spPr>
            <a:xfrm>
              <a:off x="6029400" y="2863775"/>
              <a:ext cx="2351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9900FF"/>
                  </a:solidFill>
                  <a:latin typeface="Open Sans"/>
                  <a:ea typeface="Open Sans"/>
                  <a:cs typeface="Open Sans"/>
                  <a:sym typeface="Open Sans"/>
                </a:rPr>
                <a:t>Integration</a:t>
              </a:r>
              <a:endParaRPr b="1">
                <a:solidFill>
                  <a:srgbClr val="9900FF"/>
                </a:solidFill>
              </a:endParaRPr>
            </a:p>
          </p:txBody>
        </p:sp>
        <p:sp>
          <p:nvSpPr>
            <p:cNvPr id="470" name="Google Shape;470;p63"/>
            <p:cNvSpPr txBox="1"/>
            <p:nvPr/>
          </p:nvSpPr>
          <p:spPr>
            <a:xfrm>
              <a:off x="6029050" y="3814700"/>
              <a:ext cx="2351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00B050"/>
                  </a:solidFill>
                  <a:latin typeface="Open Sans"/>
                  <a:ea typeface="Open Sans"/>
                  <a:cs typeface="Open Sans"/>
                  <a:sym typeface="Open Sans"/>
                </a:rPr>
                <a:t>Unit</a:t>
              </a:r>
              <a:endParaRPr b="1">
                <a:solidFill>
                  <a:srgbClr val="00B050"/>
                </a:solidFill>
              </a:endParaRPr>
            </a:p>
          </p:txBody>
        </p:sp>
      </p:grpSp>
      <p:sp>
        <p:nvSpPr>
          <p:cNvPr id="471" name="Google Shape;471;p63"/>
          <p:cNvSpPr txBox="1"/>
          <p:nvPr/>
        </p:nvSpPr>
        <p:spPr>
          <a:xfrm>
            <a:off x="6481750" y="1333650"/>
            <a:ext cx="118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few &amp; slow</a:t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472" name="Google Shape;472;p63"/>
          <p:cNvSpPr txBox="1"/>
          <p:nvPr/>
        </p:nvSpPr>
        <p:spPr>
          <a:xfrm>
            <a:off x="6481750" y="4630851"/>
            <a:ext cx="118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many &amp; fast</a:t>
            </a:r>
            <a:endParaRPr i="1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4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Unit tests — pure logic</a:t>
            </a:r>
            <a:endParaRPr baseline="30000"/>
          </a:p>
        </p:txBody>
      </p:sp>
      <p:sp>
        <p:nvSpPr>
          <p:cNvPr id="478" name="Google Shape;478;p64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Spring context, no database — runs in milliseconds</a:t>
            </a:r>
            <a:endParaRPr b="1"/>
          </a:p>
        </p:txBody>
      </p:sp>
      <p:sp>
        <p:nvSpPr>
          <p:cNvPr id="479" name="Google Shape;479;p64"/>
          <p:cNvSpPr txBox="1"/>
          <p:nvPr/>
        </p:nvSpPr>
        <p:spPr>
          <a:xfrm>
            <a:off x="167426" y="1367750"/>
            <a:ext cx="96825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GameActionFunctionsServiceTest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private 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service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GameActionFunctionsService()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@Test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`sort puts kotlin ducks first thanks to the 100x coefficient`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=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with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service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plainExpensive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duck(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"Plain"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4A86E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kotlin =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110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score 110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kotlinCheap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duck(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"Kot"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4A86E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kotlin =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30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       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score 30 * 100 = 3000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sorted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listOf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plainExpensive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kotlinCheap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).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sortDucks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assertEquals(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listOf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"Kot"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"Plain"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),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sorted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map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 it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name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80" name="Google Shape;480;p64"/>
          <p:cNvSpPr txBox="1"/>
          <p:nvPr>
            <p:ph idx="1" type="body"/>
          </p:nvPr>
        </p:nvSpPr>
        <p:spPr>
          <a:xfrm>
            <a:off x="292600" y="4387875"/>
            <a:ext cx="863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‼️</a:t>
            </a:r>
            <a:r>
              <a:rPr lang="en"/>
              <a:t>The collection operations (sort/filter/partition/shuffle) are pure functions — the easiest, highest-value tests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5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Web integration — the setup</a:t>
            </a:r>
            <a:endParaRPr baseline="30000"/>
          </a:p>
        </p:txBody>
      </p:sp>
      <p:sp>
        <p:nvSpPr>
          <p:cNvPr id="486" name="Google Shape;486;p65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Load the real Spring context (including Security) and drive it without a network</a:t>
            </a:r>
            <a:endParaRPr b="1"/>
          </a:p>
        </p:txBody>
      </p:sp>
      <p:sp>
        <p:nvSpPr>
          <p:cNvPr id="487" name="Google Shape;487;p65"/>
          <p:cNvSpPr txBox="1"/>
          <p:nvPr/>
        </p:nvSpPr>
        <p:spPr>
          <a:xfrm>
            <a:off x="292600" y="1333650"/>
            <a:ext cx="8034000" cy="3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@SpringBootTest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@AutoConfigureMockMvc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@Transactional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DuckResourceTest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@Autowired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lateinit var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mockMvc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MockMvc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@Test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`reading the shop is public`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mockMvc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.perform(get(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"/api/ducks"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)).andExpect(status().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isOk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88" name="Google Shape;488;p65"/>
          <p:cNvSpPr txBox="1"/>
          <p:nvPr>
            <p:ph idx="1" type="body"/>
          </p:nvPr>
        </p:nvSpPr>
        <p:spPr>
          <a:xfrm>
            <a:off x="292600" y="4433400"/>
            <a:ext cx="863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@SpringBootTest</a:t>
            </a:r>
            <a:r>
              <a:rPr lang="en"/>
              <a:t> starts the full context;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MockMvc</a:t>
            </a:r>
            <a:r>
              <a:rPr lang="en"/>
              <a:t> drives requests without a real server;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@Transactional</a:t>
            </a:r>
            <a:r>
              <a:rPr lang="en"/>
              <a:t> rolls back each test — the seeded catalog stays, the shop changes don't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6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T</a:t>
            </a:r>
            <a:r>
              <a:rPr lang="en"/>
              <a:t>esting the security rules</a:t>
            </a:r>
            <a:endParaRPr baseline="30000"/>
          </a:p>
        </p:txBody>
      </p:sp>
      <p:sp>
        <p:nvSpPr>
          <p:cNvPr id="494" name="Google Shape;494;p66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spring-security-test</a:t>
            </a:r>
            <a:r>
              <a:rPr lang="en"/>
              <a:t> injects credentials; we assert the authorization outcomes</a:t>
            </a:r>
            <a:endParaRPr b="1"/>
          </a:p>
        </p:txBody>
      </p:sp>
      <p:sp>
        <p:nvSpPr>
          <p:cNvPr id="495" name="Google Shape;495;p66"/>
          <p:cNvSpPr txBox="1"/>
          <p:nvPr>
            <p:ph idx="1" type="body"/>
          </p:nvPr>
        </p:nvSpPr>
        <p:spPr>
          <a:xfrm>
            <a:off x="292600" y="4433400"/>
            <a:ext cx="863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‼️See more in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DuckResourceTest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96" name="Google Shape;496;p66"/>
          <p:cNvSpPr txBox="1"/>
          <p:nvPr/>
        </p:nvSpPr>
        <p:spPr>
          <a:xfrm>
            <a:off x="292600" y="1482800"/>
            <a:ext cx="90921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@Test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`mutating without credentials is 401`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mockMvc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.perform(post(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"/api/ducks"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)).andExpect(status().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isUnauthorized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@Test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`replacing the collection requires ADMIN`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mockMvc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.perform(put(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"/api/ducks"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).param(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"mode"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"List"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).with(httpBasic(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"user"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"user"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)))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.andExpect(status().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isForbidden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 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403: known, not allowed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7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Real database — the setup</a:t>
            </a:r>
            <a:endParaRPr baseline="30000"/>
          </a:p>
        </p:txBody>
      </p:sp>
      <p:sp>
        <p:nvSpPr>
          <p:cNvPr id="502" name="Google Shape;502;p67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MockMvc</a:t>
            </a:r>
            <a:r>
              <a:rPr lang="en"/>
              <a:t> ran on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H2</a:t>
            </a:r>
            <a:r>
              <a:rPr lang="en"/>
              <a:t>. Does it hold on a real PostgreSQL? Testcontainers starts one in Docker</a:t>
            </a:r>
            <a:endParaRPr b="1"/>
          </a:p>
        </p:txBody>
      </p:sp>
      <p:sp>
        <p:nvSpPr>
          <p:cNvPr id="503" name="Google Shape;503;p67"/>
          <p:cNvSpPr txBox="1"/>
          <p:nvPr>
            <p:ph idx="1" type="body"/>
          </p:nvPr>
        </p:nvSpPr>
        <p:spPr>
          <a:xfrm>
            <a:off x="292600" y="4507229"/>
            <a:ext cx="863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‼️Testcontainers boots a real PostgreSQL;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@ServiceConnection</a:t>
            </a:r>
            <a:r>
              <a:rPr lang="en"/>
              <a:t> auto-points Spring at it — no manual datasource config.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disabledWithoutDocker = true</a:t>
            </a:r>
            <a:r>
              <a:rPr lang="en"/>
              <a:t> skips the class cleanly when Docker isn't running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04" name="Google Shape;504;p67"/>
          <p:cNvSpPr txBox="1"/>
          <p:nvPr/>
        </p:nvSpPr>
        <p:spPr>
          <a:xfrm>
            <a:off x="280975" y="1341703"/>
            <a:ext cx="8397900" cy="3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@SpringBootTest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@Testcontainers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(disabledWithoutDocker =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DuckShopPersistenceTest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companion object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@Container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@ServiceConnection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@JvmStatic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postgres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PostgreSQLContainer(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"postgres:16-alpine"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@Autowired beans + tests …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8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Real database — the relationship</a:t>
            </a:r>
            <a:endParaRPr baseline="30000"/>
          </a:p>
        </p:txBody>
      </p:sp>
      <p:sp>
        <p:nvSpPr>
          <p:cNvPr id="510" name="Google Shape;510;p68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Verify the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Duck ↔ Accessory</a:t>
            </a:r>
            <a:r>
              <a:rPr lang="en"/>
              <a:t> relationship on the actual database.</a:t>
            </a:r>
            <a:endParaRPr b="1"/>
          </a:p>
        </p:txBody>
      </p:sp>
      <p:sp>
        <p:nvSpPr>
          <p:cNvPr id="511" name="Google Shape;511;p68"/>
          <p:cNvSpPr txBox="1"/>
          <p:nvPr/>
        </p:nvSpPr>
        <p:spPr>
          <a:xfrm>
            <a:off x="292600" y="1398588"/>
            <a:ext cx="83184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@Autowired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lateinit var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duckRepository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DuckRepository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@Test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`the duck-to-accessory relationship is persisted`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alex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duckRepository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.findAll().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first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 it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name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==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"Alex"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assertEquals(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setOf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"Monocle"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"Hat"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),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alex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accessories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map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 it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name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toSet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12" name="Google Shape;512;p68"/>
          <p:cNvSpPr txBox="1"/>
          <p:nvPr/>
        </p:nvSpPr>
        <p:spPr>
          <a:xfrm>
            <a:off x="394750" y="3776675"/>
            <a:ext cx="8429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./gradlew test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 tests (unit + web on H2); 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PG test runs if Docker is up (else skipped)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9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The backend runtime</a:t>
            </a:r>
            <a:endParaRPr baseline="30000"/>
          </a:p>
        </p:txBody>
      </p:sp>
      <p:grpSp>
        <p:nvGrpSpPr>
          <p:cNvPr id="518" name="Google Shape;518;p69"/>
          <p:cNvGrpSpPr/>
          <p:nvPr/>
        </p:nvGrpSpPr>
        <p:grpSpPr>
          <a:xfrm>
            <a:off x="291650" y="1048125"/>
            <a:ext cx="8560700" cy="1466425"/>
            <a:chOff x="292600" y="945725"/>
            <a:chExt cx="8560700" cy="1466425"/>
          </a:xfrm>
        </p:grpSpPr>
        <p:sp>
          <p:nvSpPr>
            <p:cNvPr id="519" name="Google Shape;519;p69"/>
            <p:cNvSpPr/>
            <p:nvPr/>
          </p:nvSpPr>
          <p:spPr>
            <a:xfrm>
              <a:off x="2388925" y="1526550"/>
              <a:ext cx="2091000" cy="6543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Embedded Tomcat</a:t>
              </a:r>
              <a:endParaRPr b="1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3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~200 worker threads</a:t>
              </a:r>
              <a:endParaRPr i="1" sz="13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0" name="Google Shape;520;p69"/>
            <p:cNvSpPr/>
            <p:nvPr/>
          </p:nvSpPr>
          <p:spPr>
            <a:xfrm>
              <a:off x="4664075" y="1526550"/>
              <a:ext cx="2091000" cy="6543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HikariCP pool</a:t>
              </a:r>
              <a:endParaRPr b="1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3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~10 connections</a:t>
              </a:r>
              <a:endParaRPr i="1" sz="13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1" name="Google Shape;521;p69"/>
            <p:cNvSpPr/>
            <p:nvPr/>
          </p:nvSpPr>
          <p:spPr>
            <a:xfrm>
              <a:off x="7208700" y="1526550"/>
              <a:ext cx="1644600" cy="6543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Database</a:t>
              </a:r>
              <a:endParaRPr i="1" sz="13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2" name="Google Shape;522;p69"/>
            <p:cNvSpPr/>
            <p:nvPr/>
          </p:nvSpPr>
          <p:spPr>
            <a:xfrm>
              <a:off x="292600" y="1526550"/>
              <a:ext cx="1644600" cy="6543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3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Request</a:t>
              </a:r>
              <a:endParaRPr i="1" sz="13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3" name="Google Shape;523;p69"/>
            <p:cNvSpPr txBox="1"/>
            <p:nvPr/>
          </p:nvSpPr>
          <p:spPr>
            <a:xfrm>
              <a:off x="2979925" y="945725"/>
              <a:ext cx="3000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300">
                  <a:solidFill>
                    <a:srgbClr val="666666"/>
                  </a:solidFill>
                  <a:latin typeface="Open Sans"/>
                  <a:ea typeface="Open Sans"/>
                  <a:cs typeface="Open Sans"/>
                  <a:sym typeface="Open Sans"/>
                </a:rPr>
                <a:t>one JVM process (fat-jar)</a:t>
              </a:r>
              <a:endParaRPr/>
            </a:p>
          </p:txBody>
        </p:sp>
        <p:cxnSp>
          <p:nvCxnSpPr>
            <p:cNvPr id="524" name="Google Shape;524;p69"/>
            <p:cNvCxnSpPr>
              <a:stCxn id="522" idx="3"/>
              <a:endCxn id="519" idx="1"/>
            </p:cNvCxnSpPr>
            <p:nvPr/>
          </p:nvCxnSpPr>
          <p:spPr>
            <a:xfrm>
              <a:off x="1937200" y="1853700"/>
              <a:ext cx="451800" cy="0"/>
            </a:xfrm>
            <a:prstGeom prst="straightConnector1">
              <a:avLst/>
            </a:prstGeom>
            <a:noFill/>
            <a:ln cap="flat" cmpd="sng" w="19050">
              <a:solidFill>
                <a:srgbClr val="99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25" name="Google Shape;525;p69"/>
            <p:cNvCxnSpPr>
              <a:stCxn id="519" idx="3"/>
              <a:endCxn id="520" idx="1"/>
            </p:cNvCxnSpPr>
            <p:nvPr/>
          </p:nvCxnSpPr>
          <p:spPr>
            <a:xfrm>
              <a:off x="4479925" y="1853700"/>
              <a:ext cx="184200" cy="0"/>
            </a:xfrm>
            <a:prstGeom prst="straightConnector1">
              <a:avLst/>
            </a:prstGeom>
            <a:noFill/>
            <a:ln cap="flat" cmpd="sng" w="19050">
              <a:solidFill>
                <a:srgbClr val="99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26" name="Google Shape;526;p69"/>
            <p:cNvCxnSpPr>
              <a:stCxn id="520" idx="3"/>
              <a:endCxn id="521" idx="1"/>
            </p:cNvCxnSpPr>
            <p:nvPr/>
          </p:nvCxnSpPr>
          <p:spPr>
            <a:xfrm>
              <a:off x="6755075" y="1853700"/>
              <a:ext cx="453600" cy="0"/>
            </a:xfrm>
            <a:prstGeom prst="straightConnector1">
              <a:avLst/>
            </a:prstGeom>
            <a:noFill/>
            <a:ln cap="flat" cmpd="sng" w="19050">
              <a:solidFill>
                <a:srgbClr val="9999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27" name="Google Shape;527;p69"/>
            <p:cNvSpPr/>
            <p:nvPr/>
          </p:nvSpPr>
          <p:spPr>
            <a:xfrm>
              <a:off x="2233861" y="1295250"/>
              <a:ext cx="4655400" cy="11169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999999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28" name="Google Shape;528;p69"/>
          <p:cNvSpPr txBox="1"/>
          <p:nvPr>
            <p:ph idx="1" type="body"/>
          </p:nvPr>
        </p:nvSpPr>
        <p:spPr>
          <a:xfrm>
            <a:off x="255000" y="2793879"/>
            <a:ext cx="863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‼️</a:t>
            </a:r>
            <a:r>
              <a:rPr b="1" lang="en"/>
              <a:t>Thread-per-request</a:t>
            </a:r>
            <a:r>
              <a:rPr lang="en"/>
              <a:t>: a request holds a Tomcat thread; if it waits on the DB and the pool is exhausted, requests queue. </a:t>
            </a:r>
            <a:r>
              <a:rPr i="1" lang="en"/>
              <a:t>The connection pool is usually the real bottleneck — not CPU</a:t>
            </a:r>
            <a:endParaRPr i="1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29" name="Google Shape;529;p69"/>
          <p:cNvSpPr txBox="1"/>
          <p:nvPr/>
        </p:nvSpPr>
        <p:spPr>
          <a:xfrm>
            <a:off x="357150" y="3803425"/>
            <a:ext cx="8429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localhost:8080/actuator/metrics/hikaricp.connections.active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localhost:8080/actuator/metrics/http.server.requests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localhost:8080/actuator/health	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{"status":"UP", db: UP} 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0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Performance — measure, then choose</a:t>
            </a:r>
            <a:endParaRPr baseline="30000"/>
          </a:p>
        </p:txBody>
      </p:sp>
      <p:sp>
        <p:nvSpPr>
          <p:cNvPr id="535" name="Google Shape;535;p70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Don't guess: </a:t>
            </a:r>
            <a:r>
              <a:rPr b="1" lang="en"/>
              <a:t>measure</a:t>
            </a:r>
            <a:r>
              <a:rPr lang="en"/>
              <a:t> with metrics, find the bottleneck, then pick the method</a:t>
            </a:r>
            <a:endParaRPr b="1"/>
          </a:p>
        </p:txBody>
      </p:sp>
      <p:sp>
        <p:nvSpPr>
          <p:cNvPr id="536" name="Google Shape;536;p70"/>
          <p:cNvSpPr txBox="1"/>
          <p:nvPr/>
        </p:nvSpPr>
        <p:spPr>
          <a:xfrm>
            <a:off x="222175" y="1653800"/>
            <a:ext cx="24885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Measure — metrics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/actuator/prometheus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exposes JVM, HTTP latency and HikariCP gauges for Grafana/alerts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7" name="Google Shape;537;p70"/>
          <p:cNvSpPr txBox="1"/>
          <p:nvPr/>
        </p:nvSpPr>
        <p:spPr>
          <a:xfrm>
            <a:off x="3038625" y="1653800"/>
            <a:ext cx="29259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Blocking vs coroutines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Spring MVC = thread-per-request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Kotlin coroutines / WebFlux are non-blocking — fewer threads, more throughput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8" name="Google Shape;538;p70"/>
          <p:cNvSpPr txBox="1"/>
          <p:nvPr/>
        </p:nvSpPr>
        <p:spPr>
          <a:xfrm>
            <a:off x="6292475" y="1654404"/>
            <a:ext cx="27249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GraalVM native</a:t>
            </a:r>
            <a:endParaRPr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./gradlew nativeCompile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→ ahead-of-time binary: startup in ms, low memory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9" name="Google Shape;539;p70"/>
          <p:cNvSpPr/>
          <p:nvPr/>
        </p:nvSpPr>
        <p:spPr>
          <a:xfrm>
            <a:off x="126628" y="1653800"/>
            <a:ext cx="2527200" cy="1391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0" name="Google Shape;540;p70"/>
          <p:cNvSpPr/>
          <p:nvPr/>
        </p:nvSpPr>
        <p:spPr>
          <a:xfrm>
            <a:off x="6187775" y="1653800"/>
            <a:ext cx="2777100" cy="1391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1" name="Google Shape;541;p70"/>
          <p:cNvSpPr/>
          <p:nvPr/>
        </p:nvSpPr>
        <p:spPr>
          <a:xfrm>
            <a:off x="2896125" y="1653800"/>
            <a:ext cx="3106200" cy="1391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2" name="Google Shape;542;p70"/>
          <p:cNvSpPr txBox="1"/>
          <p:nvPr/>
        </p:nvSpPr>
        <p:spPr>
          <a:xfrm>
            <a:off x="292600" y="3603325"/>
            <a:ext cx="8634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-s localhost:8080/actuator/prometheus | grep hikaricp 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hikaricp_connections{application="duck-shop-server",pool="HikariPool-1"} 10.0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1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The same shop, a lighter stack</a:t>
            </a:r>
            <a:endParaRPr baseline="30000"/>
          </a:p>
        </p:txBody>
      </p:sp>
      <p:sp>
        <p:nvSpPr>
          <p:cNvPr id="548" name="Google Shape;548;p71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built duckShop on Spring. Now the same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/api/ducks</a:t>
            </a:r>
            <a:r>
              <a:rPr lang="en"/>
              <a:t> — in Ktor</a:t>
            </a:r>
            <a:endParaRPr b="1"/>
          </a:p>
        </p:txBody>
      </p:sp>
      <p:sp>
        <p:nvSpPr>
          <p:cNvPr id="549" name="Google Shape;549;p71"/>
          <p:cNvSpPr txBox="1"/>
          <p:nvPr/>
        </p:nvSpPr>
        <p:spPr>
          <a:xfrm>
            <a:off x="192887" y="1802600"/>
            <a:ext cx="43521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Spring Boot</a:t>
            </a:r>
            <a:endParaRPr i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DI container: behaviour comes from annotations + auto-configuration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Web, Data JPA, Security, Actuator out of the box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 configure what changes; the framework supplies sensible defaults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71"/>
          <p:cNvSpPr txBox="1"/>
          <p:nvPr/>
        </p:nvSpPr>
        <p:spPr>
          <a:xfrm>
            <a:off x="4720612" y="1802600"/>
            <a:ext cx="43521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Ktor</a:t>
            </a:r>
            <a:endParaRPr i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 container — you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install()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exactly the features you need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Routing, serialization, auth are plain Kotlin, written in code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Lightweight, async by design; fast startup, small footprint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1" name="Google Shape;551;p71"/>
          <p:cNvSpPr/>
          <p:nvPr/>
        </p:nvSpPr>
        <p:spPr>
          <a:xfrm>
            <a:off x="146494" y="1802600"/>
            <a:ext cx="4352100" cy="1887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2" name="Google Shape;552;p71"/>
          <p:cNvSpPr/>
          <p:nvPr/>
        </p:nvSpPr>
        <p:spPr>
          <a:xfrm>
            <a:off x="4675076" y="1802600"/>
            <a:ext cx="4352100" cy="1887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3" name="Google Shape;553;p71"/>
          <p:cNvSpPr txBox="1"/>
          <p:nvPr>
            <p:ph idx="1" type="body"/>
          </p:nvPr>
        </p:nvSpPr>
        <p:spPr>
          <a:xfrm>
            <a:off x="227500" y="4251329"/>
            <a:ext cx="863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‼️</a:t>
            </a:r>
            <a:r>
              <a:rPr b="1" lang="en"/>
              <a:t>Scope</a:t>
            </a:r>
            <a:r>
              <a:rPr lang="en"/>
              <a:t>: We port a subset of the API — GET, PUT, POST on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/api/ducks</a:t>
            </a:r>
            <a:r>
              <a:rPr lang="en"/>
              <a:t>. It runs on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 :8081</a:t>
            </a:r>
            <a:r>
              <a:rPr lang="en"/>
              <a:t>, right next to the Spring app on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:8080</a:t>
            </a:r>
            <a:endParaRPr i="1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2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Setting up Ktor</a:t>
            </a:r>
            <a:endParaRPr baseline="30000"/>
          </a:p>
        </p:txBody>
      </p:sp>
      <p:sp>
        <p:nvSpPr>
          <p:cNvPr id="559" name="Google Shape;559;p72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Dependencies you pick, plugins you install — nothing is implicit</a:t>
            </a:r>
            <a:endParaRPr b="1"/>
          </a:p>
        </p:txBody>
      </p:sp>
      <p:sp>
        <p:nvSpPr>
          <p:cNvPr id="560" name="Google Shape;560;p72"/>
          <p:cNvSpPr txBox="1"/>
          <p:nvPr/>
        </p:nvSpPr>
        <p:spPr>
          <a:xfrm>
            <a:off x="203408" y="1277477"/>
            <a:ext cx="9217200" cy="3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800000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plugins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kotlin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"jvm"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version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"2.0.21"</a:t>
            </a:r>
            <a:endParaRPr sz="1300">
              <a:solidFill>
                <a:srgbClr val="067D17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kotlin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"plugin.serialization"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version 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"2.0.21"</a:t>
            </a:r>
            <a:endParaRPr sz="1300">
              <a:solidFill>
                <a:srgbClr val="067D17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application</a:t>
            </a:r>
            <a:endParaRPr i="1" sz="1300">
              <a:solidFill>
                <a:srgbClr val="871094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dependencies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implementation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"io.ktor:ktor-server-core:</a:t>
            </a:r>
            <a:r>
              <a:rPr lang="en" sz="1300">
                <a:solidFill>
                  <a:srgbClr val="0037A6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ktorVersion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implementation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"io.ktor:ktor-server-netty:</a:t>
            </a:r>
            <a:r>
              <a:rPr lang="en" sz="1300">
                <a:solidFill>
                  <a:srgbClr val="0037A6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ktorVersion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implementation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"io.ktor:ktor-server-content-negotiation:</a:t>
            </a:r>
            <a:r>
              <a:rPr lang="en" sz="1300">
                <a:solidFill>
                  <a:srgbClr val="0037A6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ktorVersion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implementation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"io.ktor:ktor-serialization-kotlinx-json:</a:t>
            </a:r>
            <a:r>
              <a:rPr lang="en" sz="1300">
                <a:solidFill>
                  <a:srgbClr val="0037A6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ktorVersion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implementation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"io.ktor:ktor-server-auth:</a:t>
            </a:r>
            <a:r>
              <a:rPr lang="en" sz="1300">
                <a:solidFill>
                  <a:srgbClr val="0037A6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ktorVersion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implementation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"org.jetbrains.exposed:exposed-core:</a:t>
            </a:r>
            <a:r>
              <a:rPr lang="en" sz="1300">
                <a:solidFill>
                  <a:srgbClr val="0037A6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exposedVersion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implementation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"org.jetbrains.exposed:exposed-jdbc:</a:t>
            </a:r>
            <a:r>
              <a:rPr lang="en" sz="1300">
                <a:solidFill>
                  <a:srgbClr val="0037A6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exposedVersion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implementation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"com.h2database:h2:2.3.232"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3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Setting up Ktor</a:t>
            </a:r>
            <a:endParaRPr baseline="30000"/>
          </a:p>
        </p:txBody>
      </p:sp>
      <p:sp>
        <p:nvSpPr>
          <p:cNvPr id="566" name="Google Shape;566;p73"/>
          <p:cNvSpPr txBox="1"/>
          <p:nvPr/>
        </p:nvSpPr>
        <p:spPr>
          <a:xfrm>
            <a:off x="292600" y="1012775"/>
            <a:ext cx="64440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embeddedServer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Netty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4A86E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port = </a:t>
            </a:r>
            <a:r>
              <a:rPr lang="en" sz="130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8081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module()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.start(</a:t>
            </a:r>
            <a:r>
              <a:rPr lang="en" sz="1300">
                <a:solidFill>
                  <a:srgbClr val="4A86E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wait =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Application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module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initDatabase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         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Exposed + H2 file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configureSerialization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JSON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configureSecurity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    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Basic auth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configureStatusPages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 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uniform errors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configureRouting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(DuckShopService())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67" name="Google Shape;567;p73"/>
          <p:cNvSpPr txBox="1"/>
          <p:nvPr/>
        </p:nvSpPr>
        <p:spPr>
          <a:xfrm>
            <a:off x="255000" y="4100700"/>
            <a:ext cx="86340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./gradlew run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INFO  io.ktor.server.Application - Application started in 0.29 seconds.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INFO  io.ktor.server.Application - </a:t>
            </a:r>
            <a:r>
              <a:rPr lang="en">
                <a:solidFill>
                  <a:srgbClr val="38761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Responding at http://0.0.0.0:8081</a:t>
            </a:r>
            <a:r>
              <a:rPr lang="en">
                <a:solidFill>
                  <a:srgbClr val="38761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>
              <a:solidFill>
                <a:srgbClr val="38761D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4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Routing — annotations vs DSL</a:t>
            </a:r>
            <a:endParaRPr baseline="30000"/>
          </a:p>
        </p:txBody>
      </p:sp>
      <p:sp>
        <p:nvSpPr>
          <p:cNvPr id="573" name="Google Shape;573;p74"/>
          <p:cNvSpPr txBox="1"/>
          <p:nvPr/>
        </p:nvSpPr>
        <p:spPr>
          <a:xfrm>
            <a:off x="292600" y="998581"/>
            <a:ext cx="8227200" cy="3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Alternative for DuckResource from Spring implementation </a:t>
            </a:r>
            <a:endParaRPr sz="1300">
              <a:solidFill>
                <a:srgbClr val="0033B3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fun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Application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configureRouting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service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DuckShopService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{ 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routing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route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"/api/ducks"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get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  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call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.respond(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service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.all())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authenticate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"auth-basic"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post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      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call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.respond(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HttpStatusCode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Created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service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.addRandomDuck())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  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74" name="Google Shape;574;p74"/>
          <p:cNvSpPr txBox="1"/>
          <p:nvPr>
            <p:ph idx="1" type="body"/>
          </p:nvPr>
        </p:nvSpPr>
        <p:spPr>
          <a:xfrm>
            <a:off x="1911050" y="4376500"/>
            <a:ext cx="863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‼️</a:t>
            </a:r>
            <a:r>
              <a:rPr lang="en"/>
              <a:t>Spring discovers handlers from annotations via component scan;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Ktor builds an explicit routing tree in code</a:t>
            </a:r>
            <a:endParaRPr i="1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5"/>
          <p:cNvSpPr txBox="1"/>
          <p:nvPr>
            <p:ph type="title"/>
          </p:nvPr>
        </p:nvSpPr>
        <p:spPr>
          <a:xfrm>
            <a:off x="292608" y="292608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Serialization — Jackson vs kotlinx</a:t>
            </a:r>
            <a:endParaRPr baseline="30000"/>
          </a:p>
        </p:txBody>
      </p:sp>
      <p:sp>
        <p:nvSpPr>
          <p:cNvPr id="580" name="Google Shape;580;p75"/>
          <p:cNvSpPr txBox="1"/>
          <p:nvPr>
            <p:ph idx="1" type="body"/>
          </p:nvPr>
        </p:nvSpPr>
        <p:spPr>
          <a:xfrm>
            <a:off x="292600" y="4101600"/>
            <a:ext cx="93387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‼️J</a:t>
            </a:r>
            <a:r>
              <a:rPr lang="en"/>
              <a:t>ackson works by runtime reflection — no annotations needed;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kotlinx.serialization</a:t>
            </a:r>
            <a:r>
              <a:rPr lang="en"/>
              <a:t> generates a compile-time serializer from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@Serializable</a:t>
            </a:r>
            <a:endParaRPr i="1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81" name="Google Shape;581;p75"/>
          <p:cNvSpPr txBox="1"/>
          <p:nvPr/>
        </p:nvSpPr>
        <p:spPr>
          <a:xfrm>
            <a:off x="4620854" y="1476571"/>
            <a:ext cx="43098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install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ContentNegotiation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json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6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compile-time serializer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E880D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@Serializable </a:t>
            </a:r>
            <a:endParaRPr sz="1300">
              <a:solidFill>
                <a:srgbClr val="9E880D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data class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JsDuck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 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name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description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?, 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hasKotlinAttribute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Boolean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82" name="Google Shape;582;p75"/>
          <p:cNvSpPr txBox="1"/>
          <p:nvPr/>
        </p:nvSpPr>
        <p:spPr>
          <a:xfrm>
            <a:off x="158325" y="1472975"/>
            <a:ext cx="45741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implementation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"...jackson-module-kotlin"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600">
              <a:solidFill>
                <a:srgbClr val="0033B3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33B3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a plain data class —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Jackson maps it by reflection</a:t>
            </a:r>
            <a:endParaRPr i="1" sz="1300">
              <a:solidFill>
                <a:srgbClr val="8C8C8C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data class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JsDuck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name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description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?,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hasKotlinAttribute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Boolean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83" name="Google Shape;583;p75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same 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JsDuck</a:t>
            </a:r>
            <a:r>
              <a:rPr lang="en"/>
              <a:t> DTO, two JSON engines</a:t>
            </a:r>
            <a:endParaRPr b="1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6"/>
          <p:cNvSpPr txBox="1"/>
          <p:nvPr>
            <p:ph type="title"/>
          </p:nvPr>
        </p:nvSpPr>
        <p:spPr>
          <a:xfrm>
            <a:off x="292600" y="292600"/>
            <a:ext cx="891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Persistence — Spring Data JPA vs Exposed</a:t>
            </a:r>
            <a:endParaRPr baseline="30000"/>
          </a:p>
        </p:txBody>
      </p:sp>
      <p:sp>
        <p:nvSpPr>
          <p:cNvPr id="589" name="Google Shape;589;p76"/>
          <p:cNvSpPr txBox="1"/>
          <p:nvPr>
            <p:ph idx="1" type="body"/>
          </p:nvPr>
        </p:nvSpPr>
        <p:spPr>
          <a:xfrm>
            <a:off x="292600" y="4399249"/>
            <a:ext cx="93387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‼️</a:t>
            </a:r>
            <a:r>
              <a:rPr lang="en"/>
              <a:t>JPA hides SQL behind entities &amp; derived-query repositories;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Exposed is a thin, typed DSL where you see the query</a:t>
            </a:r>
            <a:endParaRPr i="1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90" name="Google Shape;590;p76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Both on file-based H2 (the shop survives restarts) — different styles</a:t>
            </a:r>
            <a:endParaRPr b="1"/>
          </a:p>
        </p:txBody>
      </p:sp>
      <p:sp>
        <p:nvSpPr>
          <p:cNvPr id="591" name="Google Shape;591;p76"/>
          <p:cNvSpPr txBox="1"/>
          <p:nvPr/>
        </p:nvSpPr>
        <p:spPr>
          <a:xfrm>
            <a:off x="292600" y="1333650"/>
            <a:ext cx="87768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Spring: @Entity Duck — here the table IS the entity AND the repository</a:t>
            </a:r>
            <a:endParaRPr sz="1300">
              <a:solidFill>
                <a:srgbClr val="0033B3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object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DucksTable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Table(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"ducks"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id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long(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"id"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).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autoIncrement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Spring: @Id @GeneratedValue(IDENTITY)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name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varchar(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"name"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1750EB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hasKotlinAttribute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bool(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"has_kotlin_attribute"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).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default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override val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primaryKey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PrimaryKey(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id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Spring: @Id (declares the PK)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transaction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	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Spring: @Transactional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DucksTable.selectAll().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map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{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it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toDuck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 }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Spring: DuckRepository.findAll()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7"/>
          <p:cNvSpPr txBox="1"/>
          <p:nvPr>
            <p:ph type="title"/>
          </p:nvPr>
        </p:nvSpPr>
        <p:spPr>
          <a:xfrm>
            <a:off x="292600" y="292600"/>
            <a:ext cx="891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Security — filter chain vs install + check</a:t>
            </a:r>
            <a:endParaRPr baseline="30000"/>
          </a:p>
        </p:txBody>
      </p:sp>
      <p:sp>
        <p:nvSpPr>
          <p:cNvPr id="597" name="Google Shape;597;p77"/>
          <p:cNvSpPr txBox="1"/>
          <p:nvPr>
            <p:ph idx="1" type="body"/>
          </p:nvPr>
        </p:nvSpPr>
        <p:spPr>
          <a:xfrm>
            <a:off x="292600" y="4399249"/>
            <a:ext cx="93387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‼️</a:t>
            </a:r>
            <a:r>
              <a:rPr lang="en"/>
              <a:t>Spring ships rich declarative authorization (</a:t>
            </a:r>
            <a:r>
              <a:rPr lang="en">
                <a:latin typeface="JetBrains Mono"/>
                <a:ea typeface="JetBrains Mono"/>
                <a:cs typeface="JetBrains Mono"/>
                <a:sym typeface="JetBrains Mono"/>
              </a:rPr>
              <a:t>hasRole</a:t>
            </a:r>
            <a:r>
              <a:rPr lang="en"/>
              <a:t>, method security);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Ktor authenticates and leaves authorization to you — explicit and visible</a:t>
            </a:r>
            <a:endParaRPr i="1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98" name="Google Shape;598;p77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Same HTTP Basic, same users — different authorization story</a:t>
            </a:r>
            <a:endParaRPr b="1"/>
          </a:p>
        </p:txBody>
      </p:sp>
      <p:sp>
        <p:nvSpPr>
          <p:cNvPr id="599" name="Google Shape;599;p77"/>
          <p:cNvSpPr txBox="1"/>
          <p:nvPr/>
        </p:nvSpPr>
        <p:spPr>
          <a:xfrm>
            <a:off x="255000" y="1299512"/>
            <a:ext cx="8634000" cy="3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install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Authentication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Spring: SecurityFilterChain @Bean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basic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"auth-basic"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r>
              <a:rPr lang="en" sz="1300">
                <a:solidFill>
                  <a:srgbClr val="067D17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Spring: .httpBasic()</a:t>
            </a:r>
            <a:endParaRPr sz="1300">
              <a:solidFill>
                <a:srgbClr val="067D17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validate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-&gt;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UserPrincipal(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name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role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Spring: UserDetailsService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put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{ </a:t>
            </a: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// Spring: .requestMatchers(PUT,"/api/ducks").hasRole("ADMIN") — declarative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8C8C8C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val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principal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call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1300">
                <a:solidFill>
                  <a:srgbClr val="00627A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principal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UserPrincipal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&gt;()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if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principal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?.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role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!= 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Role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i="1"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ADMIN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call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.respond(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HttpStatusCode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" sz="1300">
                <a:solidFill>
                  <a:srgbClr val="871094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Forbidden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ApiError(...))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lang="en" sz="1300">
                <a:solidFill>
                  <a:srgbClr val="0033B3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lang="en" sz="1300">
                <a:solidFill>
                  <a:srgbClr val="4A86E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@put</a:t>
            </a:r>
            <a:endParaRPr sz="1300">
              <a:solidFill>
                <a:srgbClr val="4A86E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A86E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3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8"/>
          <p:cNvSpPr txBox="1"/>
          <p:nvPr>
            <p:ph type="title"/>
          </p:nvPr>
        </p:nvSpPr>
        <p:spPr>
          <a:xfrm>
            <a:off x="292600" y="292600"/>
            <a:ext cx="891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Security — filter chain vs install + check</a:t>
            </a:r>
            <a:endParaRPr baseline="30000"/>
          </a:p>
        </p:txBody>
      </p:sp>
      <p:sp>
        <p:nvSpPr>
          <p:cNvPr id="605" name="Google Shape;605;p78"/>
          <p:cNvSpPr txBox="1"/>
          <p:nvPr/>
        </p:nvSpPr>
        <p:spPr>
          <a:xfrm>
            <a:off x="5125500" y="1869975"/>
            <a:ext cx="496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06" name="Google Shape;606;p78"/>
          <p:cNvSpPr txBox="1"/>
          <p:nvPr/>
        </p:nvSpPr>
        <p:spPr>
          <a:xfrm>
            <a:off x="292600" y="2294519"/>
            <a:ext cx="8429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-i localhost:8081/api/ducks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 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</a:t>
            </a:r>
            <a:r>
              <a:rPr lang="en">
                <a:solidFill>
                  <a:srgbClr val="38761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200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public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-u user:user  -X PUT '.../api/ducks?mode=List' 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</a:t>
            </a:r>
            <a:r>
              <a:rPr lang="en">
                <a:solidFill>
                  <a:srgbClr val="99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403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not ADMIN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F52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</a:t>
            </a:r>
            <a:r>
              <a:rPr lang="en">
                <a:solidFill>
                  <a:srgbClr val="E6E6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curl -u admin:admin -X PUT '.../api/ducks?mode=List' 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</a:t>
            </a:r>
            <a:r>
              <a:rPr lang="en">
                <a:solidFill>
                  <a:srgbClr val="38761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200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6 duck</a:t>
            </a:r>
            <a:r>
              <a:rPr lang="en">
                <a:solidFill>
                  <a:srgbClr val="9AA0A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>
              <a:solidFill>
                <a:srgbClr val="9AA0A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07" name="Google Shape;607;p78"/>
          <p:cNvSpPr txBox="1"/>
          <p:nvPr>
            <p:ph idx="1" type="body"/>
          </p:nvPr>
        </p:nvSpPr>
        <p:spPr>
          <a:xfrm>
            <a:off x="320125" y="1810724"/>
            <a:ext cx="933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‼️</a:t>
            </a:r>
            <a:r>
              <a:rPr lang="en"/>
              <a:t>Try it yourself, and don’t forget to </a:t>
            </a:r>
            <a:r>
              <a:rPr b="1" lang="en"/>
              <a:t>start</a:t>
            </a:r>
            <a:r>
              <a:rPr lang="en"/>
              <a:t> the Ktor server:</a:t>
            </a:r>
            <a:endParaRPr i="1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9"/>
          <p:cNvSpPr txBox="1"/>
          <p:nvPr>
            <p:ph type="title"/>
          </p:nvPr>
        </p:nvSpPr>
        <p:spPr>
          <a:xfrm>
            <a:off x="292600" y="292600"/>
            <a:ext cx="891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When Spring, when Ktor?</a:t>
            </a:r>
            <a:endParaRPr baseline="30000"/>
          </a:p>
        </p:txBody>
      </p:sp>
      <p:sp>
        <p:nvSpPr>
          <p:cNvPr id="613" name="Google Shape;613;p79"/>
          <p:cNvSpPr txBox="1"/>
          <p:nvPr/>
        </p:nvSpPr>
        <p:spPr>
          <a:xfrm>
            <a:off x="5069507" y="2204338"/>
            <a:ext cx="496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80808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14" name="Google Shape;614;p79"/>
          <p:cNvSpPr txBox="1"/>
          <p:nvPr>
            <p:ph idx="1" type="body"/>
          </p:nvPr>
        </p:nvSpPr>
        <p:spPr>
          <a:xfrm>
            <a:off x="292600" y="933450"/>
            <a:ext cx="8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Same language, same domain, same duckShop:</a:t>
            </a:r>
            <a:endParaRPr b="1"/>
          </a:p>
        </p:txBody>
      </p:sp>
      <p:sp>
        <p:nvSpPr>
          <p:cNvPr id="615" name="Google Shape;615;p79"/>
          <p:cNvSpPr txBox="1"/>
          <p:nvPr/>
        </p:nvSpPr>
        <p:spPr>
          <a:xfrm>
            <a:off x="156982" y="2040563"/>
            <a:ext cx="43521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Spring </a:t>
            </a:r>
            <a:endParaRPr i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Huge ecosystem: Data, Security, Cloud, Batch, …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Auto-configuration &amp; DI — less wiring, strong conventions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 want sensible defaults out of the box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6" name="Google Shape;616;p79"/>
          <p:cNvSpPr txBox="1"/>
          <p:nvPr/>
        </p:nvSpPr>
        <p:spPr>
          <a:xfrm>
            <a:off x="4478158" y="2040563"/>
            <a:ext cx="45309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Ktor</a:t>
            </a:r>
            <a:endParaRPr i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Coroutine-native, minimal layers, fast startup, small footprint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 wire exactly what you need — full control, no magic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Kotlin-first stack (Exposed, kotlinx.serialization)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7" name="Google Shape;617;p79"/>
          <p:cNvSpPr/>
          <p:nvPr/>
        </p:nvSpPr>
        <p:spPr>
          <a:xfrm>
            <a:off x="110595" y="2040563"/>
            <a:ext cx="4223100" cy="1736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8" name="Google Shape;618;p79"/>
          <p:cNvSpPr/>
          <p:nvPr/>
        </p:nvSpPr>
        <p:spPr>
          <a:xfrm>
            <a:off x="4444020" y="2040563"/>
            <a:ext cx="4589400" cy="1736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9" name="Google Shape;619;p79"/>
          <p:cNvSpPr txBox="1"/>
          <p:nvPr>
            <p:ph idx="1" type="body"/>
          </p:nvPr>
        </p:nvSpPr>
        <p:spPr>
          <a:xfrm>
            <a:off x="170154" y="4676369"/>
            <a:ext cx="93387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‼️</a:t>
            </a:r>
            <a:r>
              <a:rPr lang="en"/>
              <a:t>You have seen both frameworks in action with the same app. </a:t>
            </a:r>
            <a:r>
              <a:rPr b="1" lang="en"/>
              <a:t>The choice is yours.</a:t>
            </a:r>
            <a:endParaRPr b="1" i="1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25" name="Google Shape;625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873" y="347966"/>
            <a:ext cx="3505320" cy="344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6" name="Google Shape;626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4571" y="0"/>
            <a:ext cx="7940326" cy="5145096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80"/>
          <p:cNvSpPr/>
          <p:nvPr/>
        </p:nvSpPr>
        <p:spPr>
          <a:xfrm>
            <a:off x="405147" y="1924426"/>
            <a:ext cx="6620100" cy="100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3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900"/>
              <a:buFont typeface="Inter"/>
              <a:buNone/>
            </a:pPr>
            <a:r>
              <a:rPr b="1" i="0" lang="en" sz="3900" u="none" cap="none" strike="noStrike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80"/>
          <p:cNvSpPr/>
          <p:nvPr/>
        </p:nvSpPr>
        <p:spPr>
          <a:xfrm>
            <a:off x="2077715" y="426513"/>
            <a:ext cx="9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80"/>
          <p:cNvSpPr/>
          <p:nvPr/>
        </p:nvSpPr>
        <p:spPr>
          <a:xfrm>
            <a:off x="2215828" y="426392"/>
            <a:ext cx="6669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Kotlin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andard White Theme">
  <a:themeElements>
    <a:clrScheme name="Simple Light">
      <a:dk1>
        <a:srgbClr val="000000"/>
      </a:dk1>
      <a:lt1>
        <a:srgbClr val="FFFFFF"/>
      </a:lt1>
      <a:dk2>
        <a:srgbClr val="27282C"/>
      </a:dk2>
      <a:lt2>
        <a:srgbClr val="000000"/>
      </a:lt2>
      <a:accent1>
        <a:srgbClr val="28B8A0"/>
      </a:accent1>
      <a:accent2>
        <a:srgbClr val="FC801D"/>
      </a:accent2>
      <a:accent3>
        <a:srgbClr val="FF318C"/>
      </a:accent3>
      <a:accent4>
        <a:srgbClr val="6B57FF"/>
      </a:accent4>
      <a:accent5>
        <a:srgbClr val="087CFA"/>
      </a:accent5>
      <a:accent6>
        <a:srgbClr val="000000"/>
      </a:accent6>
      <a:hlink>
        <a:srgbClr val="FF31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