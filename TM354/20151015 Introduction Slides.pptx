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  <p:sldMasterId id="2147483651" r:id="rId2"/>
  </p:sldMasterIdLst>
  <p:handoutMasterIdLst>
    <p:handoutMasterId r:id="rId13"/>
  </p:handoutMasterIdLst>
  <p:sldIdLst>
    <p:sldId id="256" r:id="rId3"/>
    <p:sldId id="281" r:id="rId4"/>
    <p:sldId id="273" r:id="rId5"/>
    <p:sldId id="276" r:id="rId6"/>
    <p:sldId id="274" r:id="rId7"/>
    <p:sldId id="275" r:id="rId8"/>
    <p:sldId id="277" r:id="rId9"/>
    <p:sldId id="278" r:id="rId10"/>
    <p:sldId id="279" r:id="rId11"/>
    <p:sldId id="280" r:id="rId12"/>
  </p:sldIdLst>
  <p:sldSz cx="10460038" cy="7561263"/>
  <p:notesSz cx="6797675" cy="9926638"/>
  <p:custDataLst>
    <p:tags r:id="rId15"/>
  </p:custData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6pPr>
    <a:lvl7pPr marL="27432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7pPr>
    <a:lvl8pPr marL="32004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8pPr>
    <a:lvl9pPr marL="3657600" algn="l" defTabSz="457200" rtl="0" eaLnBrk="1" latinLnBrk="0" hangingPunct="1">
      <a:defRPr sz="3000" kern="1200">
        <a:solidFill>
          <a:srgbClr val="E3284A"/>
        </a:solidFill>
        <a:latin typeface="Arial" charset="0"/>
        <a:ea typeface="ＭＳ Ｐゴシック" charset="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284A"/>
    <a:srgbClr val="EF6820"/>
    <a:srgbClr val="9FAA00"/>
    <a:srgbClr val="5C705E"/>
    <a:srgbClr val="00AFAD"/>
    <a:srgbClr val="00B1EA"/>
    <a:srgbClr val="856FB3"/>
    <a:srgbClr val="D600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596" autoAdjust="0"/>
    <p:restoredTop sz="94724" autoAdjust="0"/>
  </p:normalViewPr>
  <p:slideViewPr>
    <p:cSldViewPr>
      <p:cViewPr varScale="1">
        <p:scale>
          <a:sx n="128" d="100"/>
          <a:sy n="128" d="100"/>
        </p:scale>
        <p:origin x="-208" y="-104"/>
      </p:cViewPr>
      <p:guideLst>
        <p:guide orient="horz" pos="2381"/>
        <p:guide pos="329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handoutMaster" Target="handoutMasters/handoutMaster1.xml"/><Relationship Id="rId14" Type="http://schemas.openxmlformats.org/officeDocument/2006/relationships/printerSettings" Target="printerSettings/printerSettings1.bin"/><Relationship Id="rId15" Type="http://schemas.openxmlformats.org/officeDocument/2006/relationships/tags" Target="tags/tag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49688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177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49688" y="9428163"/>
            <a:ext cx="2946400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AF550FC-5014-1142-8973-D3C0DBDA757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1696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26855CF9-5D8D-FC41-9142-4E5A62C9147B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>
          <a:xfrm>
            <a:off x="395288" y="3619500"/>
            <a:ext cx="6923087" cy="688975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smtClean="0"/>
              <a:t>Click to edit Master title style</a:t>
            </a:r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95288" y="5724525"/>
            <a:ext cx="8362950" cy="536575"/>
          </a:xfrm>
        </p:spPr>
        <p:txBody>
          <a:bodyPr/>
          <a:lstStyle>
            <a:lvl1pPr marL="0" indent="0">
              <a:buFontTx/>
              <a:buNone/>
              <a:defRPr sz="30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0" smtClean="0"/>
              <a:t>Click to edit Master subtitle style</a:t>
            </a:r>
          </a:p>
        </p:txBody>
      </p:sp>
      <p:pic>
        <p:nvPicPr>
          <p:cNvPr id="5140" name="Picture 20" descr="OU_masterlogo_colour_29m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263" y="431800"/>
            <a:ext cx="1809750" cy="1239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923D966-842C-EA4F-AB1A-4282BE8D0799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735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4859338"/>
            <a:ext cx="889158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500" y="3205163"/>
            <a:ext cx="889158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9DFC338-4473-AF48-893D-D072FCA308A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3912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2733675"/>
            <a:ext cx="4629150" cy="240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2733675"/>
            <a:ext cx="4629150" cy="24098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C5CFBE9-8555-2B4E-BE00-8B1F4B65BB4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72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3213"/>
            <a:ext cx="9415462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288" y="1692275"/>
            <a:ext cx="46228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8" y="2397125"/>
            <a:ext cx="46228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13363" y="1692275"/>
            <a:ext cx="4624387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13363" y="2397125"/>
            <a:ext cx="4624387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29C54E1-B265-DF42-A4F3-3443F1F8CE0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419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24955DE-62A5-AB44-95AA-D6CC55FE669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718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DC9DF75-A7EC-8A48-B060-81FC23148AE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38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1625"/>
            <a:ext cx="34417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9400" y="301625"/>
            <a:ext cx="5848350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288" y="1582738"/>
            <a:ext cx="34417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5133C9A-48C0-7D48-A162-93296667198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295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463" y="5292725"/>
            <a:ext cx="62769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9463" y="676275"/>
            <a:ext cx="62769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9463" y="5918200"/>
            <a:ext cx="62769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677708A-F0EA-4847-8EDB-FE13FF1B6FD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379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937E6EC-90A4-D545-9B3F-2B85944BE6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987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3313" y="1763713"/>
            <a:ext cx="2352675" cy="3379787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1763713"/>
            <a:ext cx="6905625" cy="3379787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FF95217-1378-814D-9087-E8BD296B937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2029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63713"/>
            <a:ext cx="9410700" cy="811212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95288" y="2733675"/>
            <a:ext cx="9410700" cy="2409825"/>
          </a:xfrm>
        </p:spPr>
        <p:txBody>
          <a:bodyPr/>
          <a:lstStyle/>
          <a:p>
            <a:r>
              <a:rPr lang="en-GB" smtClean="0"/>
              <a:t>Click icon to add table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573463" y="6884988"/>
            <a:ext cx="3313112" cy="525462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7494588" y="6884988"/>
            <a:ext cx="2443162" cy="525462"/>
          </a:xfrm>
        </p:spPr>
        <p:txBody>
          <a:bodyPr/>
          <a:lstStyle>
            <a:lvl1pPr>
              <a:defRPr/>
            </a:lvl1pPr>
          </a:lstStyle>
          <a:p>
            <a:fld id="{C7DE0F2A-218C-7D42-9636-4BF3862B135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8050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63713"/>
            <a:ext cx="9410700" cy="811212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288" y="2733675"/>
            <a:ext cx="4629150" cy="2409825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2733675"/>
            <a:ext cx="4629150" cy="2409825"/>
          </a:xfrm>
        </p:spPr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573463" y="6884988"/>
            <a:ext cx="3313112" cy="525462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494588" y="6884988"/>
            <a:ext cx="2443162" cy="525462"/>
          </a:xfrm>
        </p:spPr>
        <p:txBody>
          <a:bodyPr/>
          <a:lstStyle>
            <a:lvl1pPr>
              <a:defRPr/>
            </a:lvl1pPr>
          </a:lstStyle>
          <a:p>
            <a:fld id="{AE18CFF9-E97B-D846-9A1F-ED29D0647DC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9304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4225" y="2349500"/>
            <a:ext cx="8891588" cy="1620838"/>
          </a:xfrm>
        </p:spPr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8450" y="4284663"/>
            <a:ext cx="7323138" cy="1931987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3B2766-07D2-2F47-BE9A-FA35853C393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37949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9063195-CEFF-3949-80B0-84FA5C45FE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432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4859338"/>
            <a:ext cx="8891588" cy="15017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5500" y="3205163"/>
            <a:ext cx="8891588" cy="16541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468BE16-E2F2-6547-AA54-1E6550B018E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1073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4068763"/>
            <a:ext cx="4629150" cy="38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6838" y="4068763"/>
            <a:ext cx="4629150" cy="3841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35594F-1D4C-BE43-BCEF-DBD28640C9D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05551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3213"/>
            <a:ext cx="9415462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2288" y="1692275"/>
            <a:ext cx="4622800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288" y="2397125"/>
            <a:ext cx="4622800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13363" y="1692275"/>
            <a:ext cx="4624387" cy="7048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13363" y="2397125"/>
            <a:ext cx="4624387" cy="43576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A6FD42C-A52C-4244-A249-32163FC75F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412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C22C576-687E-8740-B5C4-8B9357BC629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8452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555457F-038B-774B-97F8-9A95E301C05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13535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288" y="301625"/>
            <a:ext cx="3441700" cy="128111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9400" y="301625"/>
            <a:ext cx="5848350" cy="645318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2288" y="1582738"/>
            <a:ext cx="3441700" cy="51720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A3F62D1-EDE3-AF43-BA3A-7269661AAB6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7958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9463" y="5292725"/>
            <a:ext cx="6276975" cy="6254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49463" y="676275"/>
            <a:ext cx="6276975" cy="45354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49463" y="5918200"/>
            <a:ext cx="6276975" cy="88741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503BCE4-E961-CE4C-A9BF-F008976506DE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66694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95AF02-0C87-064A-87DC-0C0D19BADD0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55047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3313" y="2719388"/>
            <a:ext cx="2352675" cy="1733550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2719388"/>
            <a:ext cx="6905625" cy="173355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DF17F4B-3B54-9847-8EF6-4439D877603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413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1763713"/>
            <a:ext cx="9410700" cy="811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Title in colour - Arial 48pt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2733675"/>
            <a:ext cx="9410700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Tabbed text information in black with bullet - Arial 28pt</a:t>
            </a:r>
          </a:p>
          <a:p>
            <a:pPr lvl="1"/>
            <a:r>
              <a:rPr lang="en-GB"/>
              <a:t>Bullet point should be in the same colour as heading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884988"/>
            <a:ext cx="33131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ctr" defTabSz="796925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94588" y="6884988"/>
            <a:ext cx="244316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r" defTabSz="796925">
              <a:defRPr sz="1100">
                <a:solidFill>
                  <a:schemeClr val="tx1"/>
                </a:solidFill>
              </a:defRPr>
            </a:lvl1pPr>
          </a:lstStyle>
          <a:p>
            <a:fld id="{39B92D08-FEC4-C04C-8269-A0A6BCCAAA54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4110" name="Picture 14" descr="OU_masterlogo_colour_19mm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38" y="395288"/>
            <a:ext cx="11811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73" r:id="rId12"/>
    <p:sldLayoutId id="2147483674" r:id="rId13"/>
  </p:sldLayoutIdLst>
  <p:txStyles>
    <p:titleStyle>
      <a:lvl1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+mj-lt"/>
          <a:ea typeface="+mj-ea"/>
          <a:cs typeface="+mj-cs"/>
        </a:defRPr>
      </a:lvl1pPr>
      <a:lvl2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2pPr>
      <a:lvl3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3pPr>
      <a:lvl4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4pPr>
      <a:lvl5pPr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5pPr>
      <a:lvl6pPr marL="4572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6pPr>
      <a:lvl7pPr marL="9144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7pPr>
      <a:lvl8pPr marL="13716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8pPr>
      <a:lvl9pPr marL="1828800" algn="l" defTabSz="796925" rtl="0" eaLnBrk="1" fontAlgn="base" hangingPunct="1">
        <a:spcBef>
          <a:spcPct val="0"/>
        </a:spcBef>
        <a:spcAft>
          <a:spcPct val="0"/>
        </a:spcAft>
        <a:defRPr sz="4800">
          <a:solidFill>
            <a:srgbClr val="9FAA00"/>
          </a:solidFill>
          <a:latin typeface="Arial" charset="0"/>
          <a:ea typeface="ＭＳ Ｐゴシック" charset="0"/>
        </a:defRPr>
      </a:lvl9pPr>
    </p:titleStyle>
    <p:bodyStyle>
      <a:lvl1pPr marL="298450" indent="-298450" algn="l" defTabSz="796925" rtl="0" eaLnBrk="1" fontAlgn="base" hangingPunct="1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49238" algn="l" defTabSz="796925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993775" indent="-196850" algn="l" defTabSz="796925" rtl="0" eaLnBrk="1" fontAlgn="base" hangingPunct="1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392238" indent="-198438" algn="l" defTabSz="796925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17875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2447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19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1591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616325" indent="-198438" algn="l" defTabSz="79692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2719388"/>
            <a:ext cx="9410700" cy="841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Divider title in black - Arial 50pt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4068763"/>
            <a:ext cx="9410700" cy="384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GB"/>
              <a:t>Subheading in black - Arial 20pt</a:t>
            </a:r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73463" y="6884988"/>
            <a:ext cx="331311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ctr" defTabSz="796925">
              <a:defRPr sz="11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94588" y="6884988"/>
            <a:ext cx="2443162" cy="525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79438" tIns="39718" rIns="79438" bIns="39718" numCol="1" anchor="t" anchorCtr="0" compatLnSpc="1">
            <a:prstTxWarp prst="textNoShape">
              <a:avLst/>
            </a:prstTxWarp>
          </a:bodyPr>
          <a:lstStyle>
            <a:lvl1pPr algn="r" defTabSz="796925">
              <a:defRPr sz="1100">
                <a:solidFill>
                  <a:schemeClr val="tx1"/>
                </a:solidFill>
              </a:defRPr>
            </a:lvl1pPr>
          </a:lstStyle>
          <a:p>
            <a:fld id="{7DA991BA-0B5E-F84B-B0C0-84D3E1FA64EE}" type="slidenum">
              <a:rPr lang="en-GB"/>
              <a:pPr/>
              <a:t>‹#›</a:t>
            </a:fld>
            <a:endParaRPr lang="en-GB"/>
          </a:p>
        </p:txBody>
      </p:sp>
      <p:pic>
        <p:nvPicPr>
          <p:cNvPr id="51207" name="Picture 7" descr="OU_masterlogo_colour_19mm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4138" y="395288"/>
            <a:ext cx="1181100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+mj-lt"/>
          <a:ea typeface="+mj-ea"/>
          <a:cs typeface="+mj-cs"/>
        </a:defRPr>
      </a:lvl1pPr>
      <a:lvl2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2pPr>
      <a:lvl3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3pPr>
      <a:lvl4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4pPr>
      <a:lvl5pPr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5pPr>
      <a:lvl6pPr marL="4572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6pPr>
      <a:lvl7pPr marL="9144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7pPr>
      <a:lvl8pPr marL="13716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8pPr>
      <a:lvl9pPr marL="1828800" algn="l" defTabSz="796925" rtl="0" fontAlgn="base"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298450" indent="-298450" algn="l" defTabSz="796925" rtl="0" fontAlgn="base">
        <a:spcBef>
          <a:spcPct val="20000"/>
        </a:spcBef>
        <a:spcAft>
          <a:spcPct val="0"/>
        </a:spcAft>
        <a:buClr>
          <a:srgbClr val="9FAA00"/>
        </a:buClr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647700" indent="-249238" algn="l" defTabSz="796925" rtl="0" fontAlgn="base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993775" indent="-196850" algn="l" defTabSz="796925" rtl="0" fontAlgn="base">
        <a:spcBef>
          <a:spcPct val="20000"/>
        </a:spcBef>
        <a:spcAft>
          <a:spcPct val="0"/>
        </a:spcAft>
        <a:buClr>
          <a:srgbClr val="9FAA00"/>
        </a:buClr>
        <a:buChar char="•"/>
        <a:defRPr sz="2800">
          <a:solidFill>
            <a:schemeClr val="tx1"/>
          </a:solidFill>
          <a:latin typeface="+mn-lt"/>
          <a:ea typeface="+mn-ea"/>
        </a:defRPr>
      </a:lvl3pPr>
      <a:lvl4pPr marL="1392238" indent="-198438" algn="l" defTabSz="796925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4pPr>
      <a:lvl5pPr marL="17875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2447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7019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1591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616325" indent="-198438" algn="l" defTabSz="796925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288" y="3619500"/>
            <a:ext cx="7427019" cy="1311318"/>
          </a:xfrm>
        </p:spPr>
        <p:txBody>
          <a:bodyPr/>
          <a:lstStyle/>
          <a:p>
            <a:r>
              <a:rPr lang="en-US" dirty="0" smtClean="0"/>
              <a:t>TM354 Software Engineering</a:t>
            </a:r>
            <a:br>
              <a:rPr lang="en-US" dirty="0" smtClean="0"/>
            </a:b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5288" y="5724525"/>
            <a:ext cx="8362950" cy="541877"/>
          </a:xfrm>
        </p:spPr>
        <p:txBody>
          <a:bodyPr/>
          <a:lstStyle/>
          <a:p>
            <a:r>
              <a:rPr lang="en-US" dirty="0" smtClean="0"/>
              <a:t>Chris Thomson </a:t>
            </a:r>
            <a:r>
              <a:rPr lang="en-US" dirty="0" err="1" smtClean="0"/>
              <a:t>c.d.thomson@open.ac.uk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0234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491" y="396255"/>
            <a:ext cx="9410700" cy="811212"/>
          </a:xfrm>
        </p:spPr>
        <p:txBody>
          <a:bodyPr/>
          <a:lstStyle/>
          <a:p>
            <a:r>
              <a:rPr lang="en-US" dirty="0" smtClean="0"/>
              <a:t>Using OU Live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7491" y="1332359"/>
            <a:ext cx="9410700" cy="1028164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0" y="0"/>
            <a:ext cx="9808183" cy="756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68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545228"/>
          </a:xfrm>
        </p:spPr>
        <p:txBody>
          <a:bodyPr/>
          <a:lstStyle/>
          <a:p>
            <a:r>
              <a:rPr lang="en-US" dirty="0" smtClean="0"/>
              <a:t>What is Software Engineering?</a:t>
            </a:r>
          </a:p>
          <a:p>
            <a:r>
              <a:rPr lang="en-US" dirty="0" smtClean="0"/>
              <a:t>Why should you care about it?</a:t>
            </a:r>
          </a:p>
          <a:p>
            <a:r>
              <a:rPr lang="en-US" dirty="0" smtClean="0"/>
              <a:t>What is used in practice and how is </a:t>
            </a:r>
            <a:r>
              <a:rPr lang="en-US" dirty="0" smtClean="0"/>
              <a:t>TM354 different</a:t>
            </a:r>
            <a:r>
              <a:rPr lang="en-US" dirty="0" smtClean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6526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390550"/>
            <a:ext cx="9410700" cy="1557539"/>
          </a:xfrm>
        </p:spPr>
        <p:txBody>
          <a:bodyPr/>
          <a:lstStyle/>
          <a:p>
            <a:r>
              <a:rPr lang="en-US" dirty="0"/>
              <a:t>Module outline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4647616"/>
          </a:xfrm>
        </p:spPr>
        <p:txBody>
          <a:bodyPr/>
          <a:lstStyle/>
          <a:p>
            <a:r>
              <a:rPr lang="en-US" dirty="0" smtClean="0"/>
              <a:t>From </a:t>
            </a:r>
            <a:r>
              <a:rPr lang="en-US" dirty="0"/>
              <a:t>domain to requirements (Block 1</a:t>
            </a:r>
            <a:r>
              <a:rPr lang="en-US" dirty="0" smtClean="0"/>
              <a:t>)</a:t>
            </a:r>
          </a:p>
          <a:p>
            <a:r>
              <a:rPr lang="en-US" dirty="0" smtClean="0"/>
              <a:t>From </a:t>
            </a:r>
            <a:r>
              <a:rPr lang="en-US" dirty="0"/>
              <a:t>analysis to design (Block 2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 smtClean="0"/>
              <a:t>From </a:t>
            </a:r>
            <a:r>
              <a:rPr lang="en-US" dirty="0"/>
              <a:t>architecture to product (Block 3) 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4 </a:t>
            </a:r>
            <a:r>
              <a:rPr lang="en-US" dirty="0"/>
              <a:t>units/block </a:t>
            </a:r>
            <a:endParaRPr lang="en-US" dirty="0"/>
          </a:p>
          <a:p>
            <a:pPr lvl="1"/>
            <a:r>
              <a:rPr lang="en-US" dirty="0" smtClean="0"/>
              <a:t>Each </a:t>
            </a:r>
            <a:r>
              <a:rPr lang="en-US" dirty="0"/>
              <a:t>block has a printed </a:t>
            </a:r>
            <a:r>
              <a:rPr lang="en-US" dirty="0" smtClean="0"/>
              <a:t>book</a:t>
            </a:r>
          </a:p>
          <a:p>
            <a:pPr lvl="1"/>
            <a:r>
              <a:rPr lang="en-US" dirty="0"/>
              <a:t>Case study as the last unit of each </a:t>
            </a:r>
            <a:r>
              <a:rPr lang="en-US" dirty="0" smtClean="0"/>
              <a:t>block</a:t>
            </a:r>
            <a:endParaRPr lang="en-US" dirty="0"/>
          </a:p>
          <a:p>
            <a:r>
              <a:rPr lang="en-US" dirty="0" smtClean="0"/>
              <a:t>All </a:t>
            </a:r>
            <a:r>
              <a:rPr lang="en-US" dirty="0"/>
              <a:t>other resources on </a:t>
            </a:r>
            <a:r>
              <a:rPr lang="en-US" dirty="0" smtClean="0"/>
              <a:t>website</a:t>
            </a:r>
            <a:endParaRPr lang="en-US" dirty="0"/>
          </a:p>
          <a:p>
            <a:pPr lvl="1"/>
            <a:r>
              <a:rPr lang="en-US" dirty="0" smtClean="0"/>
              <a:t>Including further topics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98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096422"/>
          </a:xfrm>
        </p:spPr>
        <p:txBody>
          <a:bodyPr/>
          <a:lstStyle/>
          <a:p>
            <a:r>
              <a:rPr lang="en-US" dirty="0" smtClean="0"/>
              <a:t>TMAs</a:t>
            </a:r>
          </a:p>
          <a:p>
            <a:pPr lvl="1"/>
            <a:r>
              <a:rPr lang="en-US" dirty="0" smtClean="0"/>
              <a:t>Key tips</a:t>
            </a:r>
          </a:p>
          <a:p>
            <a:pPr lvl="1"/>
            <a:r>
              <a:rPr lang="en-US" dirty="0" smtClean="0"/>
              <a:t>Level of detail</a:t>
            </a:r>
          </a:p>
          <a:p>
            <a:pPr lvl="1"/>
            <a:r>
              <a:rPr lang="en-US" dirty="0" smtClean="0"/>
              <a:t>Checking your work</a:t>
            </a:r>
          </a:p>
          <a:p>
            <a:r>
              <a:rPr lang="en-US" dirty="0" smtClean="0"/>
              <a:t>Exam</a:t>
            </a:r>
          </a:p>
          <a:p>
            <a:pPr lvl="1"/>
            <a:r>
              <a:rPr lang="en-US" dirty="0" smtClean="0"/>
              <a:t>What to expect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367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Getting help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1976115"/>
          </a:xfrm>
        </p:spPr>
        <p:txBody>
          <a:bodyPr/>
          <a:lstStyle/>
          <a:p>
            <a:r>
              <a:rPr lang="en-US" dirty="0" smtClean="0"/>
              <a:t>Please ask, and ask again if things don’t make sense.</a:t>
            </a:r>
          </a:p>
          <a:p>
            <a:r>
              <a:rPr lang="en-US" dirty="0" smtClean="0"/>
              <a:t>Often a short discussion on the phone clears up email confusion.</a:t>
            </a:r>
          </a:p>
          <a:p>
            <a:r>
              <a:rPr lang="en-US" dirty="0" smtClean="0"/>
              <a:t>If I’m speaking gibberish, tell me!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846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25500" y="4859338"/>
            <a:ext cx="8891588" cy="695765"/>
          </a:xfrm>
        </p:spPr>
        <p:txBody>
          <a:bodyPr/>
          <a:lstStyle/>
          <a:p>
            <a:r>
              <a:rPr lang="en-US" dirty="0" smtClean="0"/>
              <a:t>Block 1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431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95288" y="1759882"/>
            <a:ext cx="9410700" cy="818875"/>
          </a:xfrm>
        </p:spPr>
        <p:txBody>
          <a:bodyPr/>
          <a:lstStyle/>
          <a:p>
            <a:r>
              <a:rPr lang="en-US" dirty="0"/>
              <a:t>Block 1, Unit 1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4130552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Approaches </a:t>
            </a:r>
            <a:r>
              <a:rPr lang="en-US" i="1" dirty="0"/>
              <a:t>to software development </a:t>
            </a:r>
            <a:endParaRPr lang="en-US" dirty="0"/>
          </a:p>
          <a:p>
            <a:r>
              <a:rPr lang="en-US" dirty="0" smtClean="0"/>
              <a:t>software </a:t>
            </a:r>
            <a:r>
              <a:rPr lang="en-US" dirty="0"/>
              <a:t>and development processes </a:t>
            </a:r>
            <a:endParaRPr lang="en-US" dirty="0"/>
          </a:p>
          <a:p>
            <a:r>
              <a:rPr lang="en-US" dirty="0" smtClean="0"/>
              <a:t>different </a:t>
            </a:r>
            <a:r>
              <a:rPr lang="en-US" dirty="0"/>
              <a:t>approaches to software </a:t>
            </a:r>
            <a:r>
              <a:rPr lang="en-US" dirty="0" smtClean="0"/>
              <a:t>development</a:t>
            </a:r>
            <a:endParaRPr lang="en-US" dirty="0"/>
          </a:p>
          <a:p>
            <a:pPr lvl="1"/>
            <a:r>
              <a:rPr lang="en-US" dirty="0" smtClean="0"/>
              <a:t>from </a:t>
            </a:r>
            <a:r>
              <a:rPr lang="en-US" dirty="0"/>
              <a:t>plan-driven to </a:t>
            </a:r>
            <a:r>
              <a:rPr lang="en-US" dirty="0" smtClean="0"/>
              <a:t>agile</a:t>
            </a:r>
            <a:endParaRPr lang="en-US" dirty="0"/>
          </a:p>
          <a:p>
            <a:pPr lvl="1"/>
            <a:r>
              <a:rPr lang="en-US" dirty="0" smtClean="0"/>
              <a:t>factors </a:t>
            </a:r>
            <a:r>
              <a:rPr lang="en-US" dirty="0"/>
              <a:t>that affect the choice of a process. </a:t>
            </a:r>
            <a:endParaRPr lang="en-US" dirty="0"/>
          </a:p>
          <a:p>
            <a:r>
              <a:rPr lang="en-US" dirty="0" smtClean="0"/>
              <a:t>modelling </a:t>
            </a:r>
            <a:r>
              <a:rPr lang="en-US" dirty="0"/>
              <a:t>within software </a:t>
            </a:r>
            <a:r>
              <a:rPr lang="en-US" dirty="0" smtClean="0"/>
              <a:t>development</a:t>
            </a:r>
          </a:p>
          <a:p>
            <a:pPr lvl="1"/>
            <a:r>
              <a:rPr lang="en-US" dirty="0" smtClean="0"/>
              <a:t>agile </a:t>
            </a:r>
            <a:r>
              <a:rPr lang="en-US" dirty="0"/>
              <a:t>perspective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22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59882"/>
            <a:ext cx="9410700" cy="818875"/>
          </a:xfrm>
        </p:spPr>
        <p:txBody>
          <a:bodyPr/>
          <a:lstStyle/>
          <a:p>
            <a:r>
              <a:rPr lang="en-US" dirty="0"/>
              <a:t>Block 1, Unit 2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613487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Requirements </a:t>
            </a:r>
            <a:r>
              <a:rPr lang="en-US" i="1" dirty="0"/>
              <a:t>concepts </a:t>
            </a:r>
            <a:endParaRPr lang="en-US" dirty="0"/>
          </a:p>
          <a:p>
            <a:r>
              <a:rPr lang="en-US" dirty="0" smtClean="0"/>
              <a:t>requirements </a:t>
            </a:r>
          </a:p>
          <a:p>
            <a:pPr lvl="1"/>
            <a:r>
              <a:rPr lang="en-US" dirty="0" smtClean="0"/>
              <a:t>Functional </a:t>
            </a:r>
          </a:p>
          <a:p>
            <a:pPr lvl="1"/>
            <a:r>
              <a:rPr lang="en-US" dirty="0" smtClean="0"/>
              <a:t>non</a:t>
            </a:r>
            <a:r>
              <a:rPr lang="en-US" dirty="0"/>
              <a:t>-</a:t>
            </a:r>
            <a:r>
              <a:rPr lang="en-US" dirty="0" smtClean="0"/>
              <a:t>functional</a:t>
            </a:r>
            <a:endParaRPr lang="en-US" dirty="0"/>
          </a:p>
          <a:p>
            <a:r>
              <a:rPr lang="en-US" dirty="0" smtClean="0"/>
              <a:t>testing </a:t>
            </a:r>
            <a:r>
              <a:rPr lang="en-US" dirty="0"/>
              <a:t>and fit </a:t>
            </a:r>
            <a:r>
              <a:rPr lang="en-US" dirty="0" smtClean="0"/>
              <a:t>criteria</a:t>
            </a:r>
            <a:endParaRPr lang="en-US" dirty="0"/>
          </a:p>
          <a:p>
            <a:r>
              <a:rPr lang="en-US" dirty="0" smtClean="0"/>
              <a:t>what </a:t>
            </a:r>
            <a:r>
              <a:rPr lang="en-US" dirty="0"/>
              <a:t>and how much to document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989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288" y="1759882"/>
            <a:ext cx="9410700" cy="818875"/>
          </a:xfrm>
        </p:spPr>
        <p:txBody>
          <a:bodyPr/>
          <a:lstStyle/>
          <a:p>
            <a:r>
              <a:rPr lang="en-US" dirty="0"/>
              <a:t>Block 1, Unit 3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288" y="2733675"/>
            <a:ext cx="9410700" cy="3613487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From domain modelling to requirements </a:t>
            </a:r>
            <a:endParaRPr lang="en-US" dirty="0"/>
          </a:p>
          <a:p>
            <a:r>
              <a:rPr lang="en-US" dirty="0" smtClean="0"/>
              <a:t>understanding </a:t>
            </a:r>
            <a:r>
              <a:rPr lang="en-US" dirty="0"/>
              <a:t>the </a:t>
            </a:r>
            <a:r>
              <a:rPr lang="en-US" dirty="0" smtClean="0"/>
              <a:t>domain</a:t>
            </a:r>
          </a:p>
          <a:p>
            <a:pPr lvl="1"/>
            <a:r>
              <a:rPr lang="en-US" dirty="0" smtClean="0"/>
              <a:t>business </a:t>
            </a:r>
            <a:r>
              <a:rPr lang="en-US" dirty="0"/>
              <a:t>rules and </a:t>
            </a:r>
            <a:r>
              <a:rPr lang="en-US" dirty="0" smtClean="0"/>
              <a:t>processes</a:t>
            </a:r>
          </a:p>
          <a:p>
            <a:pPr lvl="1"/>
            <a:r>
              <a:rPr lang="en-US" dirty="0" smtClean="0"/>
              <a:t>representing </a:t>
            </a:r>
            <a:r>
              <a:rPr lang="en-US" dirty="0"/>
              <a:t>domain activity </a:t>
            </a:r>
            <a:endParaRPr lang="en-US" dirty="0"/>
          </a:p>
          <a:p>
            <a:r>
              <a:rPr lang="en-US" dirty="0" smtClean="0"/>
              <a:t>capturing </a:t>
            </a:r>
            <a:r>
              <a:rPr lang="en-US" dirty="0"/>
              <a:t>requirements with use </a:t>
            </a:r>
            <a:r>
              <a:rPr lang="en-US" dirty="0" smtClean="0"/>
              <a:t>cases</a:t>
            </a:r>
          </a:p>
          <a:p>
            <a:r>
              <a:rPr lang="en-US" dirty="0" smtClean="0"/>
              <a:t>prototyping </a:t>
            </a:r>
            <a:r>
              <a:rPr lang="en-US" dirty="0"/>
              <a:t>the user interface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8032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OU">
  <a:themeElements>
    <a:clrScheme name="OU PowerPoin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U PowerPoint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U PowerPoi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2">
        <a:dk1>
          <a:srgbClr val="000000"/>
        </a:dk1>
        <a:lt1>
          <a:srgbClr val="D60077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8AAB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3">
        <a:dk1>
          <a:srgbClr val="000000"/>
        </a:dk1>
        <a:lt1>
          <a:srgbClr val="FFD1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E5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4">
        <a:dk1>
          <a:srgbClr val="000000"/>
        </a:dk1>
        <a:lt1>
          <a:srgbClr val="9FAA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DD2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5">
        <a:dk1>
          <a:srgbClr val="000000"/>
        </a:dk1>
        <a:lt1>
          <a:srgbClr val="00AFAD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D4D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6">
        <a:dk1>
          <a:srgbClr val="000000"/>
        </a:dk1>
        <a:lt1>
          <a:srgbClr val="5C705E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5BBB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7">
        <a:dk1>
          <a:srgbClr val="000000"/>
        </a:dk1>
        <a:lt1>
          <a:srgbClr val="EF682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6B9AB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8">
        <a:dk1>
          <a:srgbClr val="000000"/>
        </a:dk1>
        <a:lt1>
          <a:srgbClr val="E3284A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FACB1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9">
        <a:dk1>
          <a:srgbClr val="000000"/>
        </a:dk1>
        <a:lt1>
          <a:srgbClr val="856FB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2BBD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10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U PowerPoint 11">
        <a:dk1>
          <a:srgbClr val="000000"/>
        </a:dk1>
        <a:lt1>
          <a:srgbClr val="8C8C8C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5C5C5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ivider">
  <a:themeElements>
    <a:clrScheme name="Divider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vider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52082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000" b="0" i="0" u="none" strike="noStrike" cap="none" normalizeH="0" baseline="0">
            <a:ln>
              <a:noFill/>
            </a:ln>
            <a:solidFill>
              <a:srgbClr val="E3284A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Divide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2">
        <a:dk1>
          <a:srgbClr val="000000"/>
        </a:dk1>
        <a:lt1>
          <a:srgbClr val="D60077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8AAB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3">
        <a:dk1>
          <a:srgbClr val="000000"/>
        </a:dk1>
        <a:lt1>
          <a:srgbClr val="92C9EB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7E1F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4">
        <a:dk1>
          <a:srgbClr val="000000"/>
        </a:dk1>
        <a:lt1>
          <a:srgbClr val="FFD1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E5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5">
        <a:dk1>
          <a:srgbClr val="000000"/>
        </a:dk1>
        <a:lt1>
          <a:srgbClr val="9FAA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DD2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6">
        <a:dk1>
          <a:srgbClr val="000000"/>
        </a:dk1>
        <a:lt1>
          <a:srgbClr val="00AFAD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D4D3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7">
        <a:dk1>
          <a:srgbClr val="000000"/>
        </a:dk1>
        <a:lt1>
          <a:srgbClr val="5C705E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5BBB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8">
        <a:dk1>
          <a:srgbClr val="000000"/>
        </a:dk1>
        <a:lt1>
          <a:srgbClr val="780032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BEAAAD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9">
        <a:dk1>
          <a:srgbClr val="000000"/>
        </a:dk1>
        <a:lt1>
          <a:srgbClr val="002E6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DB7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0">
        <a:dk1>
          <a:srgbClr val="000000"/>
        </a:dk1>
        <a:lt1>
          <a:srgbClr val="EF682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6B9AB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1">
        <a:dk1>
          <a:srgbClr val="000000"/>
        </a:dk1>
        <a:lt1>
          <a:srgbClr val="E3284A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FACB1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2">
        <a:dk1>
          <a:srgbClr val="000000"/>
        </a:dk1>
        <a:lt1>
          <a:srgbClr val="856FB3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2BBD6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3">
        <a:dk1>
          <a:srgbClr val="000000"/>
        </a:dk1>
        <a:lt1>
          <a:srgbClr val="CFC285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E4DDC2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4">
        <a:dk1>
          <a:srgbClr val="000000"/>
        </a:dk1>
        <a:lt1>
          <a:srgbClr val="000000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AAAAAA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vider 15">
        <a:dk1>
          <a:srgbClr val="000000"/>
        </a:dk1>
        <a:lt1>
          <a:srgbClr val="8C8C8C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C5C5C5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OU.potx</Template>
  <TotalTime>1192</TotalTime>
  <Words>228</Words>
  <Application>Microsoft Macintosh PowerPoint</Application>
  <PresentationFormat>Custom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OU</vt:lpstr>
      <vt:lpstr>Divider</vt:lpstr>
      <vt:lpstr>TM354 Software Engineering Introduction</vt:lpstr>
      <vt:lpstr>Using OU Live</vt:lpstr>
      <vt:lpstr>Introduction</vt:lpstr>
      <vt:lpstr>Module outline  </vt:lpstr>
      <vt:lpstr>Assessment</vt:lpstr>
      <vt:lpstr>Getting help</vt:lpstr>
      <vt:lpstr>Block 1</vt:lpstr>
      <vt:lpstr>Block 1, Unit 1 </vt:lpstr>
      <vt:lpstr>Block 1, Unit 2 </vt:lpstr>
      <vt:lpstr>Block 1, Unit 3 </vt:lpstr>
    </vt:vector>
  </TitlesOfParts>
  <Company>Open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TM470 Coordination Meeting</dc:title>
  <dc:creator>Mark W</dc:creator>
  <cp:lastModifiedBy>Chris Thomson</cp:lastModifiedBy>
  <cp:revision>41</cp:revision>
  <dcterms:created xsi:type="dcterms:W3CDTF">2013-09-24T10:22:04Z</dcterms:created>
  <dcterms:modified xsi:type="dcterms:W3CDTF">2014-10-15T08:18:48Z</dcterms:modified>
</cp:coreProperties>
</file>