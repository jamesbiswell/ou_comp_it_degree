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51" r:id="rId2"/>
  </p:sldMasterIdLst>
  <p:handoutMasterIdLst>
    <p:handoutMasterId r:id="rId29"/>
  </p:handoutMasterIdLst>
  <p:sldIdLst>
    <p:sldId id="256" r:id="rId3"/>
    <p:sldId id="277" r:id="rId4"/>
    <p:sldId id="278" r:id="rId5"/>
    <p:sldId id="257" r:id="rId6"/>
    <p:sldId id="258" r:id="rId7"/>
    <p:sldId id="260" r:id="rId8"/>
    <p:sldId id="262" r:id="rId9"/>
    <p:sldId id="259" r:id="rId10"/>
    <p:sldId id="261" r:id="rId11"/>
    <p:sldId id="263" r:id="rId12"/>
    <p:sldId id="264" r:id="rId13"/>
    <p:sldId id="280" r:id="rId14"/>
    <p:sldId id="265" r:id="rId15"/>
    <p:sldId id="266" r:id="rId16"/>
    <p:sldId id="276" r:id="rId17"/>
    <p:sldId id="281" r:id="rId18"/>
    <p:sldId id="267" r:id="rId19"/>
    <p:sldId id="268" r:id="rId20"/>
    <p:sldId id="269" r:id="rId21"/>
    <p:sldId id="282" r:id="rId22"/>
    <p:sldId id="284" r:id="rId23"/>
    <p:sldId id="270" r:id="rId24"/>
    <p:sldId id="271" r:id="rId25"/>
    <p:sldId id="272" r:id="rId26"/>
    <p:sldId id="283" r:id="rId27"/>
    <p:sldId id="279" r:id="rId28"/>
  </p:sldIdLst>
  <p:sldSz cx="10460038" cy="7561263"/>
  <p:notesSz cx="6797675" cy="9926638"/>
  <p:custDataLst>
    <p:tags r:id="rId31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284A"/>
    <a:srgbClr val="EF6820"/>
    <a:srgbClr val="9FAA00"/>
    <a:srgbClr val="5C705E"/>
    <a:srgbClr val="00AFAD"/>
    <a:srgbClr val="00B1EA"/>
    <a:srgbClr val="856FB3"/>
    <a:srgbClr val="D600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96" autoAdjust="0"/>
    <p:restoredTop sz="94724" autoAdjust="0"/>
  </p:normalViewPr>
  <p:slideViewPr>
    <p:cSldViewPr>
      <p:cViewPr varScale="1">
        <p:scale>
          <a:sx n="128" d="100"/>
          <a:sy n="128" d="100"/>
        </p:scale>
        <p:origin x="-208" y="-104"/>
      </p:cViewPr>
      <p:guideLst>
        <p:guide orient="horz" pos="2381"/>
        <p:guide pos="32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printerSettings" Target="printerSettings/printerSettings1.bin"/><Relationship Id="rId31" Type="http://schemas.openxmlformats.org/officeDocument/2006/relationships/tags" Target="tags/tag1.xml"/><Relationship Id="rId32" Type="http://schemas.openxmlformats.org/officeDocument/2006/relationships/presProps" Target="presProps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17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17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AF550FC-5014-1142-8973-D3C0DBDA757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69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6855CF9-5D8D-FC41-9142-4E5A62C9147B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95288" y="3619500"/>
            <a:ext cx="6923087" cy="688975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95288" y="5724525"/>
            <a:ext cx="8362950" cy="536575"/>
          </a:xfrm>
        </p:spPr>
        <p:txBody>
          <a:bodyPr/>
          <a:lstStyle>
            <a:lvl1pPr marL="0" indent="0">
              <a:buFontTx/>
              <a:buNone/>
              <a:defRPr sz="3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  <p:pic>
        <p:nvPicPr>
          <p:cNvPr id="5140" name="Picture 20" descr="OU_masterlogo_colour_29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263" y="431800"/>
            <a:ext cx="1809750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23D966-842C-EA4F-AB1A-4282BE8D079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73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4859338"/>
            <a:ext cx="889158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500" y="3205163"/>
            <a:ext cx="889158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DFC338-4473-AF48-893D-D072FCA308A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91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2733675"/>
            <a:ext cx="4629150" cy="240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6838" y="2733675"/>
            <a:ext cx="4629150" cy="240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5CFBE9-8555-2B4E-BE00-8B1F4B65BB4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2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8" y="303213"/>
            <a:ext cx="9415462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288" y="1692275"/>
            <a:ext cx="46228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8" y="2397125"/>
            <a:ext cx="46228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13363" y="1692275"/>
            <a:ext cx="4624387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13363" y="2397125"/>
            <a:ext cx="4624387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9C54E1-B265-DF42-A4F3-3443F1F8CE0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41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4955DE-62A5-AB44-95AA-D6CC55FE669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18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C9DF75-A7EC-8A48-B060-81FC23148AE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3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8" y="301625"/>
            <a:ext cx="34417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9400" y="301625"/>
            <a:ext cx="5848350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288" y="1582738"/>
            <a:ext cx="34417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133C9A-48C0-7D48-A162-93296667198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29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9463" y="5292725"/>
            <a:ext cx="62769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49463" y="676275"/>
            <a:ext cx="62769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49463" y="5918200"/>
            <a:ext cx="62769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677708A-F0EA-4847-8EDB-FE13FF1B6FD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37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37E6EC-90A4-D545-9B3F-2B85944BE69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98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3313" y="1763713"/>
            <a:ext cx="2352675" cy="3379787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288" y="1763713"/>
            <a:ext cx="6905625" cy="3379787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FF95217-1378-814D-9087-E8BD296B937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202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63713"/>
            <a:ext cx="9410700" cy="811212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95288" y="2733675"/>
            <a:ext cx="9410700" cy="2409825"/>
          </a:xfrm>
        </p:spPr>
        <p:txBody>
          <a:bodyPr/>
          <a:lstStyle/>
          <a:p>
            <a:r>
              <a:rPr lang="en-GB" smtClean="0"/>
              <a:t>Click icon to add table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573463" y="6884988"/>
            <a:ext cx="3313112" cy="525462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494588" y="6884988"/>
            <a:ext cx="2443162" cy="525462"/>
          </a:xfrm>
        </p:spPr>
        <p:txBody>
          <a:bodyPr/>
          <a:lstStyle>
            <a:lvl1pPr>
              <a:defRPr/>
            </a:lvl1pPr>
          </a:lstStyle>
          <a:p>
            <a:fld id="{C7DE0F2A-218C-7D42-9636-4BF3862B135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050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63713"/>
            <a:ext cx="9410700" cy="811212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288" y="2733675"/>
            <a:ext cx="4629150" cy="2409825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6838" y="2733675"/>
            <a:ext cx="4629150" cy="2409825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573463" y="6884988"/>
            <a:ext cx="3313112" cy="525462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494588" y="6884988"/>
            <a:ext cx="2443162" cy="525462"/>
          </a:xfrm>
        </p:spPr>
        <p:txBody>
          <a:bodyPr/>
          <a:lstStyle>
            <a:lvl1pPr>
              <a:defRPr/>
            </a:lvl1pPr>
          </a:lstStyle>
          <a:p>
            <a:fld id="{AE18CFF9-E97B-D846-9A1F-ED29D0647DC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930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225" y="2349500"/>
            <a:ext cx="8891588" cy="1620838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8450" y="4284663"/>
            <a:ext cx="7323138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3B2766-07D2-2F47-BE9A-FA35853C393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794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063195-CEFF-3949-80B0-84FA5C45FE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432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4859338"/>
            <a:ext cx="889158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500" y="3205163"/>
            <a:ext cx="889158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68BE16-E2F2-6547-AA54-1E6550B018E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073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4068763"/>
            <a:ext cx="4629150" cy="38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6838" y="4068763"/>
            <a:ext cx="4629150" cy="38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35594F-1D4C-BE43-BCEF-DBD28640C9D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555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8" y="303213"/>
            <a:ext cx="9415462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288" y="1692275"/>
            <a:ext cx="46228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8" y="2397125"/>
            <a:ext cx="46228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13363" y="1692275"/>
            <a:ext cx="4624387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13363" y="2397125"/>
            <a:ext cx="4624387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6FD42C-A52C-4244-A249-32163FC75F9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412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22C576-687E-8740-B5C4-8B9357BC629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845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55457F-038B-774B-97F8-9A95E301C05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35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8" y="301625"/>
            <a:ext cx="34417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9400" y="301625"/>
            <a:ext cx="5848350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288" y="1582738"/>
            <a:ext cx="34417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3F62D1-EDE3-AF43-BA3A-7269661AAB6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95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9463" y="5292725"/>
            <a:ext cx="62769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49463" y="676275"/>
            <a:ext cx="62769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49463" y="5918200"/>
            <a:ext cx="62769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03BCE4-E961-CE4C-A9BF-F008976506D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669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95AF02-0C87-064A-87DC-0C0D19BADD0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5047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3313" y="2719388"/>
            <a:ext cx="2352675" cy="1733550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288" y="2719388"/>
            <a:ext cx="6905625" cy="1733550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F17F4B-3B54-9847-8EF6-4439D877603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13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763713"/>
            <a:ext cx="9410700" cy="81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Title in colour - Arial 48pt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2733675"/>
            <a:ext cx="94107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Tabbed text information in black with bullet - Arial 28pt</a:t>
            </a:r>
          </a:p>
          <a:p>
            <a:pPr lvl="1"/>
            <a:r>
              <a:rPr lang="en-GB"/>
              <a:t>Bullet point should be in the same colour as heading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884988"/>
            <a:ext cx="331311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</a:bodyPr>
          <a:lstStyle>
            <a:lvl1pPr algn="ctr" defTabSz="796925">
              <a:defRPr sz="11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94588" y="6884988"/>
            <a:ext cx="244316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</a:bodyPr>
          <a:lstStyle>
            <a:lvl1pPr algn="r" defTabSz="796925">
              <a:defRPr sz="1100">
                <a:solidFill>
                  <a:schemeClr val="tx1"/>
                </a:solidFill>
              </a:defRPr>
            </a:lvl1pPr>
          </a:lstStyle>
          <a:p>
            <a:fld id="{39B92D08-FEC4-C04C-8269-A0A6BCCAAA54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4110" name="Picture 14" descr="OU_masterlogo_colour_19mm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138" y="395288"/>
            <a:ext cx="11811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3" r:id="rId12"/>
    <p:sldLayoutId id="2147483674" r:id="rId13"/>
  </p:sldLayoutIdLst>
  <p:txStyles>
    <p:titleStyle>
      <a:lvl1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+mj-lt"/>
          <a:ea typeface="+mj-ea"/>
          <a:cs typeface="+mj-cs"/>
        </a:defRPr>
      </a:lvl1pPr>
      <a:lvl2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2pPr>
      <a:lvl3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3pPr>
      <a:lvl4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4pPr>
      <a:lvl5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5pPr>
      <a:lvl6pPr marL="457200"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6pPr>
      <a:lvl7pPr marL="914400"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7pPr>
      <a:lvl8pPr marL="1371600"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8pPr>
      <a:lvl9pPr marL="1828800"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9pPr>
    </p:titleStyle>
    <p:bodyStyle>
      <a:lvl1pPr marL="298450" indent="-298450" algn="l" defTabSz="796925" rtl="0" eaLnBrk="1" fontAlgn="base" hangingPunct="1">
        <a:spcBef>
          <a:spcPct val="20000"/>
        </a:spcBef>
        <a:spcAft>
          <a:spcPct val="0"/>
        </a:spcAft>
        <a:buClr>
          <a:srgbClr val="9FAA00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49238" algn="l" defTabSz="796925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993775" indent="-196850" algn="l" defTabSz="796925" rtl="0" eaLnBrk="1" fontAlgn="base" hangingPunct="1">
        <a:spcBef>
          <a:spcPct val="20000"/>
        </a:spcBef>
        <a:spcAft>
          <a:spcPct val="0"/>
        </a:spcAft>
        <a:buClr>
          <a:srgbClr val="9FAA00"/>
        </a:buClr>
        <a:buChar char="•"/>
        <a:defRPr sz="2800">
          <a:solidFill>
            <a:schemeClr val="tx1"/>
          </a:solidFill>
          <a:latin typeface="+mn-lt"/>
          <a:ea typeface="+mn-ea"/>
        </a:defRPr>
      </a:lvl3pPr>
      <a:lvl4pPr marL="1392238" indent="-198438" algn="l" defTabSz="796925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17875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2447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19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1591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6163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719388"/>
            <a:ext cx="9410700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Divider title in black - Arial 50pt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4068763"/>
            <a:ext cx="94107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Subheading in black - Arial 20pt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884988"/>
            <a:ext cx="331311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</a:bodyPr>
          <a:lstStyle>
            <a:lvl1pPr algn="ctr" defTabSz="796925">
              <a:defRPr sz="11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94588" y="6884988"/>
            <a:ext cx="244316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</a:bodyPr>
          <a:lstStyle>
            <a:lvl1pPr algn="r" defTabSz="796925">
              <a:defRPr sz="1100">
                <a:solidFill>
                  <a:schemeClr val="tx1"/>
                </a:solidFill>
              </a:defRPr>
            </a:lvl1pPr>
          </a:lstStyle>
          <a:p>
            <a:fld id="{7DA991BA-0B5E-F84B-B0C0-84D3E1FA64EE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51207" name="Picture 7" descr="OU_masterlogo_colour_19mm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138" y="395288"/>
            <a:ext cx="11811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</a:defRPr>
      </a:lvl1pPr>
      <a:lvl2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5pPr>
      <a:lvl6pPr marL="457200"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298450" indent="-298450" algn="l" defTabSz="796925" rtl="0" fontAlgn="base">
        <a:spcBef>
          <a:spcPct val="20000"/>
        </a:spcBef>
        <a:spcAft>
          <a:spcPct val="0"/>
        </a:spcAft>
        <a:buClr>
          <a:srgbClr val="9FAA00"/>
        </a:buClr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49238" algn="l" defTabSz="796925" rtl="0" fontAlgn="base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993775" indent="-196850" algn="l" defTabSz="796925" rtl="0" fontAlgn="base">
        <a:spcBef>
          <a:spcPct val="20000"/>
        </a:spcBef>
        <a:spcAft>
          <a:spcPct val="0"/>
        </a:spcAft>
        <a:buClr>
          <a:srgbClr val="9FAA00"/>
        </a:buClr>
        <a:buChar char="•"/>
        <a:defRPr sz="2800">
          <a:solidFill>
            <a:schemeClr val="tx1"/>
          </a:solidFill>
          <a:latin typeface="+mn-lt"/>
          <a:ea typeface="+mn-ea"/>
        </a:defRPr>
      </a:lvl3pPr>
      <a:lvl4pPr marL="1392238" indent="-198438" algn="l" defTabSz="796925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17875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2447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19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1591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6163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288" y="3619500"/>
            <a:ext cx="7427019" cy="695765"/>
          </a:xfrm>
        </p:spPr>
        <p:txBody>
          <a:bodyPr/>
          <a:lstStyle/>
          <a:p>
            <a:r>
              <a:rPr lang="en-US" dirty="0" smtClean="0"/>
              <a:t>TM354 Block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288" y="5724525"/>
            <a:ext cx="8362950" cy="541877"/>
          </a:xfrm>
        </p:spPr>
        <p:txBody>
          <a:bodyPr/>
          <a:lstStyle/>
          <a:p>
            <a:r>
              <a:rPr lang="en-US" dirty="0" smtClean="0"/>
              <a:t>Chris Thomson </a:t>
            </a:r>
            <a:r>
              <a:rPr lang="en-US" dirty="0" err="1" smtClean="0"/>
              <a:t>c.d.thomson@open.ac.uk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234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3527309"/>
          </a:xfrm>
        </p:spPr>
        <p:txBody>
          <a:bodyPr/>
          <a:lstStyle/>
          <a:p>
            <a:r>
              <a:rPr lang="en-US" dirty="0" smtClean="0"/>
              <a:t>Get to know each other a little more</a:t>
            </a:r>
          </a:p>
          <a:p>
            <a:r>
              <a:rPr lang="en-US" dirty="0" smtClean="0"/>
              <a:t>Discuss key aspects of the first 3 units</a:t>
            </a:r>
          </a:p>
          <a:p>
            <a:r>
              <a:rPr lang="en-US" dirty="0" smtClean="0"/>
              <a:t>Get an overview of the topics covered in the first 3 units</a:t>
            </a:r>
          </a:p>
          <a:p>
            <a:r>
              <a:rPr lang="en-US" dirty="0"/>
              <a:t>Look at how we begin to model software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Make sure you get the primers from the tutor group forum, and annotate them as we go along!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82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good software?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941986"/>
          </a:xfrm>
        </p:spPr>
        <p:txBody>
          <a:bodyPr/>
          <a:lstStyle/>
          <a:p>
            <a:r>
              <a:rPr lang="en-US" dirty="0" smtClean="0"/>
              <a:t>Use the tools to add words and phrases to this slide that for you define good 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9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1: </a:t>
            </a:r>
            <a:r>
              <a:rPr lang="en-US" b="1" dirty="0" smtClean="0"/>
              <a:t>Maintainability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4389084"/>
          </a:xfrm>
        </p:spPr>
        <p:txBody>
          <a:bodyPr/>
          <a:lstStyle/>
          <a:p>
            <a:r>
              <a:rPr lang="en-US" dirty="0" smtClean="0"/>
              <a:t>Legacy Systems</a:t>
            </a:r>
          </a:p>
          <a:p>
            <a:pPr lvl="1"/>
            <a:r>
              <a:rPr lang="en-US" dirty="0"/>
              <a:t>are large;</a:t>
            </a:r>
          </a:p>
          <a:p>
            <a:pPr lvl="1"/>
            <a:r>
              <a:rPr lang="en-US" dirty="0"/>
              <a:t>are critical to the business;</a:t>
            </a:r>
          </a:p>
          <a:p>
            <a:pPr lvl="1"/>
            <a:r>
              <a:rPr lang="en-US" dirty="0"/>
              <a:t>have been changed a number of times since their inception;</a:t>
            </a:r>
          </a:p>
          <a:p>
            <a:pPr lvl="1"/>
            <a:r>
              <a:rPr lang="en-US" dirty="0"/>
              <a:t>are difficult to understand because of either a lack of documentation about their internal structure or a lack of experience within the group responsible for them;</a:t>
            </a:r>
          </a:p>
          <a:p>
            <a:pPr lvl="1"/>
            <a:r>
              <a:rPr lang="en-US" dirty="0"/>
              <a:t>are difficult to maintain because of the above factors.</a:t>
            </a:r>
          </a:p>
        </p:txBody>
      </p:sp>
    </p:spTree>
    <p:extLst>
      <p:ext uri="{BB962C8B-B14F-4D97-AF65-F5344CB8AC3E}">
        <p14:creationId xmlns:p14="http://schemas.microsoft.com/office/powerpoint/2010/main" val="307407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2: </a:t>
            </a:r>
            <a:r>
              <a:rPr lang="en-US" b="1" dirty="0" smtClean="0"/>
              <a:t>Decomposition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3268777"/>
          </a:xfrm>
        </p:spPr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here </a:t>
            </a:r>
            <a:r>
              <a:rPr lang="en-US" dirty="0"/>
              <a:t>is a limit to how much we can take in and understand at any one </a:t>
            </a:r>
            <a:r>
              <a:rPr lang="en-US" dirty="0" smtClean="0"/>
              <a:t>time</a:t>
            </a:r>
          </a:p>
          <a:p>
            <a:r>
              <a:rPr lang="en-US" dirty="0" smtClean="0"/>
              <a:t>We </a:t>
            </a:r>
            <a:r>
              <a:rPr lang="en-US" dirty="0"/>
              <a:t>can decompose a problem into smaller and smaller parts or chunks until each one can be comprehended or dealt with by an individual</a:t>
            </a:r>
            <a:r>
              <a:rPr lang="en-US" dirty="0" smtClean="0"/>
              <a:t>.</a:t>
            </a:r>
          </a:p>
          <a:p>
            <a:r>
              <a:rPr lang="en-US" dirty="0"/>
              <a:t>We will expose some form of hierarchy in our attempt to simplify a complex system.</a:t>
            </a:r>
          </a:p>
        </p:txBody>
      </p:sp>
    </p:spTree>
    <p:extLst>
      <p:ext uri="{BB962C8B-B14F-4D97-AF65-F5344CB8AC3E}">
        <p14:creationId xmlns:p14="http://schemas.microsoft.com/office/powerpoint/2010/main" val="18600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1: </a:t>
            </a:r>
            <a:r>
              <a:rPr lang="en-US" b="1" dirty="0" smtClean="0"/>
              <a:t>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2320825"/>
          </a:xfrm>
        </p:spPr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interface to a module defines how other modules can use that </a:t>
            </a:r>
            <a:r>
              <a:rPr lang="en-US" dirty="0" smtClean="0"/>
              <a:t>module</a:t>
            </a:r>
          </a:p>
          <a:p>
            <a:r>
              <a:rPr lang="en-US" dirty="0"/>
              <a:t>From an object-oriented point of view, we say that the interface to the class Date is an encapsulation of what we know about Date.</a:t>
            </a:r>
          </a:p>
        </p:txBody>
      </p:sp>
    </p:spTree>
    <p:extLst>
      <p:ext uri="{BB962C8B-B14F-4D97-AF65-F5344CB8AC3E}">
        <p14:creationId xmlns:p14="http://schemas.microsoft.com/office/powerpoint/2010/main" val="398769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1: </a:t>
            </a:r>
            <a:r>
              <a:rPr lang="en-US" b="1" dirty="0" smtClean="0"/>
              <a:t>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941986"/>
          </a:xfrm>
        </p:spPr>
        <p:txBody>
          <a:bodyPr/>
          <a:lstStyle/>
          <a:p>
            <a:r>
              <a:rPr lang="en-US" dirty="0"/>
              <a:t>is a particular way of viewing a complex problem to arrive at some useful decomposition of that problem. </a:t>
            </a:r>
          </a:p>
        </p:txBody>
      </p:sp>
    </p:spTree>
    <p:extLst>
      <p:ext uri="{BB962C8B-B14F-4D97-AF65-F5344CB8AC3E}">
        <p14:creationId xmlns:p14="http://schemas.microsoft.com/office/powerpoint/2010/main" val="274974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1: </a:t>
            </a:r>
            <a:r>
              <a:rPr lang="en-US" b="1" dirty="0" smtClean="0"/>
              <a:t>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976115"/>
          </a:xfrm>
        </p:spPr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degree of interdependence among the different components of a system</a:t>
            </a:r>
            <a:r>
              <a:rPr lang="en-US" dirty="0" smtClean="0"/>
              <a:t>.</a:t>
            </a:r>
          </a:p>
          <a:p>
            <a:r>
              <a:rPr lang="en-US" dirty="0"/>
              <a:t>A depends on module B, which depends on module </a:t>
            </a:r>
            <a:r>
              <a:rPr lang="en-US" dirty="0" smtClean="0"/>
              <a:t>C</a:t>
            </a:r>
          </a:p>
          <a:p>
            <a:r>
              <a:rPr lang="en-US" dirty="0" smtClean="0"/>
              <a:t>Sometimes this is circular.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1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1: </a:t>
            </a:r>
            <a:r>
              <a:rPr lang="en-US" b="1" dirty="0" smtClean="0"/>
              <a:t>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2320825"/>
          </a:xfrm>
        </p:spPr>
        <p:txBody>
          <a:bodyPr/>
          <a:lstStyle/>
          <a:p>
            <a:r>
              <a:rPr lang="en-US" dirty="0"/>
              <a:t>is a way of describing how closely the activities within a single module are related to each other</a:t>
            </a:r>
            <a:r>
              <a:rPr lang="en-US" dirty="0" smtClean="0"/>
              <a:t>.</a:t>
            </a:r>
          </a:p>
          <a:p>
            <a:r>
              <a:rPr lang="en-US" dirty="0"/>
              <a:t>A highly cohesive module performs one task or achieves a single objective: ‘do one thing and do it well’ is a useful motto to apply.</a:t>
            </a:r>
          </a:p>
        </p:txBody>
      </p:sp>
    </p:spTree>
    <p:extLst>
      <p:ext uri="{BB962C8B-B14F-4D97-AF65-F5344CB8AC3E}">
        <p14:creationId xmlns:p14="http://schemas.microsoft.com/office/powerpoint/2010/main" val="3058772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59882"/>
            <a:ext cx="9410700" cy="818875"/>
          </a:xfrm>
        </p:spPr>
        <p:txBody>
          <a:bodyPr/>
          <a:lstStyle/>
          <a:p>
            <a:r>
              <a:rPr lang="en-US" dirty="0" smtClean="0"/>
              <a:t>Unit 1: </a:t>
            </a:r>
            <a:r>
              <a:rPr lang="en-US" b="1" dirty="0" smtClean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803760"/>
          </a:xfrm>
        </p:spPr>
        <p:txBody>
          <a:bodyPr/>
          <a:lstStyle/>
          <a:p>
            <a:r>
              <a:rPr lang="en-US" dirty="0"/>
              <a:t>The term architecture, in software development, is associated with the overall structure of a software system or, at a higher level, a family of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3846659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852214"/>
            <a:ext cx="9410700" cy="634210"/>
          </a:xfrm>
        </p:spPr>
        <p:txBody>
          <a:bodyPr/>
          <a:lstStyle/>
          <a:p>
            <a:r>
              <a:rPr lang="en-US" sz="3600" dirty="0" smtClean="0"/>
              <a:t>Unit 1: </a:t>
            </a:r>
            <a:r>
              <a:rPr lang="en-US" sz="3600" b="1" dirty="0"/>
              <a:t>Software development </a:t>
            </a:r>
            <a:r>
              <a:rPr lang="en-US" sz="3600" b="1" dirty="0" smtClean="0"/>
              <a:t>processes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2320825"/>
          </a:xfrm>
        </p:spPr>
        <p:txBody>
          <a:bodyPr/>
          <a:lstStyle/>
          <a:p>
            <a:r>
              <a:rPr lang="en-US" dirty="0"/>
              <a:t>A development process is a set of rules that define how a software development project should be carried out.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identification of a set of software engineering activities associated with the development of software is the key to meeting the potential diversity of users’ needs. </a:t>
            </a:r>
          </a:p>
        </p:txBody>
      </p:sp>
    </p:spTree>
    <p:extLst>
      <p:ext uri="{BB962C8B-B14F-4D97-AF65-F5344CB8AC3E}">
        <p14:creationId xmlns:p14="http://schemas.microsoft.com/office/powerpoint/2010/main" val="317092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Discussion: Plan driven </a:t>
            </a:r>
            <a:r>
              <a:rPr lang="en-US" dirty="0" err="1" smtClean="0"/>
              <a:t>vs</a:t>
            </a:r>
            <a:r>
              <a:rPr lang="en-US" dirty="0" smtClean="0"/>
              <a:t> Agile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4130552"/>
          </a:xfrm>
        </p:spPr>
        <p:txBody>
          <a:bodyPr/>
          <a:lstStyle/>
          <a:p>
            <a:r>
              <a:rPr lang="en-US" dirty="0" smtClean="0"/>
              <a:t>What experience do you have?</a:t>
            </a:r>
          </a:p>
          <a:p>
            <a:pPr lvl="1"/>
            <a:r>
              <a:rPr lang="en-US" dirty="0" smtClean="0"/>
              <a:t>As a user?</a:t>
            </a:r>
          </a:p>
          <a:p>
            <a:pPr lvl="1"/>
            <a:r>
              <a:rPr lang="en-US" dirty="0" smtClean="0"/>
              <a:t>As a developer?</a:t>
            </a:r>
          </a:p>
          <a:p>
            <a:pPr lvl="1"/>
            <a:r>
              <a:rPr lang="en-US" dirty="0" smtClean="0"/>
              <a:t>As a citizen?</a:t>
            </a:r>
          </a:p>
          <a:p>
            <a:r>
              <a:rPr lang="en-US" dirty="0" smtClean="0"/>
              <a:t>Some starter questions:</a:t>
            </a:r>
          </a:p>
          <a:p>
            <a:pPr lvl="1"/>
            <a:r>
              <a:rPr lang="en-US" dirty="0" smtClean="0"/>
              <a:t>What do you think drives software development?</a:t>
            </a:r>
          </a:p>
          <a:p>
            <a:pPr lvl="1"/>
            <a:r>
              <a:rPr lang="en-US" dirty="0" smtClean="0"/>
              <a:t>What problems do developers face?</a:t>
            </a:r>
          </a:p>
          <a:p>
            <a:pPr lvl="1"/>
            <a:r>
              <a:rPr lang="en-US" dirty="0" smtClean="0"/>
              <a:t>How do developers deliver a product?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74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1: </a:t>
            </a:r>
            <a:r>
              <a:rPr lang="en-US" b="1" dirty="0" smtClean="0"/>
              <a:t>Traceability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3096422"/>
          </a:xfrm>
        </p:spPr>
        <p:txBody>
          <a:bodyPr/>
          <a:lstStyle/>
          <a:p>
            <a:r>
              <a:rPr lang="en-US" dirty="0"/>
              <a:t>The ability to trace the history of each requirement is known as traceability. Among other things, traceability is essential for dispute resolution (knowing what was agreed during a project), for seeing the effect, later in the project, of changing or deleting requirements, and for demonstrating that you have dealt with each requirement.</a:t>
            </a:r>
          </a:p>
        </p:txBody>
      </p:sp>
    </p:spTree>
    <p:extLst>
      <p:ext uri="{BB962C8B-B14F-4D97-AF65-F5344CB8AC3E}">
        <p14:creationId xmlns:p14="http://schemas.microsoft.com/office/powerpoint/2010/main" val="2320066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1: </a:t>
            </a:r>
            <a:r>
              <a:rPr lang="en-US" b="1" dirty="0" smtClean="0"/>
              <a:t>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3785842"/>
          </a:xfrm>
        </p:spPr>
        <p:txBody>
          <a:bodyPr/>
          <a:lstStyle/>
          <a:p>
            <a:r>
              <a:rPr lang="en-US" dirty="0"/>
              <a:t>In terms of the development of software systems, models are:</a:t>
            </a:r>
          </a:p>
          <a:p>
            <a:pPr lvl="1"/>
            <a:r>
              <a:rPr lang="en-US" dirty="0"/>
              <a:t>a way of understanding the problems involved;</a:t>
            </a:r>
          </a:p>
          <a:p>
            <a:pPr lvl="1"/>
            <a:r>
              <a:rPr lang="en-US" dirty="0"/>
              <a:t>an aid to communication among those involved, especially between the developer and the user, as part of some deliverable;</a:t>
            </a:r>
          </a:p>
          <a:p>
            <a:pPr lvl="1"/>
            <a:r>
              <a:rPr lang="en-US" dirty="0"/>
              <a:t>a component of the methods used in development activities such as analysis and design.</a:t>
            </a:r>
          </a:p>
        </p:txBody>
      </p:sp>
    </p:spTree>
    <p:extLst>
      <p:ext uri="{BB962C8B-B14F-4D97-AF65-F5344CB8AC3E}">
        <p14:creationId xmlns:p14="http://schemas.microsoft.com/office/powerpoint/2010/main" val="2409484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4: </a:t>
            </a:r>
            <a:r>
              <a:rPr lang="en-US" b="1" dirty="0" smtClean="0"/>
              <a:t>The case study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459051"/>
          </a:xfrm>
        </p:spPr>
        <p:txBody>
          <a:bodyPr/>
          <a:lstStyle/>
          <a:p>
            <a:r>
              <a:rPr lang="en-US" dirty="0" smtClean="0"/>
              <a:t>Examples shown in a more integrated way</a:t>
            </a:r>
          </a:p>
          <a:p>
            <a:r>
              <a:rPr lang="en-US" dirty="0" smtClean="0"/>
              <a:t>Read along side the units to see how a complete problem is tackled.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504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Discussion: Defining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459051"/>
          </a:xfrm>
        </p:spPr>
        <p:txBody>
          <a:bodyPr/>
          <a:lstStyle/>
          <a:p>
            <a:r>
              <a:rPr lang="en-US" dirty="0" smtClean="0"/>
              <a:t>What is the basis that we can use to describe software? </a:t>
            </a:r>
          </a:p>
          <a:p>
            <a:r>
              <a:rPr lang="en-US" dirty="0" smtClean="0"/>
              <a:t>What is the relationship between stakeholders and the proposed software?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63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59882"/>
            <a:ext cx="9410700" cy="818875"/>
          </a:xfrm>
        </p:spPr>
        <p:txBody>
          <a:bodyPr/>
          <a:lstStyle/>
          <a:p>
            <a:r>
              <a:rPr lang="en-US" dirty="0" smtClean="0"/>
              <a:t>Unit 2: </a:t>
            </a:r>
            <a:r>
              <a:rPr lang="en-US" b="1" dirty="0"/>
              <a:t>Functional </a:t>
            </a:r>
            <a:r>
              <a:rPr lang="en-US" b="1" dirty="0" smtClean="0"/>
              <a:t>Requirements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2924067"/>
          </a:xfrm>
        </p:spPr>
        <p:txBody>
          <a:bodyPr/>
          <a:lstStyle/>
          <a:p>
            <a:r>
              <a:rPr lang="en-US" dirty="0"/>
              <a:t>specifications of the product’s functionality;</a:t>
            </a:r>
          </a:p>
          <a:p>
            <a:r>
              <a:rPr lang="en-US" dirty="0"/>
              <a:t>actions that the product must take – check, calculate, record, retrieve etc.;</a:t>
            </a:r>
          </a:p>
          <a:p>
            <a:r>
              <a:rPr lang="en-US" dirty="0"/>
              <a:t>derived from the fundamental purpose of the product;</a:t>
            </a:r>
          </a:p>
          <a:p>
            <a:r>
              <a:rPr lang="en-US" dirty="0"/>
              <a:t>not a quality – for example, ‘fast’ is a quality, and is therefore a non-functional requirement.</a:t>
            </a:r>
          </a:p>
        </p:txBody>
      </p:sp>
    </p:spTree>
    <p:extLst>
      <p:ext uri="{BB962C8B-B14F-4D97-AF65-F5344CB8AC3E}">
        <p14:creationId xmlns:p14="http://schemas.microsoft.com/office/powerpoint/2010/main" val="2874386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59881"/>
            <a:ext cx="9410700" cy="818875"/>
          </a:xfrm>
        </p:spPr>
        <p:txBody>
          <a:bodyPr/>
          <a:lstStyle/>
          <a:p>
            <a:r>
              <a:rPr lang="en-US" dirty="0" smtClean="0"/>
              <a:t>Unit 2: </a:t>
            </a:r>
            <a:r>
              <a:rPr lang="en-US" sz="4000" b="1" dirty="0" smtClean="0"/>
              <a:t>Non-functional requirements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896594"/>
            <a:ext cx="9410700" cy="4124397"/>
          </a:xfrm>
        </p:spPr>
        <p:txBody>
          <a:bodyPr/>
          <a:lstStyle/>
          <a:p>
            <a:r>
              <a:rPr lang="en-US" sz="1800" dirty="0"/>
              <a:t>look-and-feel requirements – the spirit of the product’s appearance; </a:t>
            </a:r>
          </a:p>
          <a:p>
            <a:r>
              <a:rPr lang="en-US" sz="1800" dirty="0"/>
              <a:t>usability requirements – the product’s ease of use, and any special usability considerations;</a:t>
            </a:r>
          </a:p>
          <a:p>
            <a:r>
              <a:rPr lang="en-US" sz="1800" dirty="0"/>
              <a:t>performance requirements – how fast, how safe and how accurate the functionality must be;</a:t>
            </a:r>
          </a:p>
          <a:p>
            <a:r>
              <a:rPr lang="en-US" sz="1800" dirty="0"/>
              <a:t>operational requirements – the operating environment of the product, and what considerations must be made for this environment;</a:t>
            </a:r>
          </a:p>
          <a:p>
            <a:r>
              <a:rPr lang="en-US" sz="1800" dirty="0"/>
              <a:t>maintainability and portability requirements – expected changes, and the time allowed to make them;</a:t>
            </a:r>
          </a:p>
          <a:p>
            <a:r>
              <a:rPr lang="en-US" sz="1800" dirty="0"/>
              <a:t>security requirements – the security and confidentiality of the product; </a:t>
            </a:r>
          </a:p>
          <a:p>
            <a:r>
              <a:rPr lang="en-US" sz="1800" dirty="0"/>
              <a:t>cultural and political requirements – special requirements that come about</a:t>
            </a:r>
          </a:p>
          <a:p>
            <a:r>
              <a:rPr lang="en-US" sz="1800" dirty="0"/>
              <a:t>because of the people involved in the product’s development and operation; </a:t>
            </a:r>
          </a:p>
          <a:p>
            <a:r>
              <a:rPr lang="en-US" sz="1800" dirty="0"/>
              <a:t>legal requirements – the laws and standards that apply to the product.</a:t>
            </a:r>
          </a:p>
        </p:txBody>
      </p:sp>
    </p:spTree>
    <p:extLst>
      <p:ext uri="{BB962C8B-B14F-4D97-AF65-F5344CB8AC3E}">
        <p14:creationId xmlns:p14="http://schemas.microsoft.com/office/powerpoint/2010/main" val="745391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475" y="180231"/>
            <a:ext cx="9410700" cy="811212"/>
          </a:xfrm>
        </p:spPr>
        <p:txBody>
          <a:bodyPr/>
          <a:lstStyle/>
          <a:p>
            <a:r>
              <a:rPr lang="en-US" dirty="0" smtClean="0"/>
              <a:t>Unit 3: Use case diagram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07" y="1044327"/>
            <a:ext cx="8868209" cy="623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69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 check: </a:t>
            </a:r>
            <a:r>
              <a:rPr lang="en-US" dirty="0" smtClean="0"/>
              <a:t>Use case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889938"/>
          </a:xfrm>
        </p:spPr>
        <p:txBody>
          <a:bodyPr/>
          <a:lstStyle/>
          <a:p>
            <a:r>
              <a:rPr lang="en-US" dirty="0" smtClean="0"/>
              <a:t>What is generalization, when might we want to use it and why?</a:t>
            </a:r>
          </a:p>
          <a:p>
            <a:r>
              <a:rPr lang="en-US" dirty="0" smtClean="0"/>
              <a:t>What are includes and extends, </a:t>
            </a:r>
            <a:r>
              <a:rPr lang="en-US" dirty="0"/>
              <a:t>when might we want to use </a:t>
            </a:r>
            <a:r>
              <a:rPr lang="en-US" dirty="0" smtClean="0"/>
              <a:t>them </a:t>
            </a:r>
            <a:r>
              <a:rPr lang="en-US" dirty="0"/>
              <a:t>and why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647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54522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How can use case analysis be made agile?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608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467" y="180231"/>
            <a:ext cx="9410700" cy="811212"/>
          </a:xfrm>
        </p:spPr>
        <p:txBody>
          <a:bodyPr/>
          <a:lstStyle/>
          <a:p>
            <a:r>
              <a:rPr lang="en-US" dirty="0" smtClean="0"/>
              <a:t>Unit 3: Use Case Scenario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1467" y="1404367"/>
            <a:ext cx="9865096" cy="581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Identifier and name:</a:t>
            </a:r>
            <a:r>
              <a:rPr lang="en-US" sz="1800" dirty="0">
                <a:solidFill>
                  <a:schemeClr val="tx1"/>
                </a:solidFill>
              </a:rPr>
              <a:t> 	</a:t>
            </a:r>
            <a:r>
              <a:rPr lang="es-ES_tradnl" sz="1800" dirty="0">
                <a:solidFill>
                  <a:schemeClr val="tx1"/>
                </a:solidFill>
              </a:rPr>
              <a:t>UC2 cancel </a:t>
            </a:r>
            <a:r>
              <a:rPr lang="es-ES_tradnl" sz="1800" dirty="0" err="1">
                <a:solidFill>
                  <a:schemeClr val="tx1"/>
                </a:solidFill>
              </a:rPr>
              <a:t>reservation</a:t>
            </a:r>
            <a:r>
              <a:rPr lang="en-US" sz="1800" dirty="0">
                <a:solidFill>
                  <a:schemeClr val="tx1"/>
                </a:solidFill>
              </a:rPr>
              <a:t/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it-IT" sz="1800" b="1" dirty="0" err="1">
                <a:solidFill>
                  <a:schemeClr val="tx1"/>
                </a:solidFill>
              </a:rPr>
              <a:t>Initiator</a:t>
            </a:r>
            <a:r>
              <a:rPr lang="en-US" sz="1800" b="1" dirty="0">
                <a:solidFill>
                  <a:schemeClr val="tx1"/>
                </a:solidFill>
              </a:rPr>
              <a:t>: 		</a:t>
            </a:r>
            <a:r>
              <a:rPr lang="en-US" sz="1800" dirty="0" smtClean="0">
                <a:solidFill>
                  <a:schemeClr val="tx1"/>
                </a:solidFill>
              </a:rPr>
              <a:t>Receptionist </a:t>
            </a:r>
            <a:r>
              <a:rPr lang="en-US" sz="1800" dirty="0">
                <a:solidFill>
                  <a:schemeClr val="tx1"/>
                </a:solidFill>
              </a:rPr>
              <a:t>or </a:t>
            </a:r>
            <a:r>
              <a:rPr lang="en-US" sz="1800" dirty="0" err="1">
                <a:solidFill>
                  <a:schemeClr val="tx1"/>
                </a:solidFill>
              </a:rPr>
              <a:t>Reserver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Goal: 		</a:t>
            </a:r>
            <a:r>
              <a:rPr lang="en-US" sz="1800" b="1" dirty="0" smtClean="0">
                <a:solidFill>
                  <a:schemeClr val="tx1"/>
                </a:solidFill>
              </a:rPr>
              <a:t>	</a:t>
            </a:r>
            <a:r>
              <a:rPr lang="pt-PT" sz="1800" dirty="0" smtClean="0">
                <a:solidFill>
                  <a:schemeClr val="tx1"/>
                </a:solidFill>
              </a:rPr>
              <a:t>A </a:t>
            </a:r>
            <a:r>
              <a:rPr lang="pt-PT" sz="1800" dirty="0" err="1">
                <a:solidFill>
                  <a:schemeClr val="tx1"/>
                </a:solidFill>
              </a:rPr>
              <a:t>guest</a:t>
            </a:r>
            <a:r>
              <a:rPr lang="fr-FR" sz="1800" dirty="0">
                <a:solidFill>
                  <a:schemeClr val="tx1"/>
                </a:solidFill>
              </a:rPr>
              <a:t>’</a:t>
            </a:r>
            <a:r>
              <a:rPr lang="en-US" sz="1800" dirty="0">
                <a:solidFill>
                  <a:schemeClr val="tx1"/>
                </a:solidFill>
              </a:rPr>
              <a:t>s reservation of a room at a hotel is cancelled.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it-IT" sz="1800" b="1" dirty="0" err="1">
                <a:solidFill>
                  <a:schemeClr val="tx1"/>
                </a:solidFill>
              </a:rPr>
              <a:t>Precondition</a:t>
            </a:r>
            <a:r>
              <a:rPr lang="en-US" sz="1800" b="1" dirty="0">
                <a:solidFill>
                  <a:schemeClr val="tx1"/>
                </a:solidFill>
              </a:rPr>
              <a:t>: </a:t>
            </a:r>
            <a:r>
              <a:rPr lang="en-US" sz="1800" dirty="0">
                <a:solidFill>
                  <a:schemeClr val="tx1"/>
                </a:solidFill>
              </a:rPr>
              <a:t>There is an active reservation (in the future and not cancelled) for a room at a hotel for a guest with a reservation number.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b="1" dirty="0" err="1">
                <a:solidFill>
                  <a:schemeClr val="tx1"/>
                </a:solidFill>
              </a:rPr>
              <a:t>Postcondition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r>
              <a:rPr lang="en-US" sz="1800" dirty="0">
                <a:solidFill>
                  <a:schemeClr val="tx1"/>
                </a:solidFill>
              </a:rPr>
              <a:t> The reservation will have been cancelled, the allocated room will be freed, and a charge to the credit card will have been made if the cancellation was initiated within 24 hours of the start of the reservation.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Assumptions: 		</a:t>
            </a:r>
            <a:r>
              <a:rPr lang="en-US" sz="1800" dirty="0">
                <a:solidFill>
                  <a:schemeClr val="tx1"/>
                </a:solidFill>
              </a:rPr>
              <a:t>The expected initiator is a receptionist or </a:t>
            </a:r>
            <a:r>
              <a:rPr lang="en-US" sz="1800" dirty="0" err="1">
                <a:solidFill>
                  <a:schemeClr val="tx1"/>
                </a:solidFill>
              </a:rPr>
              <a:t>reserver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Main success scenario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	1  The receptionist/</a:t>
            </a:r>
            <a:r>
              <a:rPr lang="en-US" sz="1800" dirty="0" err="1">
                <a:solidFill>
                  <a:schemeClr val="tx1"/>
                </a:solidFill>
              </a:rPr>
              <a:t>reserver</a:t>
            </a:r>
            <a:r>
              <a:rPr lang="en-US" sz="1800" dirty="0">
                <a:solidFill>
                  <a:schemeClr val="tx1"/>
                </a:solidFill>
              </a:rPr>
              <a:t> requests the cancellation of a reservation. 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	2  The receptionist/</a:t>
            </a:r>
            <a:r>
              <a:rPr lang="en-US" sz="1800" dirty="0" err="1">
                <a:solidFill>
                  <a:schemeClr val="tx1"/>
                </a:solidFill>
              </a:rPr>
              <a:t>reserver</a:t>
            </a:r>
            <a:r>
              <a:rPr lang="en-US" sz="1800" dirty="0">
                <a:solidFill>
                  <a:schemeClr val="tx1"/>
                </a:solidFill>
              </a:rPr>
              <a:t> enters the reservation number, or the dates, name and address. 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	3  The hotel system retrieves the corresponding reservation. 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	4  The hotel system frees the allocated room. 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	5  The receptionist/</a:t>
            </a:r>
            <a:r>
              <a:rPr lang="en-US" sz="1800" dirty="0" err="1">
                <a:solidFill>
                  <a:schemeClr val="tx1"/>
                </a:solidFill>
              </a:rPr>
              <a:t>reserver</a:t>
            </a:r>
            <a:r>
              <a:rPr lang="en-US" sz="1800" dirty="0">
                <a:solidFill>
                  <a:schemeClr val="tx1"/>
                </a:solidFill>
              </a:rPr>
              <a:t> confirms the cancellation. 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	6  The reservation is cancelled, and the hotel system informs the receptionist/</a:t>
            </a:r>
            <a:r>
              <a:rPr lang="en-US" sz="1800" dirty="0" err="1">
                <a:solidFill>
                  <a:schemeClr val="tx1"/>
                </a:solidFill>
              </a:rPr>
              <a:t>reserver</a:t>
            </a:r>
            <a:r>
              <a:rPr lang="en-US" sz="1800" dirty="0">
                <a:solidFill>
                  <a:schemeClr val="tx1"/>
                </a:solidFill>
              </a:rPr>
              <a:t> of the cancellation. 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Extensions</a:t>
            </a:r>
            <a:endParaRPr lang="en-GB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6.a.1 If the cancellation was initiated within 24 hours of the beginning of the reservation, the hotel system charges the credit card whose details are kept in the reservation.</a:t>
            </a:r>
            <a:endParaRPr lang="en-GB" sz="18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532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467" y="252239"/>
            <a:ext cx="9410700" cy="811212"/>
          </a:xfrm>
        </p:spPr>
        <p:txBody>
          <a:bodyPr/>
          <a:lstStyle/>
          <a:p>
            <a:r>
              <a:rPr lang="en-US" dirty="0" smtClean="0"/>
              <a:t>Unit 3: Activity Diagram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91" y="1044327"/>
            <a:ext cx="9505056" cy="1278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62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91" y="-5436393"/>
            <a:ext cx="9585771" cy="1289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29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 check: </a:t>
            </a:r>
            <a:r>
              <a:rPr lang="en-US" dirty="0" smtClean="0"/>
              <a:t>activity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976115"/>
          </a:xfrm>
        </p:spPr>
        <p:txBody>
          <a:bodyPr/>
          <a:lstStyle/>
          <a:p>
            <a:r>
              <a:rPr lang="en-US" dirty="0" smtClean="0"/>
              <a:t>What is the difference between decision nodes and synchronization bars?</a:t>
            </a:r>
          </a:p>
          <a:p>
            <a:r>
              <a:rPr lang="en-US" dirty="0" smtClean="0"/>
              <a:t>What is a swim lane?</a:t>
            </a:r>
          </a:p>
          <a:p>
            <a:r>
              <a:rPr lang="en-US" dirty="0" smtClean="0"/>
              <a:t>What is </a:t>
            </a:r>
            <a:r>
              <a:rPr lang="en-US" smtClean="0"/>
              <a:t>a guard?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02132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tutorial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545228"/>
          </a:xfrm>
        </p:spPr>
        <p:txBody>
          <a:bodyPr/>
          <a:lstStyle/>
          <a:p>
            <a:r>
              <a:rPr lang="en-US" dirty="0" smtClean="0"/>
              <a:t>Work though TMA style questions as a group.</a:t>
            </a:r>
          </a:p>
          <a:p>
            <a:r>
              <a:rPr lang="en-US" dirty="0" smtClean="0"/>
              <a:t>Identify common errors that students make.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8162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U">
  <a:themeElements>
    <a:clrScheme name="OU PowerPoin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U PowerPoin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5208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000" b="0" i="0" u="none" strike="noStrike" cap="none" normalizeH="0" baseline="0">
            <a:ln>
              <a:noFill/>
            </a:ln>
            <a:solidFill>
              <a:srgbClr val="E3284A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5208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000" b="0" i="0" u="none" strike="noStrike" cap="none" normalizeH="0" baseline="0">
            <a:ln>
              <a:noFill/>
            </a:ln>
            <a:solidFill>
              <a:srgbClr val="E3284A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OU PowerPoi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2">
        <a:dk1>
          <a:srgbClr val="000000"/>
        </a:dk1>
        <a:lt1>
          <a:srgbClr val="D60077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8AABD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3">
        <a:dk1>
          <a:srgbClr val="000000"/>
        </a:dk1>
        <a:lt1>
          <a:srgbClr val="FFD1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E5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4">
        <a:dk1>
          <a:srgbClr val="000000"/>
        </a:dk1>
        <a:lt1>
          <a:srgbClr val="9FAA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DD2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5">
        <a:dk1>
          <a:srgbClr val="000000"/>
        </a:dk1>
        <a:lt1>
          <a:srgbClr val="00AFAD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D4D3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6">
        <a:dk1>
          <a:srgbClr val="000000"/>
        </a:dk1>
        <a:lt1>
          <a:srgbClr val="5C705E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B5BBB6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7">
        <a:dk1>
          <a:srgbClr val="000000"/>
        </a:dk1>
        <a:lt1>
          <a:srgbClr val="EF682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6B9AB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8">
        <a:dk1>
          <a:srgbClr val="000000"/>
        </a:dk1>
        <a:lt1>
          <a:srgbClr val="E3284A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FACB1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9">
        <a:dk1>
          <a:srgbClr val="000000"/>
        </a:dk1>
        <a:lt1>
          <a:srgbClr val="856FB3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2BBD6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10">
        <a:dk1>
          <a:srgbClr val="000000"/>
        </a:dk1>
        <a:lt1>
          <a:srgbClr val="0000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A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11">
        <a:dk1>
          <a:srgbClr val="000000"/>
        </a:dk1>
        <a:lt1>
          <a:srgbClr val="8C8C8C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5C5C5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vider">
  <a:themeElements>
    <a:clrScheme name="Divid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vider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5208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000" b="0" i="0" u="none" strike="noStrike" cap="none" normalizeH="0" baseline="0">
            <a:ln>
              <a:noFill/>
            </a:ln>
            <a:solidFill>
              <a:srgbClr val="E3284A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5208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000" b="0" i="0" u="none" strike="noStrike" cap="none" normalizeH="0" baseline="0">
            <a:ln>
              <a:noFill/>
            </a:ln>
            <a:solidFill>
              <a:srgbClr val="E3284A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ivid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2">
        <a:dk1>
          <a:srgbClr val="000000"/>
        </a:dk1>
        <a:lt1>
          <a:srgbClr val="D60077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8AABD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3">
        <a:dk1>
          <a:srgbClr val="000000"/>
        </a:dk1>
        <a:lt1>
          <a:srgbClr val="92C9EB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7E1F3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4">
        <a:dk1>
          <a:srgbClr val="000000"/>
        </a:dk1>
        <a:lt1>
          <a:srgbClr val="FFD1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E5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5">
        <a:dk1>
          <a:srgbClr val="000000"/>
        </a:dk1>
        <a:lt1>
          <a:srgbClr val="9FAA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DD2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6">
        <a:dk1>
          <a:srgbClr val="000000"/>
        </a:dk1>
        <a:lt1>
          <a:srgbClr val="00AFAD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D4D3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7">
        <a:dk1>
          <a:srgbClr val="000000"/>
        </a:dk1>
        <a:lt1>
          <a:srgbClr val="5C705E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B5BBB6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8">
        <a:dk1>
          <a:srgbClr val="000000"/>
        </a:dk1>
        <a:lt1>
          <a:srgbClr val="780032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BEAAAD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9">
        <a:dk1>
          <a:srgbClr val="000000"/>
        </a:dk1>
        <a:lt1>
          <a:srgbClr val="002E63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DB7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0">
        <a:dk1>
          <a:srgbClr val="000000"/>
        </a:dk1>
        <a:lt1>
          <a:srgbClr val="EF682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6B9AB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1">
        <a:dk1>
          <a:srgbClr val="000000"/>
        </a:dk1>
        <a:lt1>
          <a:srgbClr val="E3284A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FACB1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2">
        <a:dk1>
          <a:srgbClr val="000000"/>
        </a:dk1>
        <a:lt1>
          <a:srgbClr val="856FB3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2BBD6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3">
        <a:dk1>
          <a:srgbClr val="000000"/>
        </a:dk1>
        <a:lt1>
          <a:srgbClr val="CFC285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4DDC2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4">
        <a:dk1>
          <a:srgbClr val="000000"/>
        </a:dk1>
        <a:lt1>
          <a:srgbClr val="0000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A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5">
        <a:dk1>
          <a:srgbClr val="000000"/>
        </a:dk1>
        <a:lt1>
          <a:srgbClr val="8C8C8C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5C5C5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OU.potx</Template>
  <TotalTime>3914</TotalTime>
  <Words>988</Words>
  <Application>Microsoft Macintosh PowerPoint</Application>
  <PresentationFormat>Custom</PresentationFormat>
  <Paragraphs>104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OU</vt:lpstr>
      <vt:lpstr>Divider</vt:lpstr>
      <vt:lpstr>TM354 Block 1</vt:lpstr>
      <vt:lpstr>Plan</vt:lpstr>
      <vt:lpstr>What is good software?</vt:lpstr>
      <vt:lpstr>Unit 1: Maintainability</vt:lpstr>
      <vt:lpstr>Unit 2: Decomposition</vt:lpstr>
      <vt:lpstr>Unit 1: Interfaces</vt:lpstr>
      <vt:lpstr>Unit 1: Abstraction</vt:lpstr>
      <vt:lpstr>Unit 1: Coupling</vt:lpstr>
      <vt:lpstr>Unit 1: Cohesion</vt:lpstr>
      <vt:lpstr>Unit 1: Architecture</vt:lpstr>
      <vt:lpstr>Unit 1: Software development processes</vt:lpstr>
      <vt:lpstr>Discussion: Plan driven vs Agile</vt:lpstr>
      <vt:lpstr>Unit 1: Traceability</vt:lpstr>
      <vt:lpstr>Unit 1: Modeling</vt:lpstr>
      <vt:lpstr>Unit 4: The case study</vt:lpstr>
      <vt:lpstr>Discussion: Defining software</vt:lpstr>
      <vt:lpstr>Unit 2: Functional Requirements</vt:lpstr>
      <vt:lpstr>Unit 2: Non-functional requirements</vt:lpstr>
      <vt:lpstr>Unit 3: Use case diagram</vt:lpstr>
      <vt:lpstr>Self check: Use case diagrams</vt:lpstr>
      <vt:lpstr>Discussion</vt:lpstr>
      <vt:lpstr>Unit 3: Use Case Scenario</vt:lpstr>
      <vt:lpstr>Unit 3: Activity Diagram</vt:lpstr>
      <vt:lpstr>PowerPoint Presentation</vt:lpstr>
      <vt:lpstr>Self check: activity diagrams</vt:lpstr>
      <vt:lpstr>Next tutorial</vt:lpstr>
    </vt:vector>
  </TitlesOfParts>
  <Company>Open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TM470 Coordination Meeting</dc:title>
  <dc:creator>Mark W</dc:creator>
  <cp:lastModifiedBy>Chris Thomson</cp:lastModifiedBy>
  <cp:revision>46</cp:revision>
  <dcterms:created xsi:type="dcterms:W3CDTF">2013-09-24T10:22:04Z</dcterms:created>
  <dcterms:modified xsi:type="dcterms:W3CDTF">2014-11-05T08:59:37Z</dcterms:modified>
</cp:coreProperties>
</file>