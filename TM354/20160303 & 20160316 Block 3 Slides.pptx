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docx" ContentType="application/vnd.openxmlformats-officedocument.wordprocessingml.documen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handoutMasterIdLst>
    <p:handoutMasterId r:id="rId43"/>
  </p:handoutMasterIdLst>
  <p:sldIdLst>
    <p:sldId id="256" r:id="rId2"/>
    <p:sldId id="277" r:id="rId3"/>
    <p:sldId id="329" r:id="rId4"/>
    <p:sldId id="290" r:id="rId5"/>
    <p:sldId id="278" r:id="rId6"/>
    <p:sldId id="300" r:id="rId7"/>
    <p:sldId id="331" r:id="rId8"/>
    <p:sldId id="330" r:id="rId9"/>
    <p:sldId id="291" r:id="rId10"/>
    <p:sldId id="316" r:id="rId11"/>
    <p:sldId id="332" r:id="rId12"/>
    <p:sldId id="333" r:id="rId13"/>
    <p:sldId id="334" r:id="rId14"/>
    <p:sldId id="335" r:id="rId15"/>
    <p:sldId id="337" r:id="rId16"/>
    <p:sldId id="338" r:id="rId17"/>
    <p:sldId id="317" r:id="rId18"/>
    <p:sldId id="339" r:id="rId19"/>
    <p:sldId id="336" r:id="rId20"/>
    <p:sldId id="340" r:id="rId21"/>
    <p:sldId id="341" r:id="rId22"/>
    <p:sldId id="342" r:id="rId23"/>
    <p:sldId id="343" r:id="rId24"/>
    <p:sldId id="344" r:id="rId25"/>
    <p:sldId id="345" r:id="rId26"/>
    <p:sldId id="346" r:id="rId27"/>
    <p:sldId id="292" r:id="rId28"/>
    <p:sldId id="304" r:id="rId29"/>
    <p:sldId id="318" r:id="rId30"/>
    <p:sldId id="319" r:id="rId31"/>
    <p:sldId id="320" r:id="rId32"/>
    <p:sldId id="321" r:id="rId33"/>
    <p:sldId id="322" r:id="rId34"/>
    <p:sldId id="311" r:id="rId35"/>
    <p:sldId id="323" r:id="rId36"/>
    <p:sldId id="324" r:id="rId37"/>
    <p:sldId id="325" r:id="rId38"/>
    <p:sldId id="326" r:id="rId39"/>
    <p:sldId id="327" r:id="rId40"/>
    <p:sldId id="328" r:id="rId41"/>
    <p:sldId id="279" r:id="rId42"/>
  </p:sldIdLst>
  <p:sldSz cx="10460038" cy="7561263"/>
  <p:notesSz cx="6797675" cy="9926638"/>
  <p:custDataLst>
    <p:tags r:id="rId44"/>
  </p:custDataLst>
  <p:defaultTextStyle>
    <a:defPPr>
      <a:defRPr lang="en-GB"/>
    </a:defPPr>
    <a:lvl1pPr algn="l" rtl="0" fontAlgn="base">
      <a:spcBef>
        <a:spcPct val="0"/>
      </a:spcBef>
      <a:spcAft>
        <a:spcPct val="0"/>
      </a:spcAft>
      <a:defRPr sz="3000" kern="1200">
        <a:solidFill>
          <a:srgbClr val="E3284A"/>
        </a:solidFill>
        <a:latin typeface="Arial" charset="0"/>
        <a:ea typeface="ＭＳ Ｐゴシック" charset="0"/>
        <a:cs typeface="+mn-cs"/>
      </a:defRPr>
    </a:lvl1pPr>
    <a:lvl2pPr marL="457200" algn="l" rtl="0" fontAlgn="base">
      <a:spcBef>
        <a:spcPct val="0"/>
      </a:spcBef>
      <a:spcAft>
        <a:spcPct val="0"/>
      </a:spcAft>
      <a:defRPr sz="3000" kern="1200">
        <a:solidFill>
          <a:srgbClr val="E3284A"/>
        </a:solidFill>
        <a:latin typeface="Arial" charset="0"/>
        <a:ea typeface="ＭＳ Ｐゴシック" charset="0"/>
        <a:cs typeface="+mn-cs"/>
      </a:defRPr>
    </a:lvl2pPr>
    <a:lvl3pPr marL="914400" algn="l" rtl="0" fontAlgn="base">
      <a:spcBef>
        <a:spcPct val="0"/>
      </a:spcBef>
      <a:spcAft>
        <a:spcPct val="0"/>
      </a:spcAft>
      <a:defRPr sz="3000" kern="1200">
        <a:solidFill>
          <a:srgbClr val="E3284A"/>
        </a:solidFill>
        <a:latin typeface="Arial" charset="0"/>
        <a:ea typeface="ＭＳ Ｐゴシック" charset="0"/>
        <a:cs typeface="+mn-cs"/>
      </a:defRPr>
    </a:lvl3pPr>
    <a:lvl4pPr marL="1371600" algn="l" rtl="0" fontAlgn="base">
      <a:spcBef>
        <a:spcPct val="0"/>
      </a:spcBef>
      <a:spcAft>
        <a:spcPct val="0"/>
      </a:spcAft>
      <a:defRPr sz="3000" kern="1200">
        <a:solidFill>
          <a:srgbClr val="E3284A"/>
        </a:solidFill>
        <a:latin typeface="Arial" charset="0"/>
        <a:ea typeface="ＭＳ Ｐゴシック" charset="0"/>
        <a:cs typeface="+mn-cs"/>
      </a:defRPr>
    </a:lvl4pPr>
    <a:lvl5pPr marL="1828800" algn="l" rtl="0" fontAlgn="base">
      <a:spcBef>
        <a:spcPct val="0"/>
      </a:spcBef>
      <a:spcAft>
        <a:spcPct val="0"/>
      </a:spcAft>
      <a:defRPr sz="3000" kern="1200">
        <a:solidFill>
          <a:srgbClr val="E3284A"/>
        </a:solidFill>
        <a:latin typeface="Arial" charset="0"/>
        <a:ea typeface="ＭＳ Ｐゴシック" charset="0"/>
        <a:cs typeface="+mn-cs"/>
      </a:defRPr>
    </a:lvl5pPr>
    <a:lvl6pPr marL="2286000" algn="l" defTabSz="457200" rtl="0" eaLnBrk="1" latinLnBrk="0" hangingPunct="1">
      <a:defRPr sz="3000" kern="1200">
        <a:solidFill>
          <a:srgbClr val="E3284A"/>
        </a:solidFill>
        <a:latin typeface="Arial" charset="0"/>
        <a:ea typeface="ＭＳ Ｐゴシック" charset="0"/>
        <a:cs typeface="+mn-cs"/>
      </a:defRPr>
    </a:lvl6pPr>
    <a:lvl7pPr marL="2743200" algn="l" defTabSz="457200" rtl="0" eaLnBrk="1" latinLnBrk="0" hangingPunct="1">
      <a:defRPr sz="3000" kern="1200">
        <a:solidFill>
          <a:srgbClr val="E3284A"/>
        </a:solidFill>
        <a:latin typeface="Arial" charset="0"/>
        <a:ea typeface="ＭＳ Ｐゴシック" charset="0"/>
        <a:cs typeface="+mn-cs"/>
      </a:defRPr>
    </a:lvl7pPr>
    <a:lvl8pPr marL="3200400" algn="l" defTabSz="457200" rtl="0" eaLnBrk="1" latinLnBrk="0" hangingPunct="1">
      <a:defRPr sz="3000" kern="1200">
        <a:solidFill>
          <a:srgbClr val="E3284A"/>
        </a:solidFill>
        <a:latin typeface="Arial" charset="0"/>
        <a:ea typeface="ＭＳ Ｐゴシック" charset="0"/>
        <a:cs typeface="+mn-cs"/>
      </a:defRPr>
    </a:lvl8pPr>
    <a:lvl9pPr marL="3657600" algn="l" defTabSz="457200" rtl="0" eaLnBrk="1" latinLnBrk="0" hangingPunct="1">
      <a:defRPr sz="3000" kern="1200">
        <a:solidFill>
          <a:srgbClr val="E3284A"/>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381">
          <p15:clr>
            <a:srgbClr val="A4A3A4"/>
          </p15:clr>
        </p15:guide>
        <p15:guide id="2" pos="32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9600"/>
    <a:srgbClr val="00FF01"/>
    <a:srgbClr val="E3284A"/>
    <a:srgbClr val="EF6820"/>
    <a:srgbClr val="9FAA00"/>
    <a:srgbClr val="5C705E"/>
    <a:srgbClr val="00AFAD"/>
    <a:srgbClr val="00B1EA"/>
    <a:srgbClr val="856FB3"/>
    <a:srgbClr val="D6007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92" autoAdjust="0"/>
    <p:restoredTop sz="94756" autoAdjust="0"/>
  </p:normalViewPr>
  <p:slideViewPr>
    <p:cSldViewPr>
      <p:cViewPr varScale="1">
        <p:scale>
          <a:sx n="128" d="100"/>
          <a:sy n="128" d="100"/>
        </p:scale>
        <p:origin x="192" y="1128"/>
      </p:cViewPr>
      <p:guideLst>
        <p:guide orient="horz" pos="2381"/>
        <p:guide pos="329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handoutMaster" Target="handoutMasters/handoutMaster1.xml"/><Relationship Id="rId44" Type="http://schemas.openxmlformats.org/officeDocument/2006/relationships/tags" Target="tags/tag1.xml"/><Relationship Id="rId4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2946400" cy="496888"/>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defRPr sz="1200">
                <a:solidFill>
                  <a:schemeClr val="tx1"/>
                </a:solidFill>
              </a:defRPr>
            </a:lvl1pPr>
          </a:lstStyle>
          <a:p>
            <a:endParaRPr lang="en-GB"/>
          </a:p>
        </p:txBody>
      </p:sp>
      <p:sp>
        <p:nvSpPr>
          <p:cNvPr id="117763" name="Rectangle 3"/>
          <p:cNvSpPr>
            <a:spLocks noGrp="1" noChangeArrowheads="1"/>
          </p:cNvSpPr>
          <p:nvPr>
            <p:ph type="dt" sz="quarter" idx="1"/>
          </p:nvPr>
        </p:nvSpPr>
        <p:spPr bwMode="auto">
          <a:xfrm>
            <a:off x="3849688" y="0"/>
            <a:ext cx="2946400" cy="496888"/>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endParaRPr lang="en-GB"/>
          </a:p>
        </p:txBody>
      </p:sp>
      <p:sp>
        <p:nvSpPr>
          <p:cNvPr id="117764" name="Rectangle 4"/>
          <p:cNvSpPr>
            <a:spLocks noGrp="1" noChangeArrowheads="1"/>
          </p:cNvSpPr>
          <p:nvPr>
            <p:ph type="ftr" sz="quarter" idx="2"/>
          </p:nvPr>
        </p:nvSpPr>
        <p:spPr bwMode="auto">
          <a:xfrm>
            <a:off x="0" y="9428163"/>
            <a:ext cx="2946400" cy="496887"/>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b" anchorCtr="0" compatLnSpc="1">
            <a:prstTxWarp prst="textNoShape">
              <a:avLst/>
            </a:prstTxWarp>
          </a:bodyPr>
          <a:lstStyle>
            <a:lvl1pPr>
              <a:defRPr sz="1200">
                <a:solidFill>
                  <a:schemeClr val="tx1"/>
                </a:solidFill>
              </a:defRPr>
            </a:lvl1pPr>
          </a:lstStyle>
          <a:p>
            <a:endParaRPr lang="en-GB"/>
          </a:p>
        </p:txBody>
      </p:sp>
      <p:sp>
        <p:nvSpPr>
          <p:cNvPr id="117765" name="Rectangle 5"/>
          <p:cNvSpPr>
            <a:spLocks noGrp="1" noChangeArrowheads="1"/>
          </p:cNvSpPr>
          <p:nvPr>
            <p:ph type="sldNum" sz="quarter" idx="3"/>
          </p:nvPr>
        </p:nvSpPr>
        <p:spPr bwMode="auto">
          <a:xfrm>
            <a:off x="3849688" y="9428163"/>
            <a:ext cx="2946400" cy="496887"/>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fld id="{CAF550FC-5014-1142-8973-D3C0DBDA757C}" type="slidenum">
              <a:rPr lang="en-GB"/>
              <a:pPr/>
              <a:t>‹#›</a:t>
            </a:fld>
            <a:endParaRPr lang="en-GB"/>
          </a:p>
        </p:txBody>
      </p:sp>
    </p:spTree>
    <p:extLst>
      <p:ext uri="{BB962C8B-B14F-4D97-AF65-F5344CB8AC3E}">
        <p14:creationId xmlns:p14="http://schemas.microsoft.com/office/powerpoint/2010/main" val="38916960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3" name="Rectangle 3"/>
          <p:cNvSpPr>
            <a:spLocks noGrp="1" noChangeArrowheads="1"/>
          </p:cNvSpPr>
          <p:nvPr>
            <p:ph type="ftr" sz="quarter" idx="3"/>
          </p:nvPr>
        </p:nvSpPr>
        <p:spPr/>
        <p:txBody>
          <a:bodyPr/>
          <a:lstStyle>
            <a:lvl1pPr>
              <a:defRPr/>
            </a:lvl1pPr>
          </a:lstStyle>
          <a:p>
            <a:endParaRPr lang="en-GB"/>
          </a:p>
        </p:txBody>
      </p:sp>
      <p:sp>
        <p:nvSpPr>
          <p:cNvPr id="5124" name="Rectangle 4"/>
          <p:cNvSpPr>
            <a:spLocks noGrp="1" noChangeArrowheads="1"/>
          </p:cNvSpPr>
          <p:nvPr>
            <p:ph type="sldNum" sz="quarter" idx="4"/>
          </p:nvPr>
        </p:nvSpPr>
        <p:spPr/>
        <p:txBody>
          <a:bodyPr/>
          <a:lstStyle>
            <a:lvl1pPr>
              <a:defRPr/>
            </a:lvl1pPr>
          </a:lstStyle>
          <a:p>
            <a:fld id="{26855CF9-5D8D-FC41-9142-4E5A62C9147B}" type="slidenum">
              <a:rPr lang="en-GB"/>
              <a:pPr/>
              <a:t>‹#›</a:t>
            </a:fld>
            <a:endParaRPr lang="en-GB"/>
          </a:p>
        </p:txBody>
      </p:sp>
      <p:sp>
        <p:nvSpPr>
          <p:cNvPr id="5127" name="Rectangle 7"/>
          <p:cNvSpPr>
            <a:spLocks noGrp="1" noChangeArrowheads="1"/>
          </p:cNvSpPr>
          <p:nvPr>
            <p:ph type="ctrTitle"/>
          </p:nvPr>
        </p:nvSpPr>
        <p:spPr>
          <a:xfrm>
            <a:off x="395288" y="3619500"/>
            <a:ext cx="6923087" cy="688975"/>
          </a:xfrm>
        </p:spPr>
        <p:txBody>
          <a:bodyPr anchor="t"/>
          <a:lstStyle>
            <a:lvl1pPr>
              <a:defRPr sz="4000">
                <a:solidFill>
                  <a:schemeClr val="tx1"/>
                </a:solidFill>
              </a:defRPr>
            </a:lvl1pPr>
          </a:lstStyle>
          <a:p>
            <a:pPr lvl="0"/>
            <a:r>
              <a:rPr lang="en-GB" noProof="0" smtClean="0"/>
              <a:t>Click to edit Master title style</a:t>
            </a:r>
          </a:p>
        </p:txBody>
      </p:sp>
      <p:sp>
        <p:nvSpPr>
          <p:cNvPr id="5128" name="Rectangle 8"/>
          <p:cNvSpPr>
            <a:spLocks noGrp="1" noChangeArrowheads="1"/>
          </p:cNvSpPr>
          <p:nvPr>
            <p:ph type="subTitle" idx="1"/>
          </p:nvPr>
        </p:nvSpPr>
        <p:spPr>
          <a:xfrm>
            <a:off x="395288" y="5724525"/>
            <a:ext cx="8362950" cy="536575"/>
          </a:xfrm>
        </p:spPr>
        <p:txBody>
          <a:bodyPr/>
          <a:lstStyle>
            <a:lvl1pPr marL="0" indent="0">
              <a:buFontTx/>
              <a:buNone/>
              <a:defRPr sz="3000">
                <a:solidFill>
                  <a:schemeClr val="bg2"/>
                </a:solidFill>
              </a:defRPr>
            </a:lvl1pPr>
          </a:lstStyle>
          <a:p>
            <a:pPr lvl="0"/>
            <a:r>
              <a:rPr lang="en-GB" noProof="0" smtClean="0"/>
              <a:t>Click to edit Master subtitle style</a:t>
            </a:r>
          </a:p>
        </p:txBody>
      </p:sp>
      <p:pic>
        <p:nvPicPr>
          <p:cNvPr id="5140" name="Picture 20" descr="OU_masterlogo_colour_29mm"/>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23263" y="431800"/>
            <a:ext cx="1809750" cy="1239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D923D966-842C-EA4F-AB1A-4282BE8D0799}" type="slidenum">
              <a:rPr lang="en-GB"/>
              <a:pPr/>
              <a:t>‹#›</a:t>
            </a:fld>
            <a:endParaRPr lang="en-GB"/>
          </a:p>
        </p:txBody>
      </p:sp>
    </p:spTree>
    <p:extLst>
      <p:ext uri="{BB962C8B-B14F-4D97-AF65-F5344CB8AC3E}">
        <p14:creationId xmlns:p14="http://schemas.microsoft.com/office/powerpoint/2010/main" val="1426735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5500" y="4859338"/>
            <a:ext cx="8891588" cy="15017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825500" y="3205163"/>
            <a:ext cx="889158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smtClean="0"/>
              <a:t>Click to edit Master text styles</a:t>
            </a:r>
          </a:p>
        </p:txBody>
      </p:sp>
      <p:sp>
        <p:nvSpPr>
          <p:cNvPr id="4" name="Footer Placeholder 3"/>
          <p:cNvSpPr>
            <a:spLocks noGrp="1"/>
          </p:cNvSpPr>
          <p:nvPr>
            <p:ph type="ftr" sz="quarter"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99DFC338-4473-AF48-893D-D072FCA308A2}" type="slidenum">
              <a:rPr lang="en-GB"/>
              <a:pPr/>
              <a:t>‹#›</a:t>
            </a:fld>
            <a:endParaRPr lang="en-GB"/>
          </a:p>
        </p:txBody>
      </p:sp>
    </p:spTree>
    <p:extLst>
      <p:ext uri="{BB962C8B-B14F-4D97-AF65-F5344CB8AC3E}">
        <p14:creationId xmlns:p14="http://schemas.microsoft.com/office/powerpoint/2010/main" val="70391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395288" y="2733675"/>
            <a:ext cx="4629150" cy="240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5176838" y="2733675"/>
            <a:ext cx="4629150" cy="240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Footer Placeholder 4"/>
          <p:cNvSpPr>
            <a:spLocks noGrp="1"/>
          </p:cNvSpPr>
          <p:nvPr>
            <p:ph type="ftr" sz="quarter"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FC5CFBE9-8555-2B4E-BE00-8B1F4B65BB40}" type="slidenum">
              <a:rPr lang="en-GB"/>
              <a:pPr/>
              <a:t>‹#›</a:t>
            </a:fld>
            <a:endParaRPr lang="en-GB"/>
          </a:p>
        </p:txBody>
      </p:sp>
    </p:spTree>
    <p:extLst>
      <p:ext uri="{BB962C8B-B14F-4D97-AF65-F5344CB8AC3E}">
        <p14:creationId xmlns:p14="http://schemas.microsoft.com/office/powerpoint/2010/main" val="226729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2288" y="303213"/>
            <a:ext cx="9415462" cy="1260475"/>
          </a:xfrm>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522288" y="1692275"/>
            <a:ext cx="46228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522288" y="2397125"/>
            <a:ext cx="4622800"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5313363" y="1692275"/>
            <a:ext cx="4624387"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5313363" y="2397125"/>
            <a:ext cx="4624387" cy="43576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Footer Placeholder 6"/>
          <p:cNvSpPr>
            <a:spLocks noGrp="1"/>
          </p:cNvSpPr>
          <p:nvPr>
            <p:ph type="ftr" sz="quarter" idx="10"/>
          </p:nvPr>
        </p:nvSpPr>
        <p:spPr/>
        <p:txBody>
          <a:bodyPr/>
          <a:lstStyle>
            <a:lvl1pPr>
              <a:defRPr/>
            </a:lvl1pPr>
          </a:lstStyle>
          <a:p>
            <a:endParaRPr lang="en-GB"/>
          </a:p>
        </p:txBody>
      </p:sp>
      <p:sp>
        <p:nvSpPr>
          <p:cNvPr id="8" name="Slide Number Placeholder 7"/>
          <p:cNvSpPr>
            <a:spLocks noGrp="1"/>
          </p:cNvSpPr>
          <p:nvPr>
            <p:ph type="sldNum" sz="quarter" idx="11"/>
          </p:nvPr>
        </p:nvSpPr>
        <p:spPr/>
        <p:txBody>
          <a:bodyPr/>
          <a:lstStyle>
            <a:lvl1pPr>
              <a:defRPr/>
            </a:lvl1pPr>
          </a:lstStyle>
          <a:p>
            <a:fld id="{F29C54E1-B265-DF42-A4F3-3443F1F8CE0D}" type="slidenum">
              <a:rPr lang="en-GB"/>
              <a:pPr/>
              <a:t>‹#›</a:t>
            </a:fld>
            <a:endParaRPr lang="en-GB"/>
          </a:p>
        </p:txBody>
      </p:sp>
    </p:spTree>
    <p:extLst>
      <p:ext uri="{BB962C8B-B14F-4D97-AF65-F5344CB8AC3E}">
        <p14:creationId xmlns:p14="http://schemas.microsoft.com/office/powerpoint/2010/main" val="259141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endParaRPr lang="en-GB"/>
          </a:p>
        </p:txBody>
      </p:sp>
      <p:sp>
        <p:nvSpPr>
          <p:cNvPr id="4" name="Slide Number Placeholder 3"/>
          <p:cNvSpPr>
            <a:spLocks noGrp="1"/>
          </p:cNvSpPr>
          <p:nvPr>
            <p:ph type="sldNum" sz="quarter" idx="11"/>
          </p:nvPr>
        </p:nvSpPr>
        <p:spPr/>
        <p:txBody>
          <a:bodyPr/>
          <a:lstStyle>
            <a:lvl1pPr>
              <a:defRPr/>
            </a:lvl1pPr>
          </a:lstStyle>
          <a:p>
            <a:fld id="{224955DE-62A5-AB44-95AA-D6CC55FE6691}" type="slidenum">
              <a:rPr lang="en-GB"/>
              <a:pPr/>
              <a:t>‹#›</a:t>
            </a:fld>
            <a:endParaRPr lang="en-GB"/>
          </a:p>
        </p:txBody>
      </p:sp>
    </p:spTree>
    <p:extLst>
      <p:ext uri="{BB962C8B-B14F-4D97-AF65-F5344CB8AC3E}">
        <p14:creationId xmlns:p14="http://schemas.microsoft.com/office/powerpoint/2010/main" val="3507189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GB"/>
          </a:p>
        </p:txBody>
      </p:sp>
      <p:sp>
        <p:nvSpPr>
          <p:cNvPr id="3" name="Slide Number Placeholder 2"/>
          <p:cNvSpPr>
            <a:spLocks noGrp="1"/>
          </p:cNvSpPr>
          <p:nvPr>
            <p:ph type="sldNum" sz="quarter" idx="11"/>
          </p:nvPr>
        </p:nvSpPr>
        <p:spPr/>
        <p:txBody>
          <a:bodyPr/>
          <a:lstStyle>
            <a:lvl1pPr>
              <a:defRPr/>
            </a:lvl1pPr>
          </a:lstStyle>
          <a:p>
            <a:fld id="{FDC9DF75-A7EC-8A48-B060-81FC23148AE5}" type="slidenum">
              <a:rPr lang="en-GB"/>
              <a:pPr/>
              <a:t>‹#›</a:t>
            </a:fld>
            <a:endParaRPr lang="en-GB"/>
          </a:p>
        </p:txBody>
      </p:sp>
    </p:spTree>
    <p:extLst>
      <p:ext uri="{BB962C8B-B14F-4D97-AF65-F5344CB8AC3E}">
        <p14:creationId xmlns:p14="http://schemas.microsoft.com/office/powerpoint/2010/main" val="76438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288" y="301625"/>
            <a:ext cx="3441700" cy="1281113"/>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4089400" y="301625"/>
            <a:ext cx="5848350" cy="64531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522288" y="1582738"/>
            <a:ext cx="34417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E5133C9A-48C0-7D48-A162-932966671983}" type="slidenum">
              <a:rPr lang="en-GB"/>
              <a:pPr/>
              <a:t>‹#›</a:t>
            </a:fld>
            <a:endParaRPr lang="en-GB"/>
          </a:p>
        </p:txBody>
      </p:sp>
    </p:spTree>
    <p:extLst>
      <p:ext uri="{BB962C8B-B14F-4D97-AF65-F5344CB8AC3E}">
        <p14:creationId xmlns:p14="http://schemas.microsoft.com/office/powerpoint/2010/main" val="2106295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49463" y="5292725"/>
            <a:ext cx="6276975" cy="625475"/>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2049463" y="676275"/>
            <a:ext cx="6276975" cy="45354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lang="en-US"/>
          </a:p>
        </p:txBody>
      </p:sp>
      <p:sp>
        <p:nvSpPr>
          <p:cNvPr id="4" name="Text Placeholder 3"/>
          <p:cNvSpPr>
            <a:spLocks noGrp="1"/>
          </p:cNvSpPr>
          <p:nvPr>
            <p:ph type="body" sz="half" idx="2"/>
          </p:nvPr>
        </p:nvSpPr>
        <p:spPr>
          <a:xfrm>
            <a:off x="2049463" y="5918200"/>
            <a:ext cx="6276975" cy="8874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5677708A-F0EA-4847-8EDB-FE13FF1B6FD2}" type="slidenum">
              <a:rPr lang="en-GB"/>
              <a:pPr/>
              <a:t>‹#›</a:t>
            </a:fld>
            <a:endParaRPr lang="en-GB"/>
          </a:p>
        </p:txBody>
      </p:sp>
    </p:spTree>
    <p:extLst>
      <p:ext uri="{BB962C8B-B14F-4D97-AF65-F5344CB8AC3E}">
        <p14:creationId xmlns:p14="http://schemas.microsoft.com/office/powerpoint/2010/main" val="1592379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937E6EC-90A4-D545-9B3F-2B85944BE694}" type="slidenum">
              <a:rPr lang="en-GB"/>
              <a:pPr/>
              <a:t>‹#›</a:t>
            </a:fld>
            <a:endParaRPr lang="en-GB"/>
          </a:p>
        </p:txBody>
      </p:sp>
    </p:spTree>
    <p:extLst>
      <p:ext uri="{BB962C8B-B14F-4D97-AF65-F5344CB8AC3E}">
        <p14:creationId xmlns:p14="http://schemas.microsoft.com/office/powerpoint/2010/main" val="420998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3313" y="1763713"/>
            <a:ext cx="2352675" cy="3379787"/>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395288" y="1763713"/>
            <a:ext cx="6905625" cy="3379787"/>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7FF95217-1378-814D-9087-E8BD296B937E}" type="slidenum">
              <a:rPr lang="en-GB"/>
              <a:pPr/>
              <a:t>‹#›</a:t>
            </a:fld>
            <a:endParaRPr lang="en-GB"/>
          </a:p>
        </p:txBody>
      </p:sp>
    </p:spTree>
    <p:extLst>
      <p:ext uri="{BB962C8B-B14F-4D97-AF65-F5344CB8AC3E}">
        <p14:creationId xmlns:p14="http://schemas.microsoft.com/office/powerpoint/2010/main" val="421420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95288" y="1763713"/>
            <a:ext cx="9410700" cy="811212"/>
          </a:xfrm>
        </p:spPr>
        <p:txBody>
          <a:bodyPr/>
          <a:lstStyle/>
          <a:p>
            <a:r>
              <a:rPr lang="en-GB" smtClean="0"/>
              <a:t>Click to edit Master title style</a:t>
            </a:r>
            <a:endParaRPr lang="en-US"/>
          </a:p>
        </p:txBody>
      </p:sp>
      <p:sp>
        <p:nvSpPr>
          <p:cNvPr id="3" name="Table Placeholder 2"/>
          <p:cNvSpPr>
            <a:spLocks noGrp="1"/>
          </p:cNvSpPr>
          <p:nvPr>
            <p:ph type="tbl" idx="1"/>
          </p:nvPr>
        </p:nvSpPr>
        <p:spPr>
          <a:xfrm>
            <a:off x="395288" y="2733675"/>
            <a:ext cx="9410700" cy="2409825"/>
          </a:xfrm>
        </p:spPr>
        <p:txBody>
          <a:bodyPr/>
          <a:lstStyle/>
          <a:p>
            <a:r>
              <a:rPr lang="en-GB" smtClean="0"/>
              <a:t>Click icon to add table</a:t>
            </a:r>
            <a:endParaRPr lang="en-US"/>
          </a:p>
        </p:txBody>
      </p:sp>
      <p:sp>
        <p:nvSpPr>
          <p:cNvPr id="4" name="Footer Placeholder 3"/>
          <p:cNvSpPr>
            <a:spLocks noGrp="1"/>
          </p:cNvSpPr>
          <p:nvPr>
            <p:ph type="ftr" sz="quarter" idx="10"/>
          </p:nvPr>
        </p:nvSpPr>
        <p:spPr>
          <a:xfrm>
            <a:off x="3573463" y="6884988"/>
            <a:ext cx="3313112" cy="525462"/>
          </a:xfrm>
        </p:spPr>
        <p:txBody>
          <a:bodyPr/>
          <a:lstStyle>
            <a:lvl1pPr>
              <a:defRPr/>
            </a:lvl1pPr>
          </a:lstStyle>
          <a:p>
            <a:endParaRPr lang="en-GB"/>
          </a:p>
        </p:txBody>
      </p:sp>
      <p:sp>
        <p:nvSpPr>
          <p:cNvPr id="5" name="Slide Number Placeholder 4"/>
          <p:cNvSpPr>
            <a:spLocks noGrp="1"/>
          </p:cNvSpPr>
          <p:nvPr>
            <p:ph type="sldNum" sz="quarter" idx="11"/>
          </p:nvPr>
        </p:nvSpPr>
        <p:spPr>
          <a:xfrm>
            <a:off x="7494588" y="6884988"/>
            <a:ext cx="2443162" cy="525462"/>
          </a:xfrm>
        </p:spPr>
        <p:txBody>
          <a:bodyPr/>
          <a:lstStyle>
            <a:lvl1pPr>
              <a:defRPr/>
            </a:lvl1pPr>
          </a:lstStyle>
          <a:p>
            <a:fld id="{C7DE0F2A-218C-7D42-9636-4BF3862B1350}" type="slidenum">
              <a:rPr lang="en-GB"/>
              <a:pPr/>
              <a:t>‹#›</a:t>
            </a:fld>
            <a:endParaRPr lang="en-GB"/>
          </a:p>
        </p:txBody>
      </p:sp>
    </p:spTree>
    <p:extLst>
      <p:ext uri="{BB962C8B-B14F-4D97-AF65-F5344CB8AC3E}">
        <p14:creationId xmlns:p14="http://schemas.microsoft.com/office/powerpoint/2010/main" val="478050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288" y="1763713"/>
            <a:ext cx="9410700" cy="811212"/>
          </a:xfrm>
        </p:spPr>
        <p:txBody>
          <a:bodyPr/>
          <a:lstStyle/>
          <a:p>
            <a:r>
              <a:rPr lang="en-GB" smtClean="0"/>
              <a:t>Click to edit Master title style</a:t>
            </a:r>
            <a:endParaRPr lang="en-US"/>
          </a:p>
        </p:txBody>
      </p:sp>
      <p:sp>
        <p:nvSpPr>
          <p:cNvPr id="3" name="Text Placeholder 2"/>
          <p:cNvSpPr>
            <a:spLocks noGrp="1"/>
          </p:cNvSpPr>
          <p:nvPr>
            <p:ph type="body" sz="half" idx="1"/>
          </p:nvPr>
        </p:nvSpPr>
        <p:spPr>
          <a:xfrm>
            <a:off x="395288" y="2733675"/>
            <a:ext cx="4629150" cy="2409825"/>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5176838" y="2733675"/>
            <a:ext cx="4629150" cy="2409825"/>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Footer Placeholder 4"/>
          <p:cNvSpPr>
            <a:spLocks noGrp="1"/>
          </p:cNvSpPr>
          <p:nvPr>
            <p:ph type="ftr" sz="quarter" idx="10"/>
          </p:nvPr>
        </p:nvSpPr>
        <p:spPr>
          <a:xfrm>
            <a:off x="3573463" y="6884988"/>
            <a:ext cx="3313112" cy="525462"/>
          </a:xfrm>
        </p:spPr>
        <p:txBody>
          <a:bodyPr/>
          <a:lstStyle>
            <a:lvl1pPr>
              <a:defRPr/>
            </a:lvl1pPr>
          </a:lstStyle>
          <a:p>
            <a:endParaRPr lang="en-GB"/>
          </a:p>
        </p:txBody>
      </p:sp>
      <p:sp>
        <p:nvSpPr>
          <p:cNvPr id="6" name="Slide Number Placeholder 5"/>
          <p:cNvSpPr>
            <a:spLocks noGrp="1"/>
          </p:cNvSpPr>
          <p:nvPr>
            <p:ph type="sldNum" sz="quarter" idx="11"/>
          </p:nvPr>
        </p:nvSpPr>
        <p:spPr>
          <a:xfrm>
            <a:off x="7494588" y="6884988"/>
            <a:ext cx="2443162" cy="525462"/>
          </a:xfrm>
        </p:spPr>
        <p:txBody>
          <a:bodyPr/>
          <a:lstStyle>
            <a:lvl1pPr>
              <a:defRPr/>
            </a:lvl1pPr>
          </a:lstStyle>
          <a:p>
            <a:fld id="{AE18CFF9-E97B-D846-9A1F-ED29D0647DCB}" type="slidenum">
              <a:rPr lang="en-GB"/>
              <a:pPr/>
              <a:t>‹#›</a:t>
            </a:fld>
            <a:endParaRPr lang="en-GB"/>
          </a:p>
        </p:txBody>
      </p:sp>
    </p:spTree>
    <p:extLst>
      <p:ext uri="{BB962C8B-B14F-4D97-AF65-F5344CB8AC3E}">
        <p14:creationId xmlns:p14="http://schemas.microsoft.com/office/powerpoint/2010/main" val="348493046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bwMode="auto">
          <a:xfrm>
            <a:off x="261467" y="180231"/>
            <a:ext cx="8136904" cy="216024"/>
          </a:xfrm>
          <a:prstGeom prst="rect">
            <a:avLst/>
          </a:prstGeom>
          <a:gradFill flip="none" rotWithShape="1">
            <a:gsLst>
              <a:gs pos="0">
                <a:srgbClr val="00FF01"/>
              </a:gs>
              <a:gs pos="100000">
                <a:srgbClr val="FF0000"/>
              </a:gs>
              <a:gs pos="45000">
                <a:srgbClr val="EF9600"/>
              </a:gs>
              <a:gs pos="55000">
                <a:srgbClr val="EF9600"/>
              </a:gs>
            </a:gsLst>
            <a:lin ang="0" scaled="1"/>
            <a:tileRect/>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1520825" rtl="0" eaLnBrk="1" fontAlgn="base" latinLnBrk="0" hangingPunct="1">
              <a:lnSpc>
                <a:spcPct val="100000"/>
              </a:lnSpc>
              <a:spcBef>
                <a:spcPct val="0"/>
              </a:spcBef>
              <a:spcAft>
                <a:spcPct val="0"/>
              </a:spcAft>
              <a:buClrTx/>
              <a:buSzTx/>
              <a:buFontTx/>
              <a:buNone/>
              <a:tabLst/>
            </a:pPr>
            <a:endParaRPr kumimoji="0" lang="en-US" sz="3000" b="0" i="0" u="none" strike="noStrike" cap="none" normalizeH="0" baseline="0">
              <a:ln>
                <a:noFill/>
              </a:ln>
              <a:solidFill>
                <a:srgbClr val="E3284A"/>
              </a:solidFill>
              <a:effectLst/>
              <a:latin typeface="Arial" charset="0"/>
              <a:ea typeface="ＭＳ Ｐゴシック" charset="0"/>
            </a:endParaRPr>
          </a:p>
        </p:txBody>
      </p:sp>
      <p:sp>
        <p:nvSpPr>
          <p:cNvPr id="4098" name="Rectangle 2"/>
          <p:cNvSpPr>
            <a:spLocks noGrp="1" noChangeArrowheads="1"/>
          </p:cNvSpPr>
          <p:nvPr>
            <p:ph type="title"/>
          </p:nvPr>
        </p:nvSpPr>
        <p:spPr bwMode="auto">
          <a:xfrm>
            <a:off x="395288" y="1763713"/>
            <a:ext cx="9410700" cy="811212"/>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79438" tIns="39718" rIns="79438" bIns="39718" numCol="1" anchor="ctr" anchorCtr="0" compatLnSpc="1">
            <a:prstTxWarp prst="textNoShape">
              <a:avLst/>
            </a:prstTxWarp>
            <a:spAutoFit/>
          </a:bodyPr>
          <a:lstStyle/>
          <a:p>
            <a:pPr lvl="0"/>
            <a:r>
              <a:rPr lang="en-GB"/>
              <a:t>Title in colour - Arial 48pt</a:t>
            </a:r>
          </a:p>
        </p:txBody>
      </p:sp>
      <p:sp>
        <p:nvSpPr>
          <p:cNvPr id="4099" name="Rectangle 3"/>
          <p:cNvSpPr>
            <a:spLocks noGrp="1" noChangeArrowheads="1"/>
          </p:cNvSpPr>
          <p:nvPr>
            <p:ph type="body" idx="1"/>
          </p:nvPr>
        </p:nvSpPr>
        <p:spPr bwMode="auto">
          <a:xfrm>
            <a:off x="395288" y="2733675"/>
            <a:ext cx="9410700" cy="2409825"/>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79438" tIns="39718" rIns="79438" bIns="39718" numCol="1" anchor="t" anchorCtr="0" compatLnSpc="1">
            <a:prstTxWarp prst="textNoShape">
              <a:avLst/>
            </a:prstTxWarp>
            <a:spAutoFit/>
          </a:bodyPr>
          <a:lstStyle/>
          <a:p>
            <a:pPr lvl="0"/>
            <a:r>
              <a:rPr lang="en-GB"/>
              <a:t>Tabbed text information in black with bullet - Arial 28pt</a:t>
            </a:r>
          </a:p>
          <a:p>
            <a:pPr lvl="1"/>
            <a:r>
              <a:rPr lang="en-GB"/>
              <a:t>Bullet point should be in the same colour as heading</a:t>
            </a:r>
          </a:p>
          <a:p>
            <a:pPr lvl="2"/>
            <a:r>
              <a:rPr lang="en-GB"/>
              <a:t>Third level</a:t>
            </a:r>
          </a:p>
          <a:p>
            <a:pPr lvl="3"/>
            <a:r>
              <a:rPr lang="en-GB"/>
              <a:t>Fourth level</a:t>
            </a:r>
          </a:p>
          <a:p>
            <a:pPr lvl="4"/>
            <a:r>
              <a:rPr lang="en-GB"/>
              <a:t>Fifth level</a:t>
            </a:r>
          </a:p>
        </p:txBody>
      </p:sp>
      <p:sp>
        <p:nvSpPr>
          <p:cNvPr id="4101" name="Rectangle 5"/>
          <p:cNvSpPr>
            <a:spLocks noGrp="1" noChangeArrowheads="1"/>
          </p:cNvSpPr>
          <p:nvPr>
            <p:ph type="ftr" sz="quarter" idx="3"/>
          </p:nvPr>
        </p:nvSpPr>
        <p:spPr bwMode="auto">
          <a:xfrm>
            <a:off x="3573463" y="6884988"/>
            <a:ext cx="3313112" cy="525462"/>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79438" tIns="39718" rIns="79438" bIns="39718" numCol="1" anchor="t" anchorCtr="0" compatLnSpc="1">
            <a:prstTxWarp prst="textNoShape">
              <a:avLst/>
            </a:prstTxWarp>
          </a:bodyPr>
          <a:lstStyle>
            <a:lvl1pPr algn="ctr" defTabSz="796925">
              <a:defRPr sz="1100">
                <a:solidFill>
                  <a:schemeClr val="tx1"/>
                </a:solidFill>
              </a:defRPr>
            </a:lvl1pPr>
          </a:lstStyle>
          <a:p>
            <a:endParaRPr lang="en-GB"/>
          </a:p>
        </p:txBody>
      </p:sp>
      <p:sp>
        <p:nvSpPr>
          <p:cNvPr id="4102" name="Rectangle 6"/>
          <p:cNvSpPr>
            <a:spLocks noGrp="1" noChangeArrowheads="1"/>
          </p:cNvSpPr>
          <p:nvPr>
            <p:ph type="sldNum" sz="quarter" idx="4"/>
          </p:nvPr>
        </p:nvSpPr>
        <p:spPr bwMode="auto">
          <a:xfrm>
            <a:off x="7494588" y="6884988"/>
            <a:ext cx="2443162" cy="525462"/>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79438" tIns="39718" rIns="79438" bIns="39718" numCol="1" anchor="t" anchorCtr="0" compatLnSpc="1">
            <a:prstTxWarp prst="textNoShape">
              <a:avLst/>
            </a:prstTxWarp>
          </a:bodyPr>
          <a:lstStyle>
            <a:lvl1pPr algn="r" defTabSz="796925">
              <a:defRPr sz="1100">
                <a:solidFill>
                  <a:schemeClr val="tx1"/>
                </a:solidFill>
              </a:defRPr>
            </a:lvl1pPr>
          </a:lstStyle>
          <a:p>
            <a:fld id="{39B92D08-FEC4-C04C-8269-A0A6BCCAAA54}" type="slidenum">
              <a:rPr lang="en-GB"/>
              <a:pPr/>
              <a:t>‹#›</a:t>
            </a:fld>
            <a:endParaRPr lang="en-GB"/>
          </a:p>
        </p:txBody>
      </p:sp>
      <p:pic>
        <p:nvPicPr>
          <p:cNvPr id="4110" name="Picture 14" descr="OU_masterlogo_colour_19mm"/>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8974138" y="395288"/>
            <a:ext cx="1181100" cy="806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userDrawn="1"/>
        </p:nvSpPr>
        <p:spPr>
          <a:xfrm>
            <a:off x="0" y="0"/>
            <a:ext cx="488963" cy="553998"/>
          </a:xfrm>
          <a:prstGeom prst="rect">
            <a:avLst/>
          </a:prstGeom>
          <a:noFill/>
        </p:spPr>
        <p:txBody>
          <a:bodyPr wrap="square" rtlCol="0">
            <a:spAutoFit/>
          </a:bodyPr>
          <a:lstStyle/>
          <a:p>
            <a:r>
              <a:rPr lang="en-US" dirty="0" smtClean="0"/>
              <a:t>😃</a:t>
            </a:r>
            <a:endParaRPr lang="en-US" dirty="0"/>
          </a:p>
        </p:txBody>
      </p:sp>
      <p:sp>
        <p:nvSpPr>
          <p:cNvPr id="3" name="TextBox 2"/>
          <p:cNvSpPr txBox="1"/>
          <p:nvPr userDrawn="1"/>
        </p:nvSpPr>
        <p:spPr>
          <a:xfrm>
            <a:off x="8038331" y="6773"/>
            <a:ext cx="537706" cy="553998"/>
          </a:xfrm>
          <a:prstGeom prst="rect">
            <a:avLst/>
          </a:prstGeom>
          <a:noFill/>
        </p:spPr>
        <p:txBody>
          <a:bodyPr wrap="square" rtlCol="0">
            <a:spAutoFit/>
          </a:bodyPr>
          <a:lstStyle/>
          <a:p>
            <a:r>
              <a:rPr lang="en-US" dirty="0" smtClean="0"/>
              <a:t>😴</a:t>
            </a:r>
            <a:endParaRPr lang="en-US" dirty="0"/>
          </a:p>
        </p:txBody>
      </p:sp>
      <p:sp>
        <p:nvSpPr>
          <p:cNvPr id="4" name="TextBox 3"/>
          <p:cNvSpPr txBox="1"/>
          <p:nvPr userDrawn="1"/>
        </p:nvSpPr>
        <p:spPr>
          <a:xfrm>
            <a:off x="4151759" y="0"/>
            <a:ext cx="718220" cy="553998"/>
          </a:xfrm>
          <a:prstGeom prst="rect">
            <a:avLst/>
          </a:prstGeom>
          <a:noFill/>
        </p:spPr>
        <p:txBody>
          <a:bodyPr wrap="square" rtlCol="0">
            <a:spAutoFit/>
          </a:bodyPr>
          <a:lstStyle/>
          <a:p>
            <a:r>
              <a:rPr lang="en-US" dirty="0" smtClean="0"/>
              <a:t>😕</a:t>
            </a:r>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3" r:id="rId12"/>
    <p:sldLayoutId id="2147483674" r:id="rId13"/>
  </p:sldLayoutIdLst>
  <p:txStyles>
    <p:titleStyle>
      <a:lvl1pPr algn="l" defTabSz="796925" rtl="0" eaLnBrk="1" fontAlgn="base" hangingPunct="1">
        <a:spcBef>
          <a:spcPct val="0"/>
        </a:spcBef>
        <a:spcAft>
          <a:spcPct val="0"/>
        </a:spcAft>
        <a:defRPr sz="4800">
          <a:solidFill>
            <a:srgbClr val="9FAA00"/>
          </a:solidFill>
          <a:latin typeface="+mj-lt"/>
          <a:ea typeface="+mj-ea"/>
          <a:cs typeface="+mj-cs"/>
        </a:defRPr>
      </a:lvl1pPr>
      <a:lvl2pPr algn="l" defTabSz="796925" rtl="0" eaLnBrk="1" fontAlgn="base" hangingPunct="1">
        <a:spcBef>
          <a:spcPct val="0"/>
        </a:spcBef>
        <a:spcAft>
          <a:spcPct val="0"/>
        </a:spcAft>
        <a:defRPr sz="4800">
          <a:solidFill>
            <a:srgbClr val="9FAA00"/>
          </a:solidFill>
          <a:latin typeface="Arial" charset="0"/>
          <a:ea typeface="ＭＳ Ｐゴシック" charset="0"/>
        </a:defRPr>
      </a:lvl2pPr>
      <a:lvl3pPr algn="l" defTabSz="796925" rtl="0" eaLnBrk="1" fontAlgn="base" hangingPunct="1">
        <a:spcBef>
          <a:spcPct val="0"/>
        </a:spcBef>
        <a:spcAft>
          <a:spcPct val="0"/>
        </a:spcAft>
        <a:defRPr sz="4800">
          <a:solidFill>
            <a:srgbClr val="9FAA00"/>
          </a:solidFill>
          <a:latin typeface="Arial" charset="0"/>
          <a:ea typeface="ＭＳ Ｐゴシック" charset="0"/>
        </a:defRPr>
      </a:lvl3pPr>
      <a:lvl4pPr algn="l" defTabSz="796925" rtl="0" eaLnBrk="1" fontAlgn="base" hangingPunct="1">
        <a:spcBef>
          <a:spcPct val="0"/>
        </a:spcBef>
        <a:spcAft>
          <a:spcPct val="0"/>
        </a:spcAft>
        <a:defRPr sz="4800">
          <a:solidFill>
            <a:srgbClr val="9FAA00"/>
          </a:solidFill>
          <a:latin typeface="Arial" charset="0"/>
          <a:ea typeface="ＭＳ Ｐゴシック" charset="0"/>
        </a:defRPr>
      </a:lvl4pPr>
      <a:lvl5pPr algn="l" defTabSz="796925" rtl="0" eaLnBrk="1" fontAlgn="base" hangingPunct="1">
        <a:spcBef>
          <a:spcPct val="0"/>
        </a:spcBef>
        <a:spcAft>
          <a:spcPct val="0"/>
        </a:spcAft>
        <a:defRPr sz="4800">
          <a:solidFill>
            <a:srgbClr val="9FAA00"/>
          </a:solidFill>
          <a:latin typeface="Arial" charset="0"/>
          <a:ea typeface="ＭＳ Ｐゴシック" charset="0"/>
        </a:defRPr>
      </a:lvl5pPr>
      <a:lvl6pPr marL="457200" algn="l" defTabSz="796925" rtl="0" eaLnBrk="1" fontAlgn="base" hangingPunct="1">
        <a:spcBef>
          <a:spcPct val="0"/>
        </a:spcBef>
        <a:spcAft>
          <a:spcPct val="0"/>
        </a:spcAft>
        <a:defRPr sz="4800">
          <a:solidFill>
            <a:srgbClr val="9FAA00"/>
          </a:solidFill>
          <a:latin typeface="Arial" charset="0"/>
          <a:ea typeface="ＭＳ Ｐゴシック" charset="0"/>
        </a:defRPr>
      </a:lvl6pPr>
      <a:lvl7pPr marL="914400" algn="l" defTabSz="796925" rtl="0" eaLnBrk="1" fontAlgn="base" hangingPunct="1">
        <a:spcBef>
          <a:spcPct val="0"/>
        </a:spcBef>
        <a:spcAft>
          <a:spcPct val="0"/>
        </a:spcAft>
        <a:defRPr sz="4800">
          <a:solidFill>
            <a:srgbClr val="9FAA00"/>
          </a:solidFill>
          <a:latin typeface="Arial" charset="0"/>
          <a:ea typeface="ＭＳ Ｐゴシック" charset="0"/>
        </a:defRPr>
      </a:lvl7pPr>
      <a:lvl8pPr marL="1371600" algn="l" defTabSz="796925" rtl="0" eaLnBrk="1" fontAlgn="base" hangingPunct="1">
        <a:spcBef>
          <a:spcPct val="0"/>
        </a:spcBef>
        <a:spcAft>
          <a:spcPct val="0"/>
        </a:spcAft>
        <a:defRPr sz="4800">
          <a:solidFill>
            <a:srgbClr val="9FAA00"/>
          </a:solidFill>
          <a:latin typeface="Arial" charset="0"/>
          <a:ea typeface="ＭＳ Ｐゴシック" charset="0"/>
        </a:defRPr>
      </a:lvl8pPr>
      <a:lvl9pPr marL="1828800" algn="l" defTabSz="796925" rtl="0" eaLnBrk="1" fontAlgn="base" hangingPunct="1">
        <a:spcBef>
          <a:spcPct val="0"/>
        </a:spcBef>
        <a:spcAft>
          <a:spcPct val="0"/>
        </a:spcAft>
        <a:defRPr sz="4800">
          <a:solidFill>
            <a:srgbClr val="9FAA00"/>
          </a:solidFill>
          <a:latin typeface="Arial" charset="0"/>
          <a:ea typeface="ＭＳ Ｐゴシック" charset="0"/>
        </a:defRPr>
      </a:lvl9pPr>
    </p:titleStyle>
    <p:bodyStyle>
      <a:lvl1pPr marL="298450" indent="-298450" algn="l" defTabSz="796925" rtl="0" eaLnBrk="1" fontAlgn="base" hangingPunct="1">
        <a:spcBef>
          <a:spcPct val="20000"/>
        </a:spcBef>
        <a:spcAft>
          <a:spcPct val="0"/>
        </a:spcAft>
        <a:buClr>
          <a:srgbClr val="9FAA00"/>
        </a:buClr>
        <a:buChar char="•"/>
        <a:defRPr sz="2800">
          <a:solidFill>
            <a:schemeClr val="tx1"/>
          </a:solidFill>
          <a:latin typeface="+mn-lt"/>
          <a:ea typeface="+mn-ea"/>
          <a:cs typeface="+mn-cs"/>
        </a:defRPr>
      </a:lvl1pPr>
      <a:lvl2pPr marL="647700" indent="-249238" algn="l" defTabSz="796925" rtl="0" eaLnBrk="1" fontAlgn="base" hangingPunct="1">
        <a:spcBef>
          <a:spcPct val="20000"/>
        </a:spcBef>
        <a:spcAft>
          <a:spcPct val="0"/>
        </a:spcAft>
        <a:buChar char="–"/>
        <a:defRPr sz="2800">
          <a:solidFill>
            <a:schemeClr val="tx1"/>
          </a:solidFill>
          <a:latin typeface="+mn-lt"/>
          <a:ea typeface="+mn-ea"/>
        </a:defRPr>
      </a:lvl2pPr>
      <a:lvl3pPr marL="993775" indent="-196850" algn="l" defTabSz="796925" rtl="0" eaLnBrk="1" fontAlgn="base" hangingPunct="1">
        <a:spcBef>
          <a:spcPct val="20000"/>
        </a:spcBef>
        <a:spcAft>
          <a:spcPct val="0"/>
        </a:spcAft>
        <a:buClr>
          <a:srgbClr val="9FAA00"/>
        </a:buClr>
        <a:buChar char="•"/>
        <a:defRPr sz="2800">
          <a:solidFill>
            <a:schemeClr val="tx1"/>
          </a:solidFill>
          <a:latin typeface="+mn-lt"/>
          <a:ea typeface="+mn-ea"/>
        </a:defRPr>
      </a:lvl3pPr>
      <a:lvl4pPr marL="1392238" indent="-198438" algn="l" defTabSz="796925" rtl="0" eaLnBrk="1" fontAlgn="base" hangingPunct="1">
        <a:spcBef>
          <a:spcPct val="20000"/>
        </a:spcBef>
        <a:spcAft>
          <a:spcPct val="0"/>
        </a:spcAft>
        <a:buChar char="–"/>
        <a:defRPr sz="2800">
          <a:solidFill>
            <a:schemeClr val="tx1"/>
          </a:solidFill>
          <a:latin typeface="+mn-lt"/>
          <a:ea typeface="+mn-ea"/>
        </a:defRPr>
      </a:lvl4pPr>
      <a:lvl5pPr marL="1787525" indent="-198438" algn="l" defTabSz="796925" rtl="0" eaLnBrk="1" fontAlgn="base" hangingPunct="1">
        <a:spcBef>
          <a:spcPct val="20000"/>
        </a:spcBef>
        <a:spcAft>
          <a:spcPct val="0"/>
        </a:spcAft>
        <a:buChar char="»"/>
        <a:defRPr sz="2000">
          <a:solidFill>
            <a:schemeClr val="tx1"/>
          </a:solidFill>
          <a:latin typeface="+mn-lt"/>
          <a:ea typeface="+mn-ea"/>
        </a:defRPr>
      </a:lvl5pPr>
      <a:lvl6pPr marL="2244725" indent="-198438" algn="l" defTabSz="796925" rtl="0" eaLnBrk="1" fontAlgn="base" hangingPunct="1">
        <a:spcBef>
          <a:spcPct val="20000"/>
        </a:spcBef>
        <a:spcAft>
          <a:spcPct val="0"/>
        </a:spcAft>
        <a:buChar char="»"/>
        <a:defRPr sz="2000">
          <a:solidFill>
            <a:schemeClr val="tx1"/>
          </a:solidFill>
          <a:latin typeface="+mn-lt"/>
          <a:ea typeface="+mn-ea"/>
        </a:defRPr>
      </a:lvl6pPr>
      <a:lvl7pPr marL="2701925" indent="-198438" algn="l" defTabSz="796925" rtl="0" eaLnBrk="1" fontAlgn="base" hangingPunct="1">
        <a:spcBef>
          <a:spcPct val="20000"/>
        </a:spcBef>
        <a:spcAft>
          <a:spcPct val="0"/>
        </a:spcAft>
        <a:buChar char="»"/>
        <a:defRPr sz="2000">
          <a:solidFill>
            <a:schemeClr val="tx1"/>
          </a:solidFill>
          <a:latin typeface="+mn-lt"/>
          <a:ea typeface="+mn-ea"/>
        </a:defRPr>
      </a:lvl7pPr>
      <a:lvl8pPr marL="3159125" indent="-198438" algn="l" defTabSz="796925" rtl="0" eaLnBrk="1" fontAlgn="base" hangingPunct="1">
        <a:spcBef>
          <a:spcPct val="20000"/>
        </a:spcBef>
        <a:spcAft>
          <a:spcPct val="0"/>
        </a:spcAft>
        <a:buChar char="»"/>
        <a:defRPr sz="2000">
          <a:solidFill>
            <a:schemeClr val="tx1"/>
          </a:solidFill>
          <a:latin typeface="+mn-lt"/>
          <a:ea typeface="+mn-ea"/>
        </a:defRPr>
      </a:lvl8pPr>
      <a:lvl9pPr marL="3616325" indent="-198438" algn="l" defTabSz="796925" rtl="0" eaLnBrk="1" fontAlgn="base" hangingPunct="1">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emf"/><Relationship Id="rId3"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Document1.docx"/><Relationship Id="rId4" Type="http://schemas.openxmlformats.org/officeDocument/2006/relationships/image" Target="../media/image7.png"/><Relationship Id="rId5" Type="http://schemas.openxmlformats.org/officeDocument/2006/relationships/package" Target="../embeddings/Microsoft_Word_Document2.docx"/><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2.open.ac.uk/mod/oucontent/view.php?id=679401&amp;extra=thumbnail_idp190192" TargetMode="External"/><Relationship Id="rId3"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2.open.ac.uk/mod/oucontent/view.php?id=679401&amp;extra=thumbnail_idp199168" TargetMode="External"/><Relationship Id="rId3"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2.open.ac.uk/mod/oucontent/view.php?id=679401&amp;extra=thumbnail_idp215808" TargetMode="External"/><Relationship Id="rId3"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Document3.docx"/><Relationship Id="rId4" Type="http://schemas.openxmlformats.org/officeDocument/2006/relationships/image" Target="../media/image11.pn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2.open.ac.uk/mod/oucontent/view.php?id=679401&amp;extra=thumbnail_idp333728" TargetMode="External"/><Relationship Id="rId3" Type="http://schemas.openxmlformats.org/officeDocument/2006/relationships/image" Target="../media/image1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2.open.ac.uk/mod/oucontent/view.php?id=679401&amp;extra=thumbnail_idp420528" TargetMode="External"/><Relationship Id="rId3"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288" y="3619500"/>
            <a:ext cx="7427019" cy="1311318"/>
          </a:xfrm>
        </p:spPr>
        <p:txBody>
          <a:bodyPr/>
          <a:lstStyle/>
          <a:p>
            <a:r>
              <a:rPr lang="en-US" dirty="0" smtClean="0"/>
              <a:t>TM354 Block </a:t>
            </a:r>
            <a:r>
              <a:rPr lang="en-US" dirty="0" smtClean="0"/>
              <a:t>3</a:t>
            </a:r>
            <a:r>
              <a:rPr lang="en-US" dirty="0" smtClean="0"/>
              <a:t/>
            </a:r>
            <a:br>
              <a:rPr lang="en-US" dirty="0" smtClean="0"/>
            </a:br>
            <a:r>
              <a:rPr lang="en-US" dirty="0" smtClean="0"/>
              <a:t>From architecture to product</a:t>
            </a:r>
            <a:endParaRPr lang="en-US" dirty="0"/>
          </a:p>
        </p:txBody>
      </p:sp>
      <p:sp>
        <p:nvSpPr>
          <p:cNvPr id="3" name="Subtitle 2"/>
          <p:cNvSpPr>
            <a:spLocks noGrp="1"/>
          </p:cNvSpPr>
          <p:nvPr>
            <p:ph type="subTitle" idx="1"/>
          </p:nvPr>
        </p:nvSpPr>
        <p:spPr>
          <a:xfrm>
            <a:off x="395288" y="5724525"/>
            <a:ext cx="8362950" cy="541877"/>
          </a:xfrm>
        </p:spPr>
        <p:txBody>
          <a:bodyPr/>
          <a:lstStyle/>
          <a:p>
            <a:r>
              <a:rPr lang="en-US" dirty="0" smtClean="0"/>
              <a:t>Chris Thomson </a:t>
            </a:r>
            <a:r>
              <a:rPr lang="en-US" dirty="0" err="1" smtClean="0"/>
              <a:t>c.d.thomson@open.ac.uk</a:t>
            </a:r>
            <a:endParaRPr lang="en-US" dirty="0"/>
          </a:p>
        </p:txBody>
      </p:sp>
    </p:spTree>
    <p:extLst>
      <p:ext uri="{BB962C8B-B14F-4D97-AF65-F5344CB8AC3E}">
        <p14:creationId xmlns:p14="http://schemas.microsoft.com/office/powerpoint/2010/main" val="1700234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a:t>
            </a:r>
            <a:endParaRPr lang="en-US" dirty="0"/>
          </a:p>
        </p:txBody>
      </p:sp>
      <p:sp>
        <p:nvSpPr>
          <p:cNvPr id="3" name="Content Placeholder 2"/>
          <p:cNvSpPr>
            <a:spLocks noGrp="1"/>
          </p:cNvSpPr>
          <p:nvPr>
            <p:ph idx="1"/>
          </p:nvPr>
        </p:nvSpPr>
        <p:spPr>
          <a:xfrm>
            <a:off x="395288" y="2733675"/>
            <a:ext cx="9410700" cy="3010245"/>
          </a:xfrm>
        </p:spPr>
        <p:txBody>
          <a:bodyPr/>
          <a:lstStyle/>
          <a:p>
            <a:r>
              <a:rPr lang="en-US" dirty="0" smtClean="0"/>
              <a:t>Review OCL</a:t>
            </a:r>
          </a:p>
          <a:p>
            <a:r>
              <a:rPr lang="en-US" dirty="0" smtClean="0"/>
              <a:t>Review unit 9</a:t>
            </a:r>
          </a:p>
          <a:p>
            <a:r>
              <a:rPr lang="en-US" dirty="0" smtClean="0"/>
              <a:t>Get an overview of the topics covered in units 10 and 11</a:t>
            </a:r>
          </a:p>
          <a:p>
            <a:endParaRPr lang="en-US" dirty="0" smtClean="0"/>
          </a:p>
          <a:p>
            <a:pPr marL="0" indent="0">
              <a:buNone/>
            </a:pPr>
            <a:r>
              <a:rPr lang="en-US" dirty="0" smtClean="0"/>
              <a:t>Make sure you get the primers from the tutor group forum, and annotate them as we go along!</a:t>
            </a:r>
            <a:endParaRPr lang="en-US" dirty="0"/>
          </a:p>
        </p:txBody>
      </p:sp>
    </p:spTree>
    <p:extLst>
      <p:ext uri="{BB962C8B-B14F-4D97-AF65-F5344CB8AC3E}">
        <p14:creationId xmlns:p14="http://schemas.microsoft.com/office/powerpoint/2010/main" val="369582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Tell me how you are feeling</a:t>
            </a:r>
            <a:endParaRPr lang="en-US" dirty="0"/>
          </a:p>
        </p:txBody>
      </p:sp>
      <p:sp>
        <p:nvSpPr>
          <p:cNvPr id="3" name="Content Placeholder 2"/>
          <p:cNvSpPr>
            <a:spLocks noGrp="1"/>
          </p:cNvSpPr>
          <p:nvPr>
            <p:ph idx="1"/>
          </p:nvPr>
        </p:nvSpPr>
        <p:spPr>
          <a:xfrm>
            <a:off x="395288" y="2733675"/>
            <a:ext cx="9410700" cy="4992326"/>
          </a:xfrm>
        </p:spPr>
        <p:txBody>
          <a:bodyPr/>
          <a:lstStyle/>
          <a:p>
            <a:r>
              <a:rPr lang="en-US" dirty="0" smtClean="0"/>
              <a:t>Use your pointer to help me know when to move on with a topic</a:t>
            </a:r>
          </a:p>
          <a:p>
            <a:endParaRPr lang="en-US" dirty="0"/>
          </a:p>
          <a:p>
            <a:endParaRPr lang="en-US" dirty="0" smtClean="0"/>
          </a:p>
          <a:p>
            <a:endParaRPr lang="en-US" dirty="0"/>
          </a:p>
          <a:p>
            <a:r>
              <a:rPr lang="en-US" dirty="0" smtClean="0"/>
              <a:t>Far left means I understand this move on</a:t>
            </a:r>
          </a:p>
          <a:p>
            <a:r>
              <a:rPr lang="en-US" dirty="0" smtClean="0"/>
              <a:t>Middle means I’m still confused keep going</a:t>
            </a:r>
          </a:p>
          <a:p>
            <a:r>
              <a:rPr lang="en-US" dirty="0" smtClean="0"/>
              <a:t>Far Right means I don’t understand but let me study offline.</a:t>
            </a:r>
          </a:p>
          <a:p>
            <a:endParaRPr lang="en-US" dirty="0"/>
          </a:p>
        </p:txBody>
      </p:sp>
      <p:pic>
        <p:nvPicPr>
          <p:cNvPr id="4" name="Picture 3"/>
          <p:cNvPicPr>
            <a:picLocks noChangeAspect="1"/>
          </p:cNvPicPr>
          <p:nvPr/>
        </p:nvPicPr>
        <p:blipFill rotWithShape="1">
          <a:blip r:embed="rId2"/>
          <a:srcRect l="46937" t="34039" r="1735" b="49315"/>
          <a:stretch/>
        </p:blipFill>
        <p:spPr>
          <a:xfrm>
            <a:off x="765523" y="3636615"/>
            <a:ext cx="5034424" cy="1258556"/>
          </a:xfrm>
          <a:prstGeom prst="rect">
            <a:avLst/>
          </a:prstGeom>
        </p:spPr>
      </p:pic>
    </p:spTree>
    <p:extLst>
      <p:ext uri="{BB962C8B-B14F-4D97-AF65-F5344CB8AC3E}">
        <p14:creationId xmlns:p14="http://schemas.microsoft.com/office/powerpoint/2010/main" val="316651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500" y="4859338"/>
            <a:ext cx="8891588" cy="695765"/>
          </a:xfrm>
        </p:spPr>
        <p:txBody>
          <a:bodyPr/>
          <a:lstStyle/>
          <a:p>
            <a:r>
              <a:rPr lang="en-US" dirty="0" smtClean="0"/>
              <a:t>Block 2 review</a:t>
            </a:r>
            <a:endParaRPr lang="en-US" dirty="0"/>
          </a:p>
        </p:txBody>
      </p:sp>
      <p:sp>
        <p:nvSpPr>
          <p:cNvPr id="3" name="Text Placeholder 2"/>
          <p:cNvSpPr>
            <a:spLocks noGrp="1"/>
          </p:cNvSpPr>
          <p:nvPr>
            <p:ph type="body" idx="1"/>
          </p:nvPr>
        </p:nvSpPr>
        <p:spPr>
          <a:xfrm>
            <a:off x="825500" y="4471350"/>
            <a:ext cx="8891588" cy="387988"/>
          </a:xfrm>
        </p:spPr>
        <p:txBody>
          <a:bodyPr/>
          <a:lstStyle/>
          <a:p>
            <a:r>
              <a:rPr lang="en-US" dirty="0" smtClean="0"/>
              <a:t>Block 2</a:t>
            </a:r>
            <a:endParaRPr lang="en-US" dirty="0"/>
          </a:p>
        </p:txBody>
      </p:sp>
    </p:spTree>
    <p:extLst>
      <p:ext uri="{BB962C8B-B14F-4D97-AF65-F5344CB8AC3E}">
        <p14:creationId xmlns:p14="http://schemas.microsoft.com/office/powerpoint/2010/main" val="2871970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smtClean="0"/>
              <a:t>Block 2: OCL</a:t>
            </a:r>
            <a:endParaRPr lang="en-US" dirty="0"/>
          </a:p>
        </p:txBody>
      </p:sp>
      <p:sp>
        <p:nvSpPr>
          <p:cNvPr id="3" name="Content Placeholder 2"/>
          <p:cNvSpPr>
            <a:spLocks noGrp="1"/>
          </p:cNvSpPr>
          <p:nvPr>
            <p:ph idx="1"/>
          </p:nvPr>
        </p:nvSpPr>
        <p:spPr>
          <a:xfrm>
            <a:off x="395288" y="2733675"/>
            <a:ext cx="9410700" cy="2062293"/>
          </a:xfrm>
        </p:spPr>
        <p:txBody>
          <a:bodyPr/>
          <a:lstStyle/>
          <a:p>
            <a:r>
              <a:rPr lang="en-US" dirty="0" smtClean="0"/>
              <a:t>We will</a:t>
            </a:r>
          </a:p>
          <a:p>
            <a:pPr lvl="1"/>
            <a:r>
              <a:rPr lang="en-US" dirty="0" smtClean="0"/>
              <a:t>Discuss how to construct OCL</a:t>
            </a:r>
          </a:p>
          <a:p>
            <a:pPr lvl="1"/>
            <a:r>
              <a:rPr lang="en-US" dirty="0" smtClean="0"/>
              <a:t>Compare answers to the TMA question</a:t>
            </a:r>
          </a:p>
          <a:p>
            <a:pPr lvl="1"/>
            <a:r>
              <a:rPr lang="en-US" dirty="0" smtClean="0"/>
              <a:t>Discuss exam strategies</a:t>
            </a:r>
            <a:endParaRPr lang="en-US" dirty="0"/>
          </a:p>
        </p:txBody>
      </p:sp>
    </p:spTree>
    <p:extLst>
      <p:ext uri="{BB962C8B-B14F-4D97-AF65-F5344CB8AC3E}">
        <p14:creationId xmlns:p14="http://schemas.microsoft.com/office/powerpoint/2010/main" val="2471497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Constraint Language</a:t>
            </a:r>
            <a:endParaRPr lang="en-US" dirty="0"/>
          </a:p>
        </p:txBody>
      </p:sp>
      <p:pic>
        <p:nvPicPr>
          <p:cNvPr id="3" name="Picture 2"/>
          <p:cNvPicPr/>
          <p:nvPr/>
        </p:nvPicPr>
        <p:blipFill>
          <a:blip r:embed="rId2">
            <a:extLst>
              <a:ext uri="{28A0092B-C50C-407E-A947-70E740481C1C}">
                <a14:useLocalDpi xmlns:a14="http://schemas.microsoft.com/office/drawing/2010/main"/>
              </a:ext>
            </a:extLst>
          </a:blip>
          <a:srcRect/>
          <a:stretch>
            <a:fillRect/>
          </a:stretch>
        </p:blipFill>
        <p:spPr bwMode="auto">
          <a:xfrm>
            <a:off x="477491" y="2700511"/>
            <a:ext cx="9082152" cy="720080"/>
          </a:xfrm>
          <a:prstGeom prst="rect">
            <a:avLst/>
          </a:prstGeom>
          <a:noFill/>
          <a:ln>
            <a:noFill/>
          </a:ln>
        </p:spPr>
      </p:pic>
      <p:pic>
        <p:nvPicPr>
          <p:cNvPr id="4" name="Picture 3"/>
          <p:cNvPicPr/>
          <p:nvPr/>
        </p:nvPicPr>
        <p:blipFill>
          <a:blip r:embed="rId3">
            <a:extLst>
              <a:ext uri="{28A0092B-C50C-407E-A947-70E740481C1C}">
                <a14:useLocalDpi xmlns:a14="http://schemas.microsoft.com/office/drawing/2010/main"/>
              </a:ext>
            </a:extLst>
          </a:blip>
          <a:srcRect/>
          <a:stretch>
            <a:fillRect/>
          </a:stretch>
        </p:blipFill>
        <p:spPr bwMode="auto">
          <a:xfrm>
            <a:off x="549499" y="3420591"/>
            <a:ext cx="3200884" cy="648072"/>
          </a:xfrm>
          <a:prstGeom prst="rect">
            <a:avLst/>
          </a:prstGeom>
          <a:noFill/>
          <a:ln>
            <a:noFill/>
          </a:ln>
        </p:spPr>
      </p:pic>
    </p:spTree>
    <p:extLst>
      <p:ext uri="{BB962C8B-B14F-4D97-AF65-F5344CB8AC3E}">
        <p14:creationId xmlns:p14="http://schemas.microsoft.com/office/powerpoint/2010/main" val="242990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a:blip r:embed="rId2"/>
          <a:stretch>
            <a:fillRect/>
          </a:stretch>
        </p:blipFill>
        <p:spPr>
          <a:xfrm>
            <a:off x="333475" y="900311"/>
            <a:ext cx="9938490" cy="6351116"/>
          </a:xfrm>
          <a:prstGeom prst="rect">
            <a:avLst/>
          </a:prstGeom>
        </p:spPr>
      </p:pic>
    </p:spTree>
    <p:extLst>
      <p:ext uri="{BB962C8B-B14F-4D97-AF65-F5344CB8AC3E}">
        <p14:creationId xmlns:p14="http://schemas.microsoft.com/office/powerpoint/2010/main" val="1573705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177197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500" y="4859338"/>
            <a:ext cx="8891588" cy="695765"/>
          </a:xfrm>
        </p:spPr>
        <p:txBody>
          <a:bodyPr/>
          <a:lstStyle/>
          <a:p>
            <a:r>
              <a:rPr lang="en-US" dirty="0" smtClean="0"/>
              <a:t>Unit 9 review</a:t>
            </a:r>
            <a:endParaRPr lang="en-US" dirty="0"/>
          </a:p>
        </p:txBody>
      </p:sp>
      <p:sp>
        <p:nvSpPr>
          <p:cNvPr id="3" name="Text Placeholder 2"/>
          <p:cNvSpPr>
            <a:spLocks noGrp="1"/>
          </p:cNvSpPr>
          <p:nvPr>
            <p:ph type="body" idx="1"/>
          </p:nvPr>
        </p:nvSpPr>
        <p:spPr>
          <a:xfrm>
            <a:off x="825500" y="4471350"/>
            <a:ext cx="8891588" cy="387988"/>
          </a:xfrm>
        </p:spPr>
        <p:txBody>
          <a:bodyPr/>
          <a:lstStyle/>
          <a:p>
            <a:r>
              <a:rPr lang="en-US" dirty="0" smtClean="0"/>
              <a:t>Block 3</a:t>
            </a:r>
            <a:endParaRPr lang="en-US" dirty="0"/>
          </a:p>
        </p:txBody>
      </p:sp>
    </p:spTree>
    <p:extLst>
      <p:ext uri="{BB962C8B-B14F-4D97-AF65-F5344CB8AC3E}">
        <p14:creationId xmlns:p14="http://schemas.microsoft.com/office/powerpoint/2010/main" val="2085061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486238785"/>
              </p:ext>
            </p:extLst>
          </p:nvPr>
        </p:nvGraphicFramePr>
        <p:xfrm>
          <a:off x="2593975" y="2535238"/>
          <a:ext cx="5270500" cy="2489200"/>
        </p:xfrm>
        <a:graphic>
          <a:graphicData uri="http://schemas.openxmlformats.org/presentationml/2006/ole">
            <mc:AlternateContent xmlns:mc="http://schemas.openxmlformats.org/markup-compatibility/2006">
              <mc:Choice xmlns:v="urn:schemas-microsoft-com:vml" Requires="v">
                <p:oleObj spid="_x0000_s1044" name="Document" r:id="rId3" imgW="5270500" imgH="2489200" progId="Word.Document.12">
                  <p:embed/>
                </p:oleObj>
              </mc:Choice>
              <mc:Fallback>
                <p:oleObj name="Document" r:id="rId3" imgW="5270500" imgH="2489200" progId="Word.Document.12">
                  <p:embed/>
                  <p:pic>
                    <p:nvPicPr>
                      <p:cNvPr id="0" name=""/>
                      <p:cNvPicPr/>
                      <p:nvPr/>
                    </p:nvPicPr>
                    <p:blipFill>
                      <a:blip r:embed="rId4"/>
                      <a:stretch>
                        <a:fillRect/>
                      </a:stretch>
                    </p:blipFill>
                    <p:spPr>
                      <a:xfrm>
                        <a:off x="2593975" y="2535238"/>
                        <a:ext cx="5270500" cy="24892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823834656"/>
              </p:ext>
            </p:extLst>
          </p:nvPr>
        </p:nvGraphicFramePr>
        <p:xfrm>
          <a:off x="1125562" y="2556495"/>
          <a:ext cx="8843023" cy="4176464"/>
        </p:xfrm>
        <a:graphic>
          <a:graphicData uri="http://schemas.openxmlformats.org/presentationml/2006/ole">
            <mc:AlternateContent xmlns:mc="http://schemas.openxmlformats.org/markup-compatibility/2006">
              <mc:Choice xmlns:v="urn:schemas-microsoft-com:vml" Requires="v">
                <p:oleObj spid="_x0000_s1045" name="Document" r:id="rId5" imgW="5270500" imgH="2489200" progId="Word.Document.12">
                  <p:embed/>
                </p:oleObj>
              </mc:Choice>
              <mc:Fallback>
                <p:oleObj name="Document" r:id="rId5" imgW="5270500" imgH="2489200" progId="Word.Document.12">
                  <p:embed/>
                  <p:pic>
                    <p:nvPicPr>
                      <p:cNvPr id="0" name=""/>
                      <p:cNvPicPr/>
                      <p:nvPr/>
                    </p:nvPicPr>
                    <p:blipFill>
                      <a:blip r:embed="rId4"/>
                      <a:stretch>
                        <a:fillRect/>
                      </a:stretch>
                    </p:blipFill>
                    <p:spPr>
                      <a:xfrm>
                        <a:off x="1125562" y="2556495"/>
                        <a:ext cx="8843023" cy="4176464"/>
                      </a:xfrm>
                      <a:prstGeom prst="rect">
                        <a:avLst/>
                      </a:prstGeom>
                    </p:spPr>
                  </p:pic>
                </p:oleObj>
              </mc:Fallback>
            </mc:AlternateContent>
          </a:graphicData>
        </a:graphic>
      </p:graphicFrame>
    </p:spTree>
    <p:extLst>
      <p:ext uri="{BB962C8B-B14F-4D97-AF65-F5344CB8AC3E}">
        <p14:creationId xmlns:p14="http://schemas.microsoft.com/office/powerpoint/2010/main" val="1602488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475" y="468263"/>
            <a:ext cx="9410700" cy="7282183"/>
          </a:xfrm>
        </p:spPr>
        <p:txBody>
          <a:bodyPr/>
          <a:lstStyle/>
          <a:p>
            <a:r>
              <a:rPr lang="en-US" sz="2000" b="1" dirty="0"/>
              <a:t>The Layered style</a:t>
            </a:r>
          </a:p>
          <a:p>
            <a:r>
              <a:rPr lang="en-US" sz="2000" dirty="0"/>
              <a:t>In this subsection we describe a widely adopted architectural pattern: the Layers pattern. The following description is based on that of </a:t>
            </a:r>
            <a:r>
              <a:rPr lang="en-US" sz="2000" dirty="0" err="1"/>
              <a:t>Buschmann</a:t>
            </a:r>
            <a:r>
              <a:rPr lang="en-US" sz="2000" dirty="0"/>
              <a:t> et al. (1996).</a:t>
            </a:r>
          </a:p>
          <a:p>
            <a:pPr lvl="0"/>
            <a:r>
              <a:rPr lang="en-US" sz="2000" b="1" dirty="0"/>
              <a:t>Name</a:t>
            </a:r>
            <a:r>
              <a:rPr lang="en-US" sz="2000" dirty="0"/>
              <a:t> Layers.</a:t>
            </a:r>
          </a:p>
          <a:p>
            <a:pPr lvl="0"/>
            <a:r>
              <a:rPr lang="en-US" sz="2000" b="1" dirty="0"/>
              <a:t>Intent</a:t>
            </a:r>
            <a:r>
              <a:rPr lang="en-US" sz="2000" dirty="0"/>
              <a:t> To help structure the architecture of a system into groups of </a:t>
            </a:r>
            <a:r>
              <a:rPr lang="en-US" sz="2000" dirty="0" err="1"/>
              <a:t>subfunctions</a:t>
            </a:r>
            <a:r>
              <a:rPr lang="en-US" sz="2000" dirty="0"/>
              <a:t>, each at a particular level of abstraction.</a:t>
            </a:r>
          </a:p>
          <a:p>
            <a:pPr lvl="0"/>
            <a:r>
              <a:rPr lang="en-US" sz="2000" b="1" dirty="0"/>
              <a:t>How it works</a:t>
            </a:r>
            <a:r>
              <a:rPr lang="en-US" sz="2000" dirty="0"/>
              <a:t> The system is structured into an appropriate number of layers, which are then (logically) placed on top of each other, with each layer making use only of services provided by the layers below it.</a:t>
            </a:r>
          </a:p>
          <a:p>
            <a:pPr lvl="0"/>
            <a:r>
              <a:rPr lang="en-US" sz="2000" b="1" dirty="0"/>
              <a:t>When to use it</a:t>
            </a:r>
            <a:r>
              <a:rPr lang="en-US" sz="2000" dirty="0"/>
              <a:t> This pattern applies in the development of large complex systems, which require decomposition, in particular when there is a mix of low­ and high-level issues to be addressed.</a:t>
            </a:r>
          </a:p>
          <a:p>
            <a:pPr lvl="0"/>
            <a:r>
              <a:rPr lang="en-US" sz="2000" b="1" dirty="0"/>
              <a:t>Example</a:t>
            </a:r>
            <a:r>
              <a:rPr lang="en-US" sz="2000" dirty="0"/>
              <a:t> Networking protocols (e.g. the ISO OSI seven-layer model) are probably the best known examples of layered architectures. Such protocols usually consist of a set of rules and conventions that describe how computers communicate across machine boundaries and over networks. They are usually </a:t>
            </a:r>
            <a:r>
              <a:rPr lang="en-US" sz="2000" dirty="0" err="1"/>
              <a:t>organised</a:t>
            </a:r>
            <a:r>
              <a:rPr lang="en-US" sz="2000" dirty="0"/>
              <a:t> in </a:t>
            </a:r>
            <a:r>
              <a:rPr lang="en-US" sz="2000" dirty="0" err="1"/>
              <a:t>subprotocols</a:t>
            </a:r>
            <a:r>
              <a:rPr lang="en-US" sz="2000" dirty="0"/>
              <a:t> at various levels of abstraction, ranging from the physical layer (dealing with transferring electrical signals on a physical network) up to the application layer (dealing with transferring data between remote applications).</a:t>
            </a:r>
          </a:p>
          <a:p>
            <a:endParaRPr lang="en-US" sz="2000" dirty="0"/>
          </a:p>
        </p:txBody>
      </p:sp>
    </p:spTree>
    <p:extLst>
      <p:ext uri="{BB962C8B-B14F-4D97-AF65-F5344CB8AC3E}">
        <p14:creationId xmlns:p14="http://schemas.microsoft.com/office/powerpoint/2010/main" val="125821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021218"/>
            <a:ext cx="9410700" cy="2296203"/>
          </a:xfrm>
        </p:spPr>
        <p:txBody>
          <a:bodyPr/>
          <a:lstStyle/>
          <a:p>
            <a:r>
              <a:rPr lang="en-US" dirty="0"/>
              <a:t>Figure 9 Client–server architectural style</a:t>
            </a:r>
            <a:br>
              <a:rPr lang="en-US" dirty="0"/>
            </a:br>
            <a:endParaRPr lang="en-US" dirty="0"/>
          </a:p>
        </p:txBody>
      </p:sp>
      <p:pic>
        <p:nvPicPr>
          <p:cNvPr id="4" name="Content Placeholder 3">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287" y="2840037"/>
            <a:ext cx="9011195" cy="4252962"/>
          </a:xfrm>
          <a:prstGeom prst="rect">
            <a:avLst/>
          </a:prstGeom>
          <a:noFill/>
          <a:ln>
            <a:noFill/>
          </a:ln>
        </p:spPr>
      </p:pic>
    </p:spTree>
    <p:extLst>
      <p:ext uri="{BB962C8B-B14F-4D97-AF65-F5344CB8AC3E}">
        <p14:creationId xmlns:p14="http://schemas.microsoft.com/office/powerpoint/2010/main" val="1649354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390550"/>
            <a:ext cx="9410700" cy="1557539"/>
          </a:xfrm>
        </p:spPr>
        <p:txBody>
          <a:bodyPr/>
          <a:lstStyle/>
          <a:p>
            <a:r>
              <a:rPr lang="en-US" dirty="0"/>
              <a:t>Figure 10 Call-return architectural </a:t>
            </a:r>
            <a:r>
              <a:rPr lang="en-US" dirty="0" smtClean="0"/>
              <a:t>style</a:t>
            </a:r>
            <a:endParaRPr lang="en-US" dirty="0"/>
          </a:p>
        </p:txBody>
      </p:sp>
      <p:pic>
        <p:nvPicPr>
          <p:cNvPr id="4" name="Content Placeholder 3">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77491" y="3303587"/>
            <a:ext cx="9217024" cy="3501380"/>
          </a:xfrm>
          <a:prstGeom prst="rect">
            <a:avLst/>
          </a:prstGeom>
          <a:noFill/>
          <a:ln>
            <a:noFill/>
          </a:ln>
        </p:spPr>
      </p:pic>
    </p:spTree>
    <p:extLst>
      <p:ext uri="{BB962C8B-B14F-4D97-AF65-F5344CB8AC3E}">
        <p14:creationId xmlns:p14="http://schemas.microsoft.com/office/powerpoint/2010/main" val="91080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021218"/>
            <a:ext cx="9410700" cy="2296203"/>
          </a:xfrm>
        </p:spPr>
        <p:txBody>
          <a:bodyPr/>
          <a:lstStyle/>
          <a:p>
            <a:r>
              <a:rPr lang="en-US" dirty="0"/>
              <a:t>Figure 12 Peer-to-peer architectural style</a:t>
            </a:r>
            <a:br>
              <a:rPr lang="en-US" dirty="0"/>
            </a:br>
            <a:endParaRPr lang="en-US" dirty="0"/>
          </a:p>
        </p:txBody>
      </p:sp>
      <p:pic>
        <p:nvPicPr>
          <p:cNvPr id="4" name="Content Placeholder 3">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288" y="2960687"/>
            <a:ext cx="9410700" cy="4060304"/>
          </a:xfrm>
          <a:prstGeom prst="rect">
            <a:avLst/>
          </a:prstGeom>
          <a:noFill/>
          <a:ln>
            <a:noFill/>
          </a:ln>
        </p:spPr>
      </p:pic>
    </p:spTree>
    <p:extLst>
      <p:ext uri="{BB962C8B-B14F-4D97-AF65-F5344CB8AC3E}">
        <p14:creationId xmlns:p14="http://schemas.microsoft.com/office/powerpoint/2010/main" val="316308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b="1" dirty="0" smtClean="0"/>
              <a:t>Frameworks</a:t>
            </a:r>
            <a:endParaRPr lang="en-US" dirty="0"/>
          </a:p>
        </p:txBody>
      </p:sp>
      <p:sp>
        <p:nvSpPr>
          <p:cNvPr id="3" name="Content Placeholder 2"/>
          <p:cNvSpPr>
            <a:spLocks noGrp="1"/>
          </p:cNvSpPr>
          <p:nvPr>
            <p:ph idx="1"/>
          </p:nvPr>
        </p:nvSpPr>
        <p:spPr>
          <a:xfrm>
            <a:off x="395288" y="2733675"/>
            <a:ext cx="9410700" cy="4733793"/>
          </a:xfrm>
        </p:spPr>
        <p:txBody>
          <a:bodyPr/>
          <a:lstStyle/>
          <a:p>
            <a:r>
              <a:rPr lang="en-US" dirty="0"/>
              <a:t>R</a:t>
            </a:r>
            <a:r>
              <a:rPr lang="en-US" dirty="0" smtClean="0"/>
              <a:t>eusing </a:t>
            </a:r>
            <a:r>
              <a:rPr lang="en-US" dirty="0"/>
              <a:t>part of the architectural model of the previous </a:t>
            </a:r>
            <a:r>
              <a:rPr lang="en-US" dirty="0" smtClean="0"/>
              <a:t>systems, </a:t>
            </a:r>
            <a:r>
              <a:rPr lang="en-US" dirty="0"/>
              <a:t>along with the code that is common</a:t>
            </a:r>
            <a:r>
              <a:rPr lang="en-US" dirty="0" smtClean="0"/>
              <a:t>.</a:t>
            </a:r>
            <a:endParaRPr lang="en-US" dirty="0"/>
          </a:p>
          <a:p>
            <a:r>
              <a:rPr lang="en-US" dirty="0"/>
              <a:t>T</a:t>
            </a:r>
            <a:r>
              <a:rPr lang="en-US" dirty="0" smtClean="0"/>
              <a:t>he </a:t>
            </a:r>
            <a:r>
              <a:rPr lang="en-US" dirty="0"/>
              <a:t>framework contains some code for the framework itself, most of the code would be for components that could be slotted into the framework. </a:t>
            </a:r>
            <a:endParaRPr lang="en-US" dirty="0" smtClean="0"/>
          </a:p>
          <a:p>
            <a:r>
              <a:rPr lang="en-US" dirty="0" smtClean="0"/>
              <a:t>These </a:t>
            </a:r>
            <a:r>
              <a:rPr lang="en-US" dirty="0"/>
              <a:t>components would be stored in a component repository. </a:t>
            </a:r>
            <a:endParaRPr lang="en-US" dirty="0" smtClean="0"/>
          </a:p>
          <a:p>
            <a:r>
              <a:rPr lang="en-US" dirty="0" smtClean="0"/>
              <a:t>Each </a:t>
            </a:r>
            <a:r>
              <a:rPr lang="en-US" dirty="0"/>
              <a:t>framework would be accompanied by suitable documentation to facilitate its use.</a:t>
            </a:r>
          </a:p>
          <a:p>
            <a:endParaRPr lang="en-US" dirty="0"/>
          </a:p>
        </p:txBody>
      </p:sp>
    </p:spTree>
    <p:extLst>
      <p:ext uri="{BB962C8B-B14F-4D97-AF65-F5344CB8AC3E}">
        <p14:creationId xmlns:p14="http://schemas.microsoft.com/office/powerpoint/2010/main" val="1750956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b="1" dirty="0"/>
              <a:t>Product </a:t>
            </a:r>
            <a:r>
              <a:rPr lang="en-US" b="1" dirty="0" smtClean="0"/>
              <a:t>lines</a:t>
            </a:r>
            <a:endParaRPr lang="en-US" dirty="0"/>
          </a:p>
        </p:txBody>
      </p:sp>
      <p:sp>
        <p:nvSpPr>
          <p:cNvPr id="3" name="Content Placeholder 2"/>
          <p:cNvSpPr>
            <a:spLocks noGrp="1"/>
          </p:cNvSpPr>
          <p:nvPr>
            <p:ph idx="1"/>
          </p:nvPr>
        </p:nvSpPr>
        <p:spPr>
          <a:xfrm>
            <a:off x="395288" y="2733675"/>
            <a:ext cx="9410700" cy="941986"/>
          </a:xfrm>
        </p:spPr>
        <p:txBody>
          <a:bodyPr/>
          <a:lstStyle/>
          <a:p>
            <a:r>
              <a:rPr lang="en-US" dirty="0"/>
              <a:t>It frequently happens that a company wants to produce many similar software systems</a:t>
            </a:r>
            <a:r>
              <a:rPr lang="en-US" dirty="0" smtClean="0"/>
              <a:t>.</a:t>
            </a:r>
            <a:endParaRPr lang="en-US" dirty="0"/>
          </a:p>
        </p:txBody>
      </p:sp>
    </p:spTree>
    <p:extLst>
      <p:ext uri="{BB962C8B-B14F-4D97-AF65-F5344CB8AC3E}">
        <p14:creationId xmlns:p14="http://schemas.microsoft.com/office/powerpoint/2010/main" val="228211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Patterns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737393813"/>
              </p:ext>
            </p:extLst>
          </p:nvPr>
        </p:nvGraphicFramePr>
        <p:xfrm>
          <a:off x="405483" y="3204567"/>
          <a:ext cx="10512132" cy="3748905"/>
        </p:xfrm>
        <a:graphic>
          <a:graphicData uri="http://schemas.openxmlformats.org/presentationml/2006/ole">
            <mc:AlternateContent xmlns:mc="http://schemas.openxmlformats.org/markup-compatibility/2006">
              <mc:Choice xmlns:v="urn:schemas-microsoft-com:vml" Requires="v">
                <p:oleObj spid="_x0000_s2060" name="Document" r:id="rId3" imgW="5270500" imgH="1879600" progId="Word.Document.12">
                  <p:embed/>
                </p:oleObj>
              </mc:Choice>
              <mc:Fallback>
                <p:oleObj name="Document" r:id="rId3" imgW="5270500" imgH="1879600" progId="Word.Document.12">
                  <p:embed/>
                  <p:pic>
                    <p:nvPicPr>
                      <p:cNvPr id="0" name=""/>
                      <p:cNvPicPr/>
                      <p:nvPr/>
                    </p:nvPicPr>
                    <p:blipFill>
                      <a:blip r:embed="rId4"/>
                      <a:stretch>
                        <a:fillRect/>
                      </a:stretch>
                    </p:blipFill>
                    <p:spPr>
                      <a:xfrm>
                        <a:off x="405483" y="3204567"/>
                        <a:ext cx="10512132" cy="3748905"/>
                      </a:xfrm>
                      <a:prstGeom prst="rect">
                        <a:avLst/>
                      </a:prstGeom>
                    </p:spPr>
                  </p:pic>
                </p:oleObj>
              </mc:Fallback>
            </mc:AlternateContent>
          </a:graphicData>
        </a:graphic>
      </p:graphicFrame>
    </p:spTree>
    <p:extLst>
      <p:ext uri="{BB962C8B-B14F-4D97-AF65-F5344CB8AC3E}">
        <p14:creationId xmlns:p14="http://schemas.microsoft.com/office/powerpoint/2010/main" val="3138790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a:t>Figure 23 Forwarded message</a:t>
            </a:r>
          </a:p>
        </p:txBody>
      </p:sp>
      <p:pic>
        <p:nvPicPr>
          <p:cNvPr id="4" name="Content Placeholder 3">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288" y="2935287"/>
            <a:ext cx="9410700" cy="4085704"/>
          </a:xfrm>
          <a:prstGeom prst="rect">
            <a:avLst/>
          </a:prstGeom>
          <a:noFill/>
          <a:ln>
            <a:noFill/>
          </a:ln>
        </p:spPr>
      </p:pic>
    </p:spTree>
    <p:extLst>
      <p:ext uri="{BB962C8B-B14F-4D97-AF65-F5344CB8AC3E}">
        <p14:creationId xmlns:p14="http://schemas.microsoft.com/office/powerpoint/2010/main" val="934509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021218"/>
            <a:ext cx="9410700" cy="2296203"/>
          </a:xfrm>
        </p:spPr>
        <p:txBody>
          <a:bodyPr/>
          <a:lstStyle/>
          <a:p>
            <a:r>
              <a:rPr lang="en-US" dirty="0"/>
              <a:t>Figure 29 Model-view-controller pattern</a:t>
            </a:r>
            <a:br>
              <a:rPr lang="en-US" dirty="0"/>
            </a:br>
            <a:endParaRPr lang="en-US" dirty="0"/>
          </a:p>
        </p:txBody>
      </p:sp>
      <p:pic>
        <p:nvPicPr>
          <p:cNvPr id="4" name="Content Placeholder 3">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5288" y="3005137"/>
            <a:ext cx="9410700" cy="3943846"/>
          </a:xfrm>
          <a:prstGeom prst="rect">
            <a:avLst/>
          </a:prstGeom>
          <a:noFill/>
          <a:ln>
            <a:noFill/>
          </a:ln>
        </p:spPr>
      </p:pic>
    </p:spTree>
    <p:extLst>
      <p:ext uri="{BB962C8B-B14F-4D97-AF65-F5344CB8AC3E}">
        <p14:creationId xmlns:p14="http://schemas.microsoft.com/office/powerpoint/2010/main" val="540826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Observer</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288" y="2733675"/>
            <a:ext cx="9515251" cy="4359324"/>
          </a:xfrm>
          <a:prstGeom prst="rect">
            <a:avLst/>
          </a:prstGeom>
          <a:noFill/>
          <a:ln>
            <a:noFill/>
          </a:ln>
        </p:spPr>
      </p:pic>
    </p:spTree>
    <p:extLst>
      <p:ext uri="{BB962C8B-B14F-4D97-AF65-F5344CB8AC3E}">
        <p14:creationId xmlns:p14="http://schemas.microsoft.com/office/powerpoint/2010/main" val="1022759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Singleton</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288" y="3087687"/>
            <a:ext cx="9410700" cy="3861296"/>
          </a:xfrm>
          <a:prstGeom prst="rect">
            <a:avLst/>
          </a:prstGeom>
          <a:noFill/>
          <a:ln>
            <a:noFill/>
          </a:ln>
        </p:spPr>
      </p:pic>
    </p:spTree>
    <p:extLst>
      <p:ext uri="{BB962C8B-B14F-4D97-AF65-F5344CB8AC3E}">
        <p14:creationId xmlns:p14="http://schemas.microsoft.com/office/powerpoint/2010/main" val="1956776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288" y="2733675"/>
            <a:ext cx="9515251" cy="4143300"/>
          </a:xfrm>
          <a:prstGeom prst="rect">
            <a:avLst/>
          </a:prstGeom>
          <a:noFill/>
          <a:ln>
            <a:noFill/>
          </a:ln>
        </p:spPr>
      </p:pic>
    </p:spTree>
    <p:extLst>
      <p:ext uri="{BB962C8B-B14F-4D97-AF65-F5344CB8AC3E}">
        <p14:creationId xmlns:p14="http://schemas.microsoft.com/office/powerpoint/2010/main" val="1811439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a:t>
            </a:r>
            <a:endParaRPr lang="en-US" dirty="0"/>
          </a:p>
        </p:txBody>
      </p:sp>
      <p:sp>
        <p:nvSpPr>
          <p:cNvPr id="3" name="Content Placeholder 2"/>
          <p:cNvSpPr>
            <a:spLocks noGrp="1"/>
          </p:cNvSpPr>
          <p:nvPr>
            <p:ph idx="1"/>
          </p:nvPr>
        </p:nvSpPr>
        <p:spPr>
          <a:xfrm>
            <a:off x="395288" y="2733675"/>
            <a:ext cx="9410700" cy="1372873"/>
          </a:xfrm>
        </p:spPr>
        <p:txBody>
          <a:bodyPr/>
          <a:lstStyle/>
          <a:p>
            <a:pPr marL="0" indent="0">
              <a:buNone/>
            </a:pPr>
            <a:r>
              <a:rPr lang="en-GB" dirty="0"/>
              <a:t>Discuss the relationship between architecture, requirements and the mediating role of specification. (p6-17) </a:t>
            </a:r>
            <a:endParaRPr lang="en-US" dirty="0"/>
          </a:p>
        </p:txBody>
      </p:sp>
    </p:spTree>
    <p:extLst>
      <p:ext uri="{BB962C8B-B14F-4D97-AF65-F5344CB8AC3E}">
        <p14:creationId xmlns:p14="http://schemas.microsoft.com/office/powerpoint/2010/main" val="2133046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a:t>
            </a:r>
            <a:endParaRPr lang="en-US" dirty="0"/>
          </a:p>
        </p:txBody>
      </p:sp>
      <p:sp>
        <p:nvSpPr>
          <p:cNvPr id="3" name="Content Placeholder 2"/>
          <p:cNvSpPr>
            <a:spLocks noGrp="1"/>
          </p:cNvSpPr>
          <p:nvPr>
            <p:ph idx="1"/>
          </p:nvPr>
        </p:nvSpPr>
        <p:spPr>
          <a:xfrm>
            <a:off x="395288" y="2733675"/>
            <a:ext cx="9410700" cy="1372873"/>
          </a:xfrm>
        </p:spPr>
        <p:txBody>
          <a:bodyPr/>
          <a:lstStyle/>
          <a:p>
            <a:pPr marL="0" indent="0">
              <a:buNone/>
            </a:pPr>
            <a:r>
              <a:rPr lang="en-GB" dirty="0"/>
              <a:t>We describe architectural reuse in terms of styles, frameworks and product lines, briefly define what we mean by each with an example (p21-30). </a:t>
            </a:r>
            <a:endParaRPr lang="en-US" dirty="0"/>
          </a:p>
        </p:txBody>
      </p:sp>
    </p:spTree>
    <p:extLst>
      <p:ext uri="{BB962C8B-B14F-4D97-AF65-F5344CB8AC3E}">
        <p14:creationId xmlns:p14="http://schemas.microsoft.com/office/powerpoint/2010/main" val="17077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3</a:t>
            </a:r>
            <a:endParaRPr lang="en-US" dirty="0"/>
          </a:p>
        </p:txBody>
      </p:sp>
      <p:sp>
        <p:nvSpPr>
          <p:cNvPr id="3" name="Content Placeholder 2"/>
          <p:cNvSpPr>
            <a:spLocks noGrp="1"/>
          </p:cNvSpPr>
          <p:nvPr>
            <p:ph idx="1"/>
          </p:nvPr>
        </p:nvSpPr>
        <p:spPr>
          <a:xfrm>
            <a:off x="395288" y="2733675"/>
            <a:ext cx="9410700" cy="1372873"/>
          </a:xfrm>
        </p:spPr>
        <p:txBody>
          <a:bodyPr/>
          <a:lstStyle/>
          <a:p>
            <a:pPr marL="0" indent="0">
              <a:buNone/>
            </a:pPr>
            <a:r>
              <a:rPr lang="en-GB" dirty="0"/>
              <a:t>Design patterns are a way to codify commonly seen features in object-orientated program code. Explain why it is useful to identify them. (p31-51) </a:t>
            </a:r>
          </a:p>
        </p:txBody>
      </p:sp>
    </p:spTree>
    <p:extLst>
      <p:ext uri="{BB962C8B-B14F-4D97-AF65-F5344CB8AC3E}">
        <p14:creationId xmlns:p14="http://schemas.microsoft.com/office/powerpoint/2010/main" val="1398603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4</a:t>
            </a:r>
            <a:endParaRPr lang="en-US" dirty="0"/>
          </a:p>
        </p:txBody>
      </p:sp>
      <p:sp>
        <p:nvSpPr>
          <p:cNvPr id="3" name="Content Placeholder 2"/>
          <p:cNvSpPr>
            <a:spLocks noGrp="1"/>
          </p:cNvSpPr>
          <p:nvPr>
            <p:ph idx="1"/>
          </p:nvPr>
        </p:nvSpPr>
        <p:spPr>
          <a:xfrm>
            <a:off x="395288" y="2733675"/>
            <a:ext cx="9410700" cy="941986"/>
          </a:xfrm>
        </p:spPr>
        <p:txBody>
          <a:bodyPr/>
          <a:lstStyle/>
          <a:p>
            <a:pPr marL="0" indent="0">
              <a:buNone/>
            </a:pPr>
            <a:r>
              <a:rPr lang="en-GB" dirty="0"/>
              <a:t>Discuss the relationship between architecture, design, reuse and agile methods, are they compatible? (p11-12) </a:t>
            </a:r>
          </a:p>
        </p:txBody>
      </p:sp>
    </p:spTree>
    <p:extLst>
      <p:ext uri="{BB962C8B-B14F-4D97-AF65-F5344CB8AC3E}">
        <p14:creationId xmlns:p14="http://schemas.microsoft.com/office/powerpoint/2010/main" val="2126861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5500" y="4859338"/>
            <a:ext cx="8891588" cy="695765"/>
          </a:xfrm>
        </p:spPr>
        <p:txBody>
          <a:bodyPr/>
          <a:lstStyle/>
          <a:p>
            <a:r>
              <a:rPr lang="en-US" dirty="0" smtClean="0"/>
              <a:t>Looking ahead, units 10 &amp; 11</a:t>
            </a:r>
            <a:endParaRPr lang="en-US" dirty="0"/>
          </a:p>
        </p:txBody>
      </p:sp>
      <p:sp>
        <p:nvSpPr>
          <p:cNvPr id="5" name="Text Placeholder 4"/>
          <p:cNvSpPr>
            <a:spLocks noGrp="1"/>
          </p:cNvSpPr>
          <p:nvPr>
            <p:ph type="body" idx="1"/>
          </p:nvPr>
        </p:nvSpPr>
        <p:spPr>
          <a:xfrm>
            <a:off x="825500" y="4471350"/>
            <a:ext cx="8891588" cy="387988"/>
          </a:xfrm>
        </p:spPr>
        <p:txBody>
          <a:bodyPr/>
          <a:lstStyle/>
          <a:p>
            <a:r>
              <a:rPr lang="en-US" dirty="0" smtClean="0"/>
              <a:t>Block 3</a:t>
            </a:r>
            <a:endParaRPr lang="en-US" dirty="0"/>
          </a:p>
        </p:txBody>
      </p:sp>
    </p:spTree>
    <p:extLst>
      <p:ext uri="{BB962C8B-B14F-4D97-AF65-F5344CB8AC3E}">
        <p14:creationId xmlns:p14="http://schemas.microsoft.com/office/powerpoint/2010/main" val="3143035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5288" y="3619500"/>
            <a:ext cx="6923087" cy="695765"/>
          </a:xfrm>
        </p:spPr>
        <p:txBody>
          <a:bodyPr/>
          <a:lstStyle/>
          <a:p>
            <a:r>
              <a:rPr lang="en-US" dirty="0" smtClean="0"/>
              <a:t>Unit 10</a:t>
            </a:r>
            <a:endParaRPr lang="en-US" dirty="0"/>
          </a:p>
        </p:txBody>
      </p:sp>
      <p:sp>
        <p:nvSpPr>
          <p:cNvPr id="4" name="Text Placeholder 3"/>
          <p:cNvSpPr>
            <a:spLocks noGrp="1"/>
          </p:cNvSpPr>
          <p:nvPr>
            <p:ph type="subTitle" idx="1"/>
          </p:nvPr>
        </p:nvSpPr>
        <p:spPr>
          <a:xfrm>
            <a:off x="395288" y="5724525"/>
            <a:ext cx="8362950" cy="541877"/>
          </a:xfrm>
        </p:spPr>
        <p:txBody>
          <a:bodyPr/>
          <a:lstStyle/>
          <a:p>
            <a:endParaRPr lang="en-US" dirty="0"/>
          </a:p>
        </p:txBody>
      </p:sp>
    </p:spTree>
    <p:extLst>
      <p:ext uri="{BB962C8B-B14F-4D97-AF65-F5344CB8AC3E}">
        <p14:creationId xmlns:p14="http://schemas.microsoft.com/office/powerpoint/2010/main" val="3438149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a:t>Software </a:t>
            </a:r>
            <a:r>
              <a:rPr lang="en-US" dirty="0" smtClean="0"/>
              <a:t>components</a:t>
            </a: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77491" y="2628503"/>
            <a:ext cx="9982547" cy="2376264"/>
          </a:xfrm>
          <a:prstGeom prst="rect">
            <a:avLst/>
          </a:prstGeom>
          <a:noFill/>
          <a:ln>
            <a:noFill/>
          </a:ln>
        </p:spPr>
      </p:pic>
    </p:spTree>
    <p:extLst>
      <p:ext uri="{BB962C8B-B14F-4D97-AF65-F5344CB8AC3E}">
        <p14:creationId xmlns:p14="http://schemas.microsoft.com/office/powerpoint/2010/main" val="3382385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390550"/>
            <a:ext cx="9410700" cy="1557539"/>
          </a:xfrm>
        </p:spPr>
        <p:txBody>
          <a:bodyPr/>
          <a:lstStyle/>
          <a:p>
            <a:r>
              <a:rPr lang="en-US" dirty="0"/>
              <a:t>Service and Component </a:t>
            </a:r>
            <a:r>
              <a:rPr lang="en-US" dirty="0" smtClean="0"/>
              <a:t>Architectures</a:t>
            </a:r>
            <a:endParaRPr lang="en-US" dirty="0"/>
          </a:p>
        </p:txBody>
      </p:sp>
      <p:sp>
        <p:nvSpPr>
          <p:cNvPr id="3" name="Content Placeholder 2"/>
          <p:cNvSpPr>
            <a:spLocks noGrp="1"/>
          </p:cNvSpPr>
          <p:nvPr>
            <p:ph idx="1"/>
          </p:nvPr>
        </p:nvSpPr>
        <p:spPr>
          <a:xfrm>
            <a:off x="395288" y="2733675"/>
            <a:ext cx="9410700" cy="5250857"/>
          </a:xfrm>
        </p:spPr>
        <p:txBody>
          <a:bodyPr/>
          <a:lstStyle/>
          <a:p>
            <a:r>
              <a:rPr lang="en-US" sz="2400" dirty="0"/>
              <a:t>In many ways services resemble components, and indeed components can be used to implement services. Like components, services:</a:t>
            </a:r>
          </a:p>
          <a:p>
            <a:r>
              <a:rPr lang="en-US" sz="2400" dirty="0"/>
              <a:t>have well defined interfaces which specify how other software can interact with them</a:t>
            </a:r>
          </a:p>
          <a:p>
            <a:r>
              <a:rPr lang="en-US" sz="2400" dirty="0"/>
              <a:t>aim to be loosely coupled, by not exposing details of their implementation, thus allowing it to be changed without disturbing other parts of the system</a:t>
            </a:r>
          </a:p>
          <a:p>
            <a:r>
              <a:rPr lang="en-US" sz="2400" dirty="0"/>
              <a:t>can be composed – services can be combined to build up more complex functionality</a:t>
            </a:r>
          </a:p>
          <a:p>
            <a:r>
              <a:rPr lang="en-US" sz="2400" dirty="0"/>
              <a:t>aim to be reusable, so that the same service can be used as part of many different applications.</a:t>
            </a:r>
          </a:p>
          <a:p>
            <a:endParaRPr lang="en-US" sz="2400" dirty="0"/>
          </a:p>
        </p:txBody>
      </p:sp>
    </p:spTree>
    <p:extLst>
      <p:ext uri="{BB962C8B-B14F-4D97-AF65-F5344CB8AC3E}">
        <p14:creationId xmlns:p14="http://schemas.microsoft.com/office/powerpoint/2010/main" val="3215591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a:t>
            </a:r>
            <a:endParaRPr lang="en-US" dirty="0"/>
          </a:p>
        </p:txBody>
      </p:sp>
      <p:sp>
        <p:nvSpPr>
          <p:cNvPr id="3" name="Content Placeholder 2"/>
          <p:cNvSpPr>
            <a:spLocks noGrp="1"/>
          </p:cNvSpPr>
          <p:nvPr>
            <p:ph idx="1"/>
          </p:nvPr>
        </p:nvSpPr>
        <p:spPr>
          <a:xfrm>
            <a:off x="395288" y="2733675"/>
            <a:ext cx="9410700" cy="4635305"/>
          </a:xfrm>
        </p:spPr>
        <p:txBody>
          <a:bodyPr/>
          <a:lstStyle/>
          <a:p>
            <a:pPr lvl="0"/>
            <a:r>
              <a:rPr lang="en-US" sz="2000" dirty="0"/>
              <a:t>Communication with components tends to depend on proprietary technologies, which restricts interoperability. Services use standard communication protocols, which allows them to interoperate in a platform- and language-independent way.</a:t>
            </a:r>
            <a:endParaRPr lang="en-GB" sz="2000" dirty="0"/>
          </a:p>
          <a:p>
            <a:pPr lvl="0"/>
            <a:r>
              <a:rPr lang="en-US" sz="2000" dirty="0"/>
              <a:t>Services are discoverable. Clients can access a repository to find details of available services.</a:t>
            </a:r>
            <a:endParaRPr lang="en-GB" sz="2000" dirty="0"/>
          </a:p>
          <a:p>
            <a:pPr lvl="0"/>
            <a:r>
              <a:rPr lang="en-US" sz="2000" dirty="0"/>
              <a:t>Components run on computers controlled by the </a:t>
            </a:r>
            <a:r>
              <a:rPr lang="en-US" sz="2000" dirty="0" err="1"/>
              <a:t>organisation</a:t>
            </a:r>
            <a:r>
              <a:rPr lang="en-US" sz="2000" dirty="0"/>
              <a:t> using them and if many </a:t>
            </a:r>
            <a:r>
              <a:rPr lang="en-US" sz="2000" dirty="0" err="1"/>
              <a:t>organisations</a:t>
            </a:r>
            <a:r>
              <a:rPr lang="en-US" sz="2000" dirty="0"/>
              <a:t> use a component it executes in multiple locations. A service in contrast resides on a provider server, typically owned by a different </a:t>
            </a:r>
            <a:r>
              <a:rPr lang="en-US" sz="2000" dirty="0" err="1"/>
              <a:t>organisation</a:t>
            </a:r>
            <a:r>
              <a:rPr lang="en-US" sz="2000" dirty="0"/>
              <a:t>, and executes at a single end-point that all clients communicate with.</a:t>
            </a:r>
            <a:endParaRPr lang="en-GB" sz="2000" dirty="0"/>
          </a:p>
          <a:p>
            <a:pPr lvl="0"/>
            <a:r>
              <a:rPr lang="en-US" sz="2000" dirty="0"/>
              <a:t>Services should be autonomous and as far as possible independent of other services. So, for example, they do not have a ‘requires’ interface. </a:t>
            </a:r>
            <a:endParaRPr lang="en-GB" sz="2000" dirty="0"/>
          </a:p>
          <a:p>
            <a:endParaRPr lang="en-US" sz="2000" dirty="0"/>
          </a:p>
        </p:txBody>
      </p:sp>
    </p:spTree>
    <p:extLst>
      <p:ext uri="{BB962C8B-B14F-4D97-AF65-F5344CB8AC3E}">
        <p14:creationId xmlns:p14="http://schemas.microsoft.com/office/powerpoint/2010/main" val="637316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a:t>Quality attribute </a:t>
            </a:r>
            <a:r>
              <a:rPr lang="en-US" dirty="0" smtClean="0"/>
              <a:t>scenarios</a:t>
            </a:r>
            <a:endParaRPr lang="en-US" dirty="0"/>
          </a:p>
        </p:txBody>
      </p:sp>
      <p:sp>
        <p:nvSpPr>
          <p:cNvPr id="3" name="Content Placeholder 2"/>
          <p:cNvSpPr>
            <a:spLocks noGrp="1"/>
          </p:cNvSpPr>
          <p:nvPr>
            <p:ph idx="1"/>
          </p:nvPr>
        </p:nvSpPr>
        <p:spPr>
          <a:xfrm>
            <a:off x="395288" y="2733675"/>
            <a:ext cx="9410700" cy="4573749"/>
          </a:xfrm>
        </p:spPr>
        <p:txBody>
          <a:bodyPr/>
          <a:lstStyle/>
          <a:p>
            <a:pPr marL="2154238" indent="-2154238">
              <a:buNone/>
            </a:pPr>
            <a:r>
              <a:rPr lang="en-US" sz="2000" b="1" dirty="0"/>
              <a:t>Part of scenario	Types of value</a:t>
            </a:r>
            <a:endParaRPr lang="en-GB" sz="2000" dirty="0"/>
          </a:p>
          <a:p>
            <a:pPr marL="2154238" indent="-2154238">
              <a:buNone/>
            </a:pPr>
            <a:r>
              <a:rPr lang="en-US" sz="2000" dirty="0"/>
              <a:t>Source	end users</a:t>
            </a:r>
            <a:endParaRPr lang="en-GB" sz="2000" dirty="0"/>
          </a:p>
          <a:p>
            <a:pPr marL="2154238" indent="-2154238">
              <a:buNone/>
            </a:pPr>
            <a:r>
              <a:rPr lang="en-US" sz="2000" dirty="0"/>
              <a:t>Stimulus	user wants to: – learn system features – use system efficiently – </a:t>
            </a:r>
            <a:r>
              <a:rPr lang="en-US" sz="2000" dirty="0" err="1"/>
              <a:t>minimise</a:t>
            </a:r>
            <a:r>
              <a:rPr lang="en-US" sz="2000" dirty="0"/>
              <a:t> impact of errors – feel comfortable</a:t>
            </a:r>
            <a:endParaRPr lang="en-GB" sz="2000" dirty="0"/>
          </a:p>
          <a:p>
            <a:pPr marL="2154238" indent="-2154238">
              <a:buNone/>
            </a:pPr>
            <a:r>
              <a:rPr lang="en-US" sz="2000" dirty="0" err="1"/>
              <a:t>Artefact</a:t>
            </a:r>
            <a:r>
              <a:rPr lang="en-US" sz="2000" dirty="0"/>
              <a:t>	system</a:t>
            </a:r>
            <a:endParaRPr lang="en-GB" sz="2000" dirty="0"/>
          </a:p>
          <a:p>
            <a:pPr marL="2154238" indent="-2154238">
              <a:buNone/>
            </a:pPr>
            <a:r>
              <a:rPr lang="en-US" sz="2000" dirty="0"/>
              <a:t>Environment	setting preferences using system</a:t>
            </a:r>
            <a:endParaRPr lang="en-GB" sz="2000" dirty="0"/>
          </a:p>
          <a:p>
            <a:pPr marL="2154238" indent="-2154238">
              <a:buNone/>
            </a:pPr>
            <a:r>
              <a:rPr lang="en-US" sz="2000" dirty="0"/>
              <a:t>Response	one or more of: – supporting learning – supporting efficient use – </a:t>
            </a:r>
            <a:r>
              <a:rPr lang="en-US" sz="2000" dirty="0" err="1"/>
              <a:t>minimising</a:t>
            </a:r>
            <a:r>
              <a:rPr lang="en-US" sz="2000" dirty="0"/>
              <a:t> impact of errors – allowing adaptation – making user comfortable</a:t>
            </a:r>
            <a:endParaRPr lang="en-GB" sz="2000" dirty="0"/>
          </a:p>
          <a:p>
            <a:pPr marL="2154238" indent="-2154238">
              <a:buNone/>
            </a:pPr>
            <a:r>
              <a:rPr lang="en-US" sz="2000" dirty="0"/>
              <a:t>Response measure	task time number of errors number of problems solved user satisfaction success rate time taken or data lost</a:t>
            </a:r>
            <a:endParaRPr lang="en-GB" sz="2000" dirty="0"/>
          </a:p>
          <a:p>
            <a:pPr marL="1792288" indent="-1792288">
              <a:buNone/>
            </a:pPr>
            <a:r>
              <a:rPr lang="en-US" sz="2000" dirty="0"/>
              <a:t>Source: adapted from Bass et al, 2003 </a:t>
            </a:r>
            <a:endParaRPr lang="en-GB" sz="2000" dirty="0"/>
          </a:p>
          <a:p>
            <a:pPr marL="1792288" indent="-1792288">
              <a:buNone/>
            </a:pPr>
            <a:endParaRPr lang="en-US" sz="2000" dirty="0"/>
          </a:p>
        </p:txBody>
      </p:sp>
    </p:spTree>
    <p:extLst>
      <p:ext uri="{BB962C8B-B14F-4D97-AF65-F5344CB8AC3E}">
        <p14:creationId xmlns:p14="http://schemas.microsoft.com/office/powerpoint/2010/main" val="300413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Java beans</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l="-1028" r="-1028"/>
          <a:stretch>
            <a:fillRect/>
          </a:stretch>
        </p:blipFill>
        <p:spPr bwMode="auto">
          <a:xfrm>
            <a:off x="395288" y="2733675"/>
            <a:ext cx="9410700" cy="4287316"/>
          </a:xfrm>
          <a:prstGeom prst="rect">
            <a:avLst/>
          </a:prstGeom>
          <a:noFill/>
          <a:ln>
            <a:noFill/>
          </a:ln>
        </p:spPr>
      </p:pic>
    </p:spTree>
    <p:extLst>
      <p:ext uri="{BB962C8B-B14F-4D97-AF65-F5344CB8AC3E}">
        <p14:creationId xmlns:p14="http://schemas.microsoft.com/office/powerpoint/2010/main" val="2852996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95288" y="3619500"/>
            <a:ext cx="6923087" cy="695765"/>
          </a:xfrm>
        </p:spPr>
        <p:txBody>
          <a:bodyPr/>
          <a:lstStyle/>
          <a:p>
            <a:r>
              <a:rPr lang="en-US" dirty="0" smtClean="0"/>
              <a:t>Unit 11</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8815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smtClean="0"/>
              <a:t>Verification and validation</a:t>
            </a:r>
            <a:endParaRPr lang="en-US" dirty="0"/>
          </a:p>
        </p:txBody>
      </p:sp>
      <p:sp>
        <p:nvSpPr>
          <p:cNvPr id="3" name="Content Placeholder 2"/>
          <p:cNvSpPr>
            <a:spLocks noGrp="1"/>
          </p:cNvSpPr>
          <p:nvPr>
            <p:ph idx="1"/>
          </p:nvPr>
        </p:nvSpPr>
        <p:spPr>
          <a:xfrm>
            <a:off x="395288" y="2733675"/>
            <a:ext cx="9410700" cy="3958196"/>
          </a:xfrm>
        </p:spPr>
        <p:txBody>
          <a:bodyPr/>
          <a:lstStyle/>
          <a:p>
            <a:r>
              <a:rPr lang="en-US" sz="2000" dirty="0"/>
              <a:t>Verification is the process of checking that a given system description S is self-consistent, and that system descriptions that are derived from S are consistent with S. For example, a class diagram is one description of a system, and the code is another. If the code is not consistent with the class model, then verification should fail. Barry Boehm (1984) put it concisely when he said that verification answers the question: ‘are we building the product right?’</a:t>
            </a:r>
            <a:endParaRPr lang="en-GB" sz="2000" dirty="0"/>
          </a:p>
          <a:p>
            <a:endParaRPr lang="en-GB" sz="2000" dirty="0"/>
          </a:p>
          <a:p>
            <a:r>
              <a:rPr lang="en-US" sz="2000" dirty="0"/>
              <a:t>Validation is the process of checking that each system description is consistent with the customer’s requirements – that the system does what the customers want it to do. Referring to Boehm (1984) again, validation answers the question: ‘are we building the right product?’</a:t>
            </a:r>
            <a:endParaRPr lang="en-GB" sz="2000" dirty="0"/>
          </a:p>
          <a:p>
            <a:endParaRPr lang="en-US" sz="2000" dirty="0"/>
          </a:p>
        </p:txBody>
      </p:sp>
    </p:spTree>
    <p:extLst>
      <p:ext uri="{BB962C8B-B14F-4D97-AF65-F5344CB8AC3E}">
        <p14:creationId xmlns:p14="http://schemas.microsoft.com/office/powerpoint/2010/main" val="6715483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a:t>
            </a:r>
            <a:endParaRPr lang="en-US" dirty="0"/>
          </a:p>
        </p:txBody>
      </p:sp>
      <p:sp>
        <p:nvSpPr>
          <p:cNvPr id="3" name="Content Placeholder 2"/>
          <p:cNvSpPr>
            <a:spLocks noGrp="1"/>
          </p:cNvSpPr>
          <p:nvPr>
            <p:ph idx="1"/>
          </p:nvPr>
        </p:nvSpPr>
        <p:spPr>
          <a:xfrm>
            <a:off x="395288" y="2733675"/>
            <a:ext cx="9410700" cy="3613487"/>
          </a:xfrm>
        </p:spPr>
        <p:txBody>
          <a:bodyPr/>
          <a:lstStyle/>
          <a:p>
            <a:r>
              <a:rPr lang="en-US" dirty="0"/>
              <a:t>Testing is the process of exercising software to check that it does what it is supposed to (and doesn’t do what it is not supposed to). All software contains flaws and during testing we aim to detect as high a proportion of them as possible, so that they can be rectified before the software is released. In other words, it is any form of validation or verification that operates on program code.</a:t>
            </a:r>
            <a:endParaRPr lang="en-GB" dirty="0"/>
          </a:p>
          <a:p>
            <a:endParaRPr lang="en-US" dirty="0"/>
          </a:p>
        </p:txBody>
      </p:sp>
    </p:spTree>
    <p:extLst>
      <p:ext uri="{BB962C8B-B14F-4D97-AF65-F5344CB8AC3E}">
        <p14:creationId xmlns:p14="http://schemas.microsoft.com/office/powerpoint/2010/main" val="3294091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testing</a:t>
            </a:r>
            <a:endParaRPr lang="en-US" dirty="0"/>
          </a:p>
        </p:txBody>
      </p:sp>
      <p:sp>
        <p:nvSpPr>
          <p:cNvPr id="3" name="Content Placeholder 2"/>
          <p:cNvSpPr>
            <a:spLocks noGrp="1"/>
          </p:cNvSpPr>
          <p:nvPr>
            <p:ph idx="1"/>
          </p:nvPr>
        </p:nvSpPr>
        <p:spPr>
          <a:xfrm>
            <a:off x="395288" y="2733675"/>
            <a:ext cx="9410700" cy="5250858"/>
          </a:xfrm>
        </p:spPr>
        <p:txBody>
          <a:bodyPr/>
          <a:lstStyle/>
          <a:p>
            <a:pPr lvl="0"/>
            <a:r>
              <a:rPr lang="en-US" sz="2400" dirty="0"/>
              <a:t>usability testing, which is discussed in the course M364 Fundamentals of Interaction Design;</a:t>
            </a:r>
            <a:endParaRPr lang="en-GB" sz="2400" dirty="0"/>
          </a:p>
          <a:p>
            <a:pPr lvl="0"/>
            <a:r>
              <a:rPr lang="en-US" sz="2400" dirty="0"/>
              <a:t>developmental testing, which checks that developmental activities have been carried out correctly, and ideally it is performed by development staff other than the authors of the code and checked by quality assurance (QA) staff;</a:t>
            </a:r>
            <a:endParaRPr lang="en-GB" sz="2400" dirty="0"/>
          </a:p>
          <a:p>
            <a:pPr lvl="0"/>
            <a:r>
              <a:rPr lang="en-US" sz="2400" dirty="0"/>
              <a:t>requirements-based testing, which checks that a system meets the customer’s requirements, and it is carried out by QA staff in conjunction with the customer;</a:t>
            </a:r>
            <a:endParaRPr lang="en-GB" sz="2400" dirty="0"/>
          </a:p>
          <a:p>
            <a:pPr lvl="0"/>
            <a:r>
              <a:rPr lang="en-US" sz="2400" dirty="0" smtClean="0"/>
              <a:t>regression </a:t>
            </a:r>
            <a:r>
              <a:rPr lang="en-US" sz="2400" dirty="0"/>
              <a:t>testing, which occurs during developmental testing and system maintenance, and checks that fixing one bug has not introduced others.</a:t>
            </a:r>
            <a:endParaRPr lang="en-GB" sz="2400" dirty="0"/>
          </a:p>
          <a:p>
            <a:endParaRPr lang="en-US" dirty="0"/>
          </a:p>
        </p:txBody>
      </p:sp>
    </p:spTree>
    <p:extLst>
      <p:ext uri="{BB962C8B-B14F-4D97-AF65-F5344CB8AC3E}">
        <p14:creationId xmlns:p14="http://schemas.microsoft.com/office/powerpoint/2010/main" val="9138778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Metrics</a:t>
            </a:r>
            <a:endParaRPr lang="en-US" dirty="0"/>
          </a:p>
        </p:txBody>
      </p:sp>
      <p:sp>
        <p:nvSpPr>
          <p:cNvPr id="3" name="Content Placeholder 2"/>
          <p:cNvSpPr>
            <a:spLocks noGrp="1"/>
          </p:cNvSpPr>
          <p:nvPr>
            <p:ph idx="1"/>
          </p:nvPr>
        </p:nvSpPr>
        <p:spPr>
          <a:xfrm>
            <a:off x="395288" y="2733675"/>
            <a:ext cx="9410700" cy="4512194"/>
          </a:xfrm>
        </p:spPr>
        <p:txBody>
          <a:bodyPr/>
          <a:lstStyle/>
          <a:p>
            <a:r>
              <a:rPr lang="en-US" sz="2400" b="1" dirty="0"/>
              <a:t>Lines-of-code metric</a:t>
            </a:r>
            <a:endParaRPr lang="en-GB" sz="2400" b="1" dirty="0"/>
          </a:p>
          <a:p>
            <a:pPr lvl="1"/>
            <a:r>
              <a:rPr lang="en-US" sz="2400" dirty="0"/>
              <a:t>A very simple measure of the complexity of a system description is given by counting the number of lines in the description. When the system description is a piece of code, the metric produced is called the lines-of-code (LOC) metric.</a:t>
            </a:r>
            <a:endParaRPr lang="en-GB" sz="2400" dirty="0"/>
          </a:p>
          <a:p>
            <a:r>
              <a:rPr lang="en-US" sz="2400" b="1" dirty="0"/>
              <a:t>McCabe’s cyclomatic-complexity metric</a:t>
            </a:r>
            <a:endParaRPr lang="en-GB" sz="2400" b="1" dirty="0"/>
          </a:p>
          <a:p>
            <a:pPr lvl="1"/>
            <a:r>
              <a:rPr lang="en-US" sz="2400" dirty="0"/>
              <a:t>Tom McCabe (1976) introduced the very popular, and still widely used, cyclomatic-complexity metric. To compute the metric, we find the number of independent paths, taking into consideration the branches.</a:t>
            </a:r>
            <a:endParaRPr lang="en-GB" sz="2400" dirty="0"/>
          </a:p>
          <a:p>
            <a:endParaRPr lang="en-US" dirty="0"/>
          </a:p>
        </p:txBody>
      </p:sp>
    </p:spTree>
    <p:extLst>
      <p:ext uri="{BB962C8B-B14F-4D97-AF65-F5344CB8AC3E}">
        <p14:creationId xmlns:p14="http://schemas.microsoft.com/office/powerpoint/2010/main" val="1325469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Verification approaches</a:t>
            </a:r>
            <a:endParaRPr lang="en-US" dirty="0"/>
          </a:p>
        </p:txBody>
      </p:sp>
      <p:sp>
        <p:nvSpPr>
          <p:cNvPr id="3" name="Content Placeholder 2"/>
          <p:cNvSpPr>
            <a:spLocks noGrp="1"/>
          </p:cNvSpPr>
          <p:nvPr>
            <p:ph idx="1"/>
          </p:nvPr>
        </p:nvSpPr>
        <p:spPr>
          <a:xfrm>
            <a:off x="395288" y="2733675"/>
            <a:ext cx="9410700" cy="4142862"/>
          </a:xfrm>
        </p:spPr>
        <p:txBody>
          <a:bodyPr/>
          <a:lstStyle/>
          <a:p>
            <a:r>
              <a:rPr lang="en-US" sz="2400" b="1" dirty="0"/>
              <a:t>Test driven development</a:t>
            </a:r>
            <a:endParaRPr lang="en-GB" sz="2400" b="1" dirty="0"/>
          </a:p>
          <a:p>
            <a:pPr lvl="1"/>
            <a:r>
              <a:rPr lang="en-US" sz="2400" dirty="0"/>
              <a:t>This is where we create tests before the code, and then only accept the code when the tests are met. Often it is combined with automated testing using tools such as </a:t>
            </a:r>
            <a:r>
              <a:rPr lang="en-US" sz="2400" dirty="0" err="1"/>
              <a:t>JUnit</a:t>
            </a:r>
            <a:r>
              <a:rPr lang="en-US" sz="2400" dirty="0"/>
              <a:t> (or similar).</a:t>
            </a:r>
            <a:endParaRPr lang="en-GB" sz="2400" dirty="0"/>
          </a:p>
          <a:p>
            <a:r>
              <a:rPr lang="en-US" sz="2400" b="1" dirty="0"/>
              <a:t>Design by Contract</a:t>
            </a:r>
            <a:endParaRPr lang="en-GB" sz="2400" b="1" dirty="0"/>
          </a:p>
          <a:p>
            <a:pPr lvl="1"/>
            <a:r>
              <a:rPr lang="en-US" sz="2400" dirty="0"/>
              <a:t>Preconditions describe the conditions that must be true before an operation can be used (before the client can request the service), and the </a:t>
            </a:r>
            <a:r>
              <a:rPr lang="en-US" sz="2400" dirty="0" err="1"/>
              <a:t>postcondition</a:t>
            </a:r>
            <a:r>
              <a:rPr lang="en-US" sz="2400" dirty="0"/>
              <a:t> describes the result of the operation (what the supplier is expected to do).</a:t>
            </a:r>
            <a:endParaRPr lang="en-GB" sz="2400" dirty="0"/>
          </a:p>
          <a:p>
            <a:endParaRPr lang="en-US" dirty="0"/>
          </a:p>
        </p:txBody>
      </p:sp>
    </p:spTree>
    <p:extLst>
      <p:ext uri="{BB962C8B-B14F-4D97-AF65-F5344CB8AC3E}">
        <p14:creationId xmlns:p14="http://schemas.microsoft.com/office/powerpoint/2010/main" val="4125487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1759882"/>
            <a:ext cx="9410700" cy="818875"/>
          </a:xfrm>
        </p:spPr>
        <p:txBody>
          <a:bodyPr/>
          <a:lstStyle/>
          <a:p>
            <a:r>
              <a:rPr lang="en-US" dirty="0"/>
              <a:t>Black box and White </a:t>
            </a:r>
            <a:r>
              <a:rPr lang="en-US" dirty="0" smtClean="0"/>
              <a:t>box </a:t>
            </a:r>
            <a:r>
              <a:rPr lang="en-US" dirty="0" err="1" smtClean="0"/>
              <a:t>tetsing</a:t>
            </a:r>
            <a:endParaRPr lang="en-US" dirty="0"/>
          </a:p>
        </p:txBody>
      </p:sp>
      <p:sp>
        <p:nvSpPr>
          <p:cNvPr id="3" name="Content Placeholder 2"/>
          <p:cNvSpPr>
            <a:spLocks noGrp="1"/>
          </p:cNvSpPr>
          <p:nvPr>
            <p:ph idx="1"/>
          </p:nvPr>
        </p:nvSpPr>
        <p:spPr>
          <a:xfrm>
            <a:off x="395288" y="2733675"/>
            <a:ext cx="9410700" cy="4216729"/>
          </a:xfrm>
        </p:spPr>
        <p:txBody>
          <a:bodyPr/>
          <a:lstStyle/>
          <a:p>
            <a:r>
              <a:rPr lang="en-US" dirty="0"/>
              <a:t>The essential difference between our two categories of testing technique is the way in which tests are designed:</a:t>
            </a:r>
            <a:endParaRPr lang="en-GB" dirty="0"/>
          </a:p>
          <a:p>
            <a:pPr lvl="1"/>
            <a:r>
              <a:rPr lang="en-US" dirty="0"/>
              <a:t>in </a:t>
            </a:r>
            <a:r>
              <a:rPr lang="en-US" b="1" dirty="0"/>
              <a:t>black box</a:t>
            </a:r>
            <a:r>
              <a:rPr lang="en-US" dirty="0"/>
              <a:t> testing we design test cases by looking at the specification (that is, requirements and high-level design) of the system to be tested;</a:t>
            </a:r>
            <a:endParaRPr lang="en-GB" dirty="0"/>
          </a:p>
          <a:p>
            <a:pPr lvl="1"/>
            <a:r>
              <a:rPr lang="en-US" dirty="0"/>
              <a:t>in </a:t>
            </a:r>
            <a:r>
              <a:rPr lang="en-US" b="1" dirty="0"/>
              <a:t>white box</a:t>
            </a:r>
            <a:r>
              <a:rPr lang="en-US" dirty="0"/>
              <a:t> testing we design test cases by looking at the detail of the implementation of the system to be tested.</a:t>
            </a:r>
            <a:endParaRPr lang="en-GB" dirty="0"/>
          </a:p>
          <a:p>
            <a:endParaRPr lang="en-US" dirty="0"/>
          </a:p>
        </p:txBody>
      </p:sp>
    </p:spTree>
    <p:extLst>
      <p:ext uri="{BB962C8B-B14F-4D97-AF65-F5344CB8AC3E}">
        <p14:creationId xmlns:p14="http://schemas.microsoft.com/office/powerpoint/2010/main" val="1565108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tutorial</a:t>
            </a:r>
            <a:endParaRPr lang="en-US" dirty="0"/>
          </a:p>
        </p:txBody>
      </p:sp>
      <p:sp>
        <p:nvSpPr>
          <p:cNvPr id="3" name="Content Placeholder 2"/>
          <p:cNvSpPr>
            <a:spLocks noGrp="1"/>
          </p:cNvSpPr>
          <p:nvPr>
            <p:ph idx="1"/>
          </p:nvPr>
        </p:nvSpPr>
        <p:spPr>
          <a:xfrm>
            <a:off x="395288" y="2733675"/>
            <a:ext cx="9410700" cy="1545228"/>
          </a:xfrm>
        </p:spPr>
        <p:txBody>
          <a:bodyPr/>
          <a:lstStyle/>
          <a:p>
            <a:r>
              <a:rPr lang="en-US" dirty="0" smtClean="0"/>
              <a:t>Work though TMA style questions as a group.</a:t>
            </a:r>
          </a:p>
          <a:p>
            <a:r>
              <a:rPr lang="en-US" dirty="0" smtClean="0"/>
              <a:t>Identify common errors that students make.</a:t>
            </a:r>
          </a:p>
          <a:p>
            <a:endParaRPr lang="en-US" dirty="0"/>
          </a:p>
        </p:txBody>
      </p:sp>
    </p:spTree>
    <p:extLst>
      <p:ext uri="{BB962C8B-B14F-4D97-AF65-F5344CB8AC3E}">
        <p14:creationId xmlns:p14="http://schemas.microsoft.com/office/powerpoint/2010/main" val="11978162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OU">
  <a:themeElements>
    <a:clrScheme name="OU PowerPoi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U PowerPoin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1520825" rtl="0" eaLnBrk="1" fontAlgn="base" latinLnBrk="0" hangingPunct="1">
          <a:lnSpc>
            <a:spcPct val="100000"/>
          </a:lnSpc>
          <a:spcBef>
            <a:spcPct val="0"/>
          </a:spcBef>
          <a:spcAft>
            <a:spcPct val="0"/>
          </a:spcAft>
          <a:buClrTx/>
          <a:buSzTx/>
          <a:buFontTx/>
          <a:buNone/>
          <a:tabLst/>
          <a:defRPr kumimoji="0" lang="en-GB" sz="3000" b="0" i="0" u="none" strike="noStrike" cap="none" normalizeH="0" baseline="0">
            <a:ln>
              <a:noFill/>
            </a:ln>
            <a:solidFill>
              <a:srgbClr val="E3284A"/>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1520825" rtl="0" eaLnBrk="1" fontAlgn="base" latinLnBrk="0" hangingPunct="1">
          <a:lnSpc>
            <a:spcPct val="100000"/>
          </a:lnSpc>
          <a:spcBef>
            <a:spcPct val="0"/>
          </a:spcBef>
          <a:spcAft>
            <a:spcPct val="0"/>
          </a:spcAft>
          <a:buClrTx/>
          <a:buSzTx/>
          <a:buFontTx/>
          <a:buNone/>
          <a:tabLst/>
          <a:defRPr kumimoji="0" lang="en-GB" sz="3000" b="0" i="0" u="none" strike="noStrike" cap="none" normalizeH="0" baseline="0">
            <a:ln>
              <a:noFill/>
            </a:ln>
            <a:solidFill>
              <a:srgbClr val="E3284A"/>
            </a:solidFill>
            <a:effectLst/>
            <a:latin typeface="Arial" charset="0"/>
            <a:ea typeface="ＭＳ Ｐゴシック" charset="0"/>
          </a:defRPr>
        </a:defPPr>
      </a:lstStyle>
    </a:lnDef>
  </a:objectDefaults>
  <a:extraClrSchemeLst>
    <a:extraClrScheme>
      <a:clrScheme name="OU PowerPoi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2">
        <a:dk1>
          <a:srgbClr val="000000"/>
        </a:dk1>
        <a:lt1>
          <a:srgbClr val="D60077"/>
        </a:lt1>
        <a:dk2>
          <a:srgbClr val="000000"/>
        </a:dk2>
        <a:lt2>
          <a:srgbClr val="808080"/>
        </a:lt2>
        <a:accent1>
          <a:srgbClr val="BBE0E3"/>
        </a:accent1>
        <a:accent2>
          <a:srgbClr val="333399"/>
        </a:accent2>
        <a:accent3>
          <a:srgbClr val="E8AABD"/>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3">
        <a:dk1>
          <a:srgbClr val="000000"/>
        </a:dk1>
        <a:lt1>
          <a:srgbClr val="FFD100"/>
        </a:lt1>
        <a:dk2>
          <a:srgbClr val="000000"/>
        </a:dk2>
        <a:lt2>
          <a:srgbClr val="808080"/>
        </a:lt2>
        <a:accent1>
          <a:srgbClr val="BBE0E3"/>
        </a:accent1>
        <a:accent2>
          <a:srgbClr val="333399"/>
        </a:accent2>
        <a:accent3>
          <a:srgbClr val="FFE5AA"/>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4">
        <a:dk1>
          <a:srgbClr val="000000"/>
        </a:dk1>
        <a:lt1>
          <a:srgbClr val="9FAA00"/>
        </a:lt1>
        <a:dk2>
          <a:srgbClr val="000000"/>
        </a:dk2>
        <a:lt2>
          <a:srgbClr val="808080"/>
        </a:lt2>
        <a:accent1>
          <a:srgbClr val="BBE0E3"/>
        </a:accent1>
        <a:accent2>
          <a:srgbClr val="333399"/>
        </a:accent2>
        <a:accent3>
          <a:srgbClr val="CDD2AA"/>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5">
        <a:dk1>
          <a:srgbClr val="000000"/>
        </a:dk1>
        <a:lt1>
          <a:srgbClr val="00AFAD"/>
        </a:lt1>
        <a:dk2>
          <a:srgbClr val="000000"/>
        </a:dk2>
        <a:lt2>
          <a:srgbClr val="808080"/>
        </a:lt2>
        <a:accent1>
          <a:srgbClr val="BBE0E3"/>
        </a:accent1>
        <a:accent2>
          <a:srgbClr val="333399"/>
        </a:accent2>
        <a:accent3>
          <a:srgbClr val="AAD4D3"/>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6">
        <a:dk1>
          <a:srgbClr val="000000"/>
        </a:dk1>
        <a:lt1>
          <a:srgbClr val="5C705E"/>
        </a:lt1>
        <a:dk2>
          <a:srgbClr val="000000"/>
        </a:dk2>
        <a:lt2>
          <a:srgbClr val="808080"/>
        </a:lt2>
        <a:accent1>
          <a:srgbClr val="BBE0E3"/>
        </a:accent1>
        <a:accent2>
          <a:srgbClr val="333399"/>
        </a:accent2>
        <a:accent3>
          <a:srgbClr val="B5BBB6"/>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7">
        <a:dk1>
          <a:srgbClr val="000000"/>
        </a:dk1>
        <a:lt1>
          <a:srgbClr val="EF6820"/>
        </a:lt1>
        <a:dk2>
          <a:srgbClr val="000000"/>
        </a:dk2>
        <a:lt2>
          <a:srgbClr val="808080"/>
        </a:lt2>
        <a:accent1>
          <a:srgbClr val="BBE0E3"/>
        </a:accent1>
        <a:accent2>
          <a:srgbClr val="333399"/>
        </a:accent2>
        <a:accent3>
          <a:srgbClr val="F6B9AB"/>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8">
        <a:dk1>
          <a:srgbClr val="000000"/>
        </a:dk1>
        <a:lt1>
          <a:srgbClr val="E3284A"/>
        </a:lt1>
        <a:dk2>
          <a:srgbClr val="000000"/>
        </a:dk2>
        <a:lt2>
          <a:srgbClr val="808080"/>
        </a:lt2>
        <a:accent1>
          <a:srgbClr val="BBE0E3"/>
        </a:accent1>
        <a:accent2>
          <a:srgbClr val="333399"/>
        </a:accent2>
        <a:accent3>
          <a:srgbClr val="EFACB1"/>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9">
        <a:dk1>
          <a:srgbClr val="000000"/>
        </a:dk1>
        <a:lt1>
          <a:srgbClr val="856FB3"/>
        </a:lt1>
        <a:dk2>
          <a:srgbClr val="000000"/>
        </a:dk2>
        <a:lt2>
          <a:srgbClr val="808080"/>
        </a:lt2>
        <a:accent1>
          <a:srgbClr val="BBE0E3"/>
        </a:accent1>
        <a:accent2>
          <a:srgbClr val="333399"/>
        </a:accent2>
        <a:accent3>
          <a:srgbClr val="C2BBD6"/>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10">
        <a:dk1>
          <a:srgbClr val="000000"/>
        </a:dk1>
        <a:lt1>
          <a:srgbClr val="000000"/>
        </a:lt1>
        <a:dk2>
          <a:srgbClr val="000000"/>
        </a:dk2>
        <a:lt2>
          <a:srgbClr val="808080"/>
        </a:lt2>
        <a:accent1>
          <a:srgbClr val="BBE0E3"/>
        </a:accent1>
        <a:accent2>
          <a:srgbClr val="333399"/>
        </a:accent2>
        <a:accent3>
          <a:srgbClr val="AAAAAA"/>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U PowerPoint 11">
        <a:dk1>
          <a:srgbClr val="000000"/>
        </a:dk1>
        <a:lt1>
          <a:srgbClr val="8C8C8C"/>
        </a:lt1>
        <a:dk2>
          <a:srgbClr val="000000"/>
        </a:dk2>
        <a:lt2>
          <a:srgbClr val="808080"/>
        </a:lt2>
        <a:accent1>
          <a:srgbClr val="BBE0E3"/>
        </a:accent1>
        <a:accent2>
          <a:srgbClr val="333399"/>
        </a:accent2>
        <a:accent3>
          <a:srgbClr val="C5C5C5"/>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OU.potx</Template>
  <TotalTime>4033</TotalTime>
  <Words>1400</Words>
  <Application>Microsoft Macintosh PowerPoint</Application>
  <PresentationFormat>Custom</PresentationFormat>
  <Paragraphs>112</Paragraphs>
  <Slides>41</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5" baseType="lpstr">
      <vt:lpstr>ＭＳ Ｐゴシック</vt:lpstr>
      <vt:lpstr>Arial</vt:lpstr>
      <vt:lpstr>OU</vt:lpstr>
      <vt:lpstr>Document</vt:lpstr>
      <vt:lpstr>TM354 Block 3 From architecture to product</vt:lpstr>
      <vt:lpstr>Plan</vt:lpstr>
      <vt:lpstr>Tell me how you are feeling</vt:lpstr>
      <vt:lpstr>Block 2 review</vt:lpstr>
      <vt:lpstr>Block 2: OCL</vt:lpstr>
      <vt:lpstr>Object Constraint Language</vt:lpstr>
      <vt:lpstr>PowerPoint Presentation</vt:lpstr>
      <vt:lpstr>PowerPoint Presentation</vt:lpstr>
      <vt:lpstr>Unit 9 review</vt:lpstr>
      <vt:lpstr>Architectural styles</vt:lpstr>
      <vt:lpstr>PowerPoint Presentation</vt:lpstr>
      <vt:lpstr>Figure 9 Client–server architectural style </vt:lpstr>
      <vt:lpstr>Figure 10 Call-return architectural style</vt:lpstr>
      <vt:lpstr>Figure 12 Peer-to-peer architectural style </vt:lpstr>
      <vt:lpstr>Frameworks</vt:lpstr>
      <vt:lpstr>Product lines</vt:lpstr>
      <vt:lpstr>Design Patterns</vt:lpstr>
      <vt:lpstr>Figure 23 Forwarded message</vt:lpstr>
      <vt:lpstr>Figure 29 Model-view-controller pattern </vt:lpstr>
      <vt:lpstr>Observer</vt:lpstr>
      <vt:lpstr>Singleton</vt:lpstr>
      <vt:lpstr>Factory</vt:lpstr>
      <vt:lpstr>Question 1</vt:lpstr>
      <vt:lpstr>Question 2</vt:lpstr>
      <vt:lpstr>Question 3</vt:lpstr>
      <vt:lpstr>Question 4</vt:lpstr>
      <vt:lpstr>Looking ahead, units 10 &amp; 11</vt:lpstr>
      <vt:lpstr>Unit 10</vt:lpstr>
      <vt:lpstr>Software components</vt:lpstr>
      <vt:lpstr>Service and Component Architectures</vt:lpstr>
      <vt:lpstr>Difference</vt:lpstr>
      <vt:lpstr>Quality attribute scenarios</vt:lpstr>
      <vt:lpstr>Enterprise Java beans</vt:lpstr>
      <vt:lpstr>Unit 11</vt:lpstr>
      <vt:lpstr>Verification and validation</vt:lpstr>
      <vt:lpstr>Testing</vt:lpstr>
      <vt:lpstr>Types of testing</vt:lpstr>
      <vt:lpstr>Metrics</vt:lpstr>
      <vt:lpstr>Verification approaches</vt:lpstr>
      <vt:lpstr>Black box and White box tetsing</vt:lpstr>
      <vt:lpstr>Next tutorial</vt:lpstr>
    </vt:vector>
  </TitlesOfParts>
  <Company>Open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TM470 Coordination Meeting</dc:title>
  <dc:creator>Mark W</dc:creator>
  <cp:lastModifiedBy>Chris Thomson</cp:lastModifiedBy>
  <cp:revision>62</cp:revision>
  <dcterms:created xsi:type="dcterms:W3CDTF">2013-09-24T10:22:04Z</dcterms:created>
  <dcterms:modified xsi:type="dcterms:W3CDTF">2016-01-04T13:04:18Z</dcterms:modified>
</cp:coreProperties>
</file>